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2E"/>
                </a:solidFill>
                <a:latin typeface="Arial"/>
              </a:defRPr>
            </a:pPr>
            <a:r>
              <a:rPr sz="1400" b="0" i="0" u="none" strike="noStrike">
                <a:solidFill>
                  <a:srgbClr val="1F1A2E"/>
                </a:solidFill>
                <a:latin typeface="Arial"/>
              </a:rPr>
              <a:t>Score de similarité par cas testé</a:t>
            </a:r>
          </a:p>
        </c:rich>
      </c:tx>
      <c:layout/>
      <c:overlay val="0"/>
    </c:title>
    <c:autoTitleDeleted val="0"/>
    <c:plotArea>
      <c:layout/>
      <c:barChart>
        <c:barDir val="col"/>
        <c:grouping val="stacked"/>
        <c:varyColors val="0"/>
        <c:ser>
          <c:idx val="0"/>
          <c:order val="0"/>
          <c:tx>
            <c:strRef>
              <c:f>Sheet1!$B$1</c:f>
              <c:strCache>
                <c:ptCount val="1"/>
                <c:pt idx="0">
                  <c:v>Même personne</c:v>
                </c:pt>
              </c:strCache>
            </c:strRef>
          </c:tx>
          <c:spPr>
            <a:solidFill>
              <a:srgbClr val="2EA35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Adhérent 1</c:v>
                  </c:pt>
                  <c:pt idx="1">
                    <c:v>Adhérent 2</c:v>
                  </c:pt>
                  <c:pt idx="2">
                    <c:v>Adhérent 3</c:v>
                  </c:pt>
                  <c:pt idx="3">
                    <c:v>Imposteur 1</c:v>
                  </c:pt>
                  <c:pt idx="4">
                    <c:v>Imposteur 2</c:v>
                  </c:pt>
                  <c:pt idx="5">
                    <c:v>Imposteur 3</c:v>
                  </c:pt>
                </c:lvl>
              </c:multiLvlStrCache>
            </c:multiLvlStrRef>
          </c:cat>
          <c:val>
            <c:numRef>
              <c:f>Sheet1!$B$2:$B$7</c:f>
              <c:numCache>
                <c:formatCode>General</c:formatCode>
                <c:ptCount val="6"/>
                <c:pt idx="0">
                  <c:v>0.72</c:v>
                </c:pt>
                <c:pt idx="1">
                  <c:v>0.69</c:v>
                </c:pt>
                <c:pt idx="2">
                  <c:v>0.53</c:v>
                </c:pt>
                <c:pt idx="3">
                  <c:v/>
                </c:pt>
                <c:pt idx="4">
                  <c:v/>
                </c:pt>
                <c:pt idx="5">
                  <c:v/>
                </c:pt>
              </c:numCache>
            </c:numRef>
          </c:val>
        </c:ser>
        <c:ser>
          <c:idx val="1"/>
          <c:order val="1"/>
          <c:tx>
            <c:strRef>
              <c:f>Sheet1!$C$1</c:f>
              <c:strCache>
                <c:ptCount val="1"/>
                <c:pt idx="0">
                  <c:v>Personne différente</c:v>
                </c:pt>
              </c:strCache>
            </c:strRef>
          </c:tx>
          <c:spPr>
            <a:solidFill>
              <a:srgbClr val="D9484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Adhérent 1</c:v>
                  </c:pt>
                  <c:pt idx="1">
                    <c:v>Adhérent 2</c:v>
                  </c:pt>
                  <c:pt idx="2">
                    <c:v>Adhérent 3</c:v>
                  </c:pt>
                  <c:pt idx="3">
                    <c:v>Imposteur 1</c:v>
                  </c:pt>
                  <c:pt idx="4">
                    <c:v>Imposteur 2</c:v>
                  </c:pt>
                  <c:pt idx="5">
                    <c:v>Imposteur 3</c:v>
                  </c:pt>
                </c:lvl>
              </c:multiLvlStrCache>
            </c:multiLvlStrRef>
          </c:cat>
          <c:val>
            <c:numRef>
              <c:f>Sheet1!$C$2:$C$7</c:f>
              <c:numCache>
                <c:formatCode>General</c:formatCode>
                <c:ptCount val="6"/>
                <c:pt idx="0">
                  <c:v/>
                </c:pt>
                <c:pt idx="1">
                  <c:v/>
                </c:pt>
                <c:pt idx="2">
                  <c:v/>
                </c:pt>
                <c:pt idx="3">
                  <c:v>0.14</c:v>
                </c:pt>
                <c:pt idx="4">
                  <c:v>-0.01</c:v>
                </c:pt>
                <c:pt idx="5">
                  <c:v>0.07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lineChart>
        <c:varyColors val="0"/>
        <c:ser>
          <c:idx val="2"/>
          <c:order val="2"/>
          <c:tx>
            <c:strRef>
              <c:f>Sheet1!$D$1</c:f>
              <c:strCache>
                <c:ptCount val="1"/>
                <c:pt idx="0">
                  <c:v>Seuil 0,40</c:v>
                </c:pt>
              </c:strCache>
            </c:strRef>
          </c:tx>
          <c:spPr>
            <a:solidFill>
              <a:srgbClr val="F28C28"/>
            </a:solidFill>
            <a:ln w="25400" cap="flat">
              <a:solidFill>
                <a:srgbClr val="F28C28"/>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8C28"/>
              </a:solidFill>
              <a:ln w="9525" cap="flat">
                <a:solidFill>
                  <a:srgbClr val="F28C28"/>
                </a:solidFill>
                <a:prstDash val="solid"/>
                <a:round/>
              </a:ln>
              <a:effectLst/>
            </c:spPr>
          </c:marker>
          <c:cat>
            <c:multiLvlStrRef>
              <c:f>Sheet1!$A$2:$A$7</c:f>
              <c:multiLvlStrCache>
                <c:ptCount val="6"/>
                <c:lvl>
                  <c:pt idx="0">
                    <c:v>Adhérent 1</c:v>
                  </c:pt>
                  <c:pt idx="1">
                    <c:v>Adhérent 2</c:v>
                  </c:pt>
                  <c:pt idx="2">
                    <c:v>Adhérent 3</c:v>
                  </c:pt>
                  <c:pt idx="3">
                    <c:v>Imposteur 1</c:v>
                  </c:pt>
                  <c:pt idx="4">
                    <c:v>Imposteur 2</c:v>
                  </c:pt>
                  <c:pt idx="5">
                    <c:v>Imposteur 3</c:v>
                  </c:pt>
                </c:lvl>
              </c:multiLvlStrCache>
            </c:multiLvlStrRef>
          </c:cat>
          <c:val>
            <c:numRef>
              <c:f>Sheet1!$D$2:$D$7</c:f>
              <c:numCache>
                <c:formatCode>General</c:formatCode>
                <c:ptCount val="6"/>
                <c:pt idx="0">
                  <c:v>0.4</c:v>
                </c:pt>
                <c:pt idx="1">
                  <c:v>0.4</c:v>
                </c:pt>
                <c:pt idx="2">
                  <c:v>0.4</c:v>
                </c:pt>
                <c:pt idx="3">
                  <c:v>0.4</c:v>
                </c:pt>
                <c:pt idx="4">
                  <c:v>0.4</c:v>
                </c:pt>
                <c:pt idx="5">
                  <c:v>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780"/>
                </a:solidFill>
                <a:latin typeface="Arial"/>
              </a:defRPr>
            </a:pPr>
            <a:endParaRPr lang="en-US"/>
          </a:p>
        </c:txPr>
        <c:crossAx val="2094734552"/>
        <c:crosses val="autoZero"/>
        <c:auto val="1"/>
        <c:lblAlgn val="ctr"/>
        <c:noMultiLvlLbl val="1"/>
      </c:catAx>
      <c:valAx>
        <c:axId val="2094734552"/>
        <c:scaling>
          <c:orientation val="minMax"/>
          <c:max val="1"/>
          <c:min val="-0.2"/>
        </c:scaling>
        <c:delete val="0"/>
        <c:axPos val="l"/>
        <c:majorGridlines>
          <c:spPr>
            <a:ln w="12700" cap="flat">
              <a:solidFill>
                <a:srgbClr val="EEEE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780"/>
                </a:solidFill>
                <a:latin typeface="Arial"/>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STARTAI et nous vous présentons la solution de vérification faciale développée pour la CNASS. Le principe tient en trois mots : matricule, visage,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le matricule suffit. Or un matricule se prête. Le contrôle visuel est lent et subjectif, et il ne laisse aucune trace. Notre objectif : une vérification rapide, objective et traçable.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étapes pour l'assuré : il tape son numéro, se place devant la caméra, le système compare, et s'il s'agit bien du titulaire, la vraie feuille de soins CNASS est imprimée. Sinon, refus.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ne sont pas des maquettes : ce sont des photos du kiosque réel, qui tourne sur un terminal Jetson. Interface bilingue, guidage sonore, et aucune donnée patient conservée sur le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kiosque ne fait que capturer et afficher. Le backend orchestre. L'identité et la feuille de soins viennent directement de vos API. Nous ne stockons que des empreintes mathématiques, calculées automatiquement à chaque nouvel adhérent.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structure de l'application en quatre couches. L'interface kiosque ne fait qu'afficher et capturer. L'API backend expose un point d'entrée, /api/verify, appelé par le kiosque. Les services métier contiennent le moteur facial, le calcul de similarité, le client vers les API CNASS et l'enrôlement automatique. Enfin, la couche données : notre base d'empreintes, et le SI CNASS qui reste la source de vérité.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ce qui se passe à l'intérieur lors d'une vérification. Le kiosque envoie le matricule, le backend récupère l'identité auprès de la CNASS, puis le kiosque envoie l'image du visage à l'endpoint /api/verify. Le backend lit l'empreinte de référence, calcule celle du visage et la similarité. Si le score dépasse 0,40, il renvoie la décision au kiosque et demande à la CNASS de générer la feuille de soins, qui est imprimée.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visage est converti en un vecteur de 512 nombres. On compare deux vecteurs par similarité cosinus. Au-dessus de 0,40, c'est la même personne. Attention à la formulation : l'empreinte reste une donnée biométrique, nous la protégeons comme telle.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version Light répond à la question : êtes-vous bien le titulaire de ce matricule ? La version Avancée ajoute un pipeline vectoriel complet avec indexation, qui permet de chercher un visage parmi tous les adhérents. Son intérêt majeur : détecter une même personne inscrite sous plusieurs matricules.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avancé filtre d'abord la qualité des photos, aligne le visage, calcule l'empreinte, puis l'indexe dans une base vectorielle. L'index permet de retrouver en quelques millisecondes les visages les plus proches parmi des centaines de milliers d'adhérents.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nos premiers tests, l'écart entre même personne et imposteur est très net. Nous le présentons honnêtement comme des premiers résultats : la prochaine étape est une campagne de validation sur un échantillon large, avec les taux FAR et FRR.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n'avons rien dupliqué : nous appelons directement vos API. L'identité reste sous votre contrôle, et la feuille de soins imprimée est la vraie, générée par votre système.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Principe du moindre privilège : le système ne lit que ce dont il a besoin. Nous traitons l'empreinte comme une donnée biométrique sensible, conformément à la loi 2017-020. Nous anticipons aussi la question de la fraude par photo : la détection du vivant est dans la feuille de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briques du cœur sont faites. Le moteur tourne déjà sur le Jetson, comme vous l'avez vu, et l'interface est en finalisation. Restent l'impression au terminal et le durcissement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une liste claire de notre côté, et quelques éléments que nous attendons de la CNASS, principalement des accès de production. Nous proposons un site pilote pour le premier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Nous pouvons maintenant faire la démonstration en direct et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0B4B"/>
        </a:solidFill>
      </p:bgPr>
    </p:bg>
    <p:spTree>
      <p:nvGrpSpPr>
        <p:cNvPr id="1" name=""/>
        <p:cNvGrpSpPr/>
        <p:nvPr/>
      </p:nvGrpSpPr>
      <p:grpSpPr>
        <a:xfrm>
          <a:off x="0" y="0"/>
          <a:ext cx="0" cy="0"/>
          <a:chOff x="0" y="0"/>
          <a:chExt cx="0" cy="0"/>
        </a:xfrm>
      </p:grpSpPr>
      <p:sp>
        <p:nvSpPr>
          <p:cNvPr id="2" name="Shape 0"/>
          <p:cNvSpPr/>
          <p:nvPr/>
        </p:nvSpPr>
        <p:spPr>
          <a:xfrm>
            <a:off x="7680960" y="-1463040"/>
            <a:ext cx="6035040" cy="6035040"/>
          </a:xfrm>
          <a:prstGeom prst="ellipse">
            <a:avLst/>
          </a:prstGeom>
          <a:solidFill>
            <a:srgbClr val="6A2BD9">
              <a:alpha val="45000"/>
            </a:srgbClr>
          </a:solidFill>
          <a:ln w="12700">
            <a:solidFill>
              <a:srgbClr val="6A2BD9">
                <a:alpha val="0"/>
              </a:srgbClr>
            </a:solidFill>
            <a:prstDash val="solid"/>
          </a:ln>
        </p:spPr>
      </p:sp>
      <p:sp>
        <p:nvSpPr>
          <p:cNvPr id="3" name="Shape 1"/>
          <p:cNvSpPr/>
          <p:nvPr/>
        </p:nvSpPr>
        <p:spPr>
          <a:xfrm>
            <a:off x="9326880" y="3291840"/>
            <a:ext cx="4023360" cy="4023360"/>
          </a:xfrm>
          <a:prstGeom prst="ellipse">
            <a:avLst/>
          </a:prstGeom>
          <a:solidFill>
            <a:srgbClr val="8B5CF6">
              <a:alpha val="30000"/>
            </a:srgbClr>
          </a:solidFill>
          <a:ln w="12700">
            <a:solidFill>
              <a:srgbClr val="8B5CF6">
                <a:alpha val="0"/>
              </a:srgbClr>
            </a:solidFill>
            <a:prstDash val="solid"/>
          </a:ln>
        </p:spPr>
      </p:sp>
      <p:sp>
        <p:nvSpPr>
          <p:cNvPr id="4" name="Text 2"/>
          <p:cNvSpPr txBox="1"/>
          <p:nvPr/>
        </p:nvSpPr>
        <p:spPr>
          <a:xfrm>
            <a:off x="548640" y="914400"/>
            <a:ext cx="7315200" cy="365760"/>
          </a:xfrm>
          <a:prstGeom prst="rect">
            <a:avLst/>
          </a:prstGeom>
          <a:noFill/>
          <a:ln/>
        </p:spPr>
        <p:txBody>
          <a:bodyPr wrap="square" lIns="0" tIns="0" rIns="0" bIns="0" rtlCol="0" anchor="ctr"/>
          <a:lstStyle/>
          <a:p>
            <a:pPr indent="0" marL="0">
              <a:buNone/>
            </a:pPr>
            <a:r>
              <a:rPr lang="en-US" sz="1400" b="1" spc="400" kern="0" dirty="0">
                <a:solidFill>
                  <a:srgbClr val="F28C28"/>
                </a:solidFill>
                <a:latin typeface="Calibri" pitchFamily="34" charset="0"/>
                <a:ea typeface="Calibri" pitchFamily="34" charset="-122"/>
                <a:cs typeface="Calibri" pitchFamily="34" charset="-120"/>
              </a:rPr>
              <a:t>STARTAI  ×  CNASS</a:t>
            </a:r>
            <a:endParaRPr lang="en-US" sz="1400" dirty="0"/>
          </a:p>
        </p:txBody>
      </p:sp>
      <p:sp>
        <p:nvSpPr>
          <p:cNvPr id="5" name="Text 3"/>
          <p:cNvSpPr txBox="1"/>
          <p:nvPr/>
        </p:nvSpPr>
        <p:spPr>
          <a:xfrm>
            <a:off x="548640" y="1463040"/>
            <a:ext cx="749808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Vérification faciale des assurés au point de soins</a:t>
            </a:r>
            <a:endParaRPr lang="en-US" sz="4400" dirty="0"/>
          </a:p>
        </p:txBody>
      </p:sp>
      <p:sp>
        <p:nvSpPr>
          <p:cNvPr id="6" name="Text 4"/>
          <p:cNvSpPr txBox="1"/>
          <p:nvPr/>
        </p:nvSpPr>
        <p:spPr>
          <a:xfrm>
            <a:off x="548640" y="3611880"/>
            <a:ext cx="6949440" cy="822960"/>
          </a:xfrm>
          <a:prstGeom prst="rect">
            <a:avLst/>
          </a:prstGeom>
          <a:noFill/>
          <a:ln/>
        </p:spPr>
        <p:txBody>
          <a:bodyPr wrap="square" lIns="0" tIns="0" rIns="0" bIns="0" rtlCol="0" anchor="ctr"/>
          <a:lstStyle/>
          <a:p>
            <a:pPr indent="0" marL="0">
              <a:buNone/>
            </a:pPr>
            <a:r>
              <a:rPr lang="en-US" sz="1800" dirty="0">
                <a:solidFill>
                  <a:srgbClr val="D9CCFB"/>
                </a:solidFill>
                <a:latin typeface="Calibri" pitchFamily="34" charset="0"/>
                <a:ea typeface="Calibri" pitchFamily="34" charset="-122"/>
                <a:cs typeface="Calibri" pitchFamily="34" charset="-120"/>
              </a:rPr>
              <a:t>Un matricule, un visage, une décision : sécuriser l'accès aux soins couverts par la CNASS</a:t>
            </a:r>
            <a:endParaRPr lang="en-US" sz="1800" dirty="0"/>
          </a:p>
        </p:txBody>
      </p:sp>
      <p:sp>
        <p:nvSpPr>
          <p:cNvPr id="7" name="Shape 5"/>
          <p:cNvSpPr/>
          <p:nvPr/>
        </p:nvSpPr>
        <p:spPr>
          <a:xfrm>
            <a:off x="548640" y="4754880"/>
            <a:ext cx="731520" cy="731520"/>
          </a:xfrm>
          <a:prstGeom prst="roundRect">
            <a:avLst>
              <a:gd name="adj" fmla="val 18750"/>
            </a:avLst>
          </a:prstGeom>
          <a:solidFill>
            <a:srgbClr val="6A2BD9"/>
          </a:solidFill>
          <a:ln w="12700">
            <a:solidFill>
              <a:srgbClr val="6A2BD9"/>
            </a:solidFill>
            <a:prstDash val="solid"/>
          </a:ln>
        </p:spPr>
      </p:sp>
      <p:pic>
        <p:nvPicPr>
          <p:cNvPr id="8" name="Image 0" descr="preencoded.png">    </p:cNvPr>
          <p:cNvPicPr>
            <a:picLocks noChangeAspect="1"/>
          </p:cNvPicPr>
          <p:nvPr/>
        </p:nvPicPr>
        <p:blipFill>
          <a:blip r:embed="rId1"/>
          <a:stretch>
            <a:fillRect/>
          </a:stretch>
        </p:blipFill>
        <p:spPr>
          <a:xfrm>
            <a:off x="738835" y="4945075"/>
            <a:ext cx="351130" cy="351130"/>
          </a:xfrm>
          <a:prstGeom prst="rect">
            <a:avLst/>
          </a:prstGeom>
        </p:spPr>
      </p:pic>
      <p:sp>
        <p:nvSpPr>
          <p:cNvPr id="9" name="Text 6"/>
          <p:cNvSpPr txBox="1"/>
          <p:nvPr/>
        </p:nvSpPr>
        <p:spPr>
          <a:xfrm>
            <a:off x="274320" y="5559552"/>
            <a:ext cx="128016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Matricule</a:t>
            </a:r>
            <a:endParaRPr lang="en-US" sz="1300" dirty="0"/>
          </a:p>
        </p:txBody>
      </p:sp>
      <p:sp>
        <p:nvSpPr>
          <p:cNvPr id="10" name="Text 7"/>
          <p:cNvSpPr txBox="1"/>
          <p:nvPr/>
        </p:nvSpPr>
        <p:spPr>
          <a:xfrm>
            <a:off x="1417320" y="4800600"/>
            <a:ext cx="731520" cy="640080"/>
          </a:xfrm>
          <a:prstGeom prst="rect">
            <a:avLst/>
          </a:prstGeom>
          <a:noFill/>
          <a:ln/>
        </p:spPr>
        <p:txBody>
          <a:bodyPr wrap="square" lIns="0" tIns="0" rIns="0" bIns="0" rtlCol="0" anchor="ctr"/>
          <a:lstStyle/>
          <a:p>
            <a:pPr algn="ctr" indent="0" marL="0">
              <a:buNone/>
            </a:pPr>
            <a:r>
              <a:rPr lang="en-US" sz="2600" dirty="0">
                <a:solidFill>
                  <a:srgbClr val="F28C28"/>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2286000" y="4754880"/>
            <a:ext cx="731520" cy="731520"/>
          </a:xfrm>
          <a:prstGeom prst="roundRect">
            <a:avLst>
              <a:gd name="adj" fmla="val 18750"/>
            </a:avLst>
          </a:prstGeom>
          <a:solidFill>
            <a:srgbClr val="6A2BD9"/>
          </a:solidFill>
          <a:ln w="12700">
            <a:solidFill>
              <a:srgbClr val="6A2BD9"/>
            </a:solidFill>
            <a:prstDash val="solid"/>
          </a:ln>
        </p:spPr>
      </p:sp>
      <p:pic>
        <p:nvPicPr>
          <p:cNvPr id="12" name="Image 1" descr="preencoded.png">    </p:cNvPr>
          <p:cNvPicPr>
            <a:picLocks noChangeAspect="1"/>
          </p:cNvPicPr>
          <p:nvPr/>
        </p:nvPicPr>
        <p:blipFill>
          <a:blip r:embed="rId2"/>
          <a:stretch>
            <a:fillRect/>
          </a:stretch>
        </p:blipFill>
        <p:spPr>
          <a:xfrm>
            <a:off x="2476195" y="4945075"/>
            <a:ext cx="351130" cy="351130"/>
          </a:xfrm>
          <a:prstGeom prst="rect">
            <a:avLst/>
          </a:prstGeom>
        </p:spPr>
      </p:pic>
      <p:sp>
        <p:nvSpPr>
          <p:cNvPr id="13" name="Text 9"/>
          <p:cNvSpPr txBox="1"/>
          <p:nvPr/>
        </p:nvSpPr>
        <p:spPr>
          <a:xfrm>
            <a:off x="2011680" y="5559552"/>
            <a:ext cx="128016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Visage</a:t>
            </a:r>
            <a:endParaRPr lang="en-US" sz="1300" dirty="0"/>
          </a:p>
        </p:txBody>
      </p:sp>
      <p:sp>
        <p:nvSpPr>
          <p:cNvPr id="14" name="Text 10"/>
          <p:cNvSpPr txBox="1"/>
          <p:nvPr/>
        </p:nvSpPr>
        <p:spPr>
          <a:xfrm>
            <a:off x="3154680" y="4800600"/>
            <a:ext cx="731520" cy="640080"/>
          </a:xfrm>
          <a:prstGeom prst="rect">
            <a:avLst/>
          </a:prstGeom>
          <a:noFill/>
          <a:ln/>
        </p:spPr>
        <p:txBody>
          <a:bodyPr wrap="square" lIns="0" tIns="0" rIns="0" bIns="0" rtlCol="0" anchor="ctr"/>
          <a:lstStyle/>
          <a:p>
            <a:pPr algn="ctr" indent="0" marL="0">
              <a:buNone/>
            </a:pPr>
            <a:r>
              <a:rPr lang="en-US" sz="2600" dirty="0">
                <a:solidFill>
                  <a:srgbClr val="F28C28"/>
                </a:solidFill>
                <a:latin typeface="Calibri" pitchFamily="34" charset="0"/>
                <a:ea typeface="Calibri" pitchFamily="34" charset="-122"/>
                <a:cs typeface="Calibri" pitchFamily="34" charset="-120"/>
              </a:rPr>
              <a:t>→</a:t>
            </a:r>
            <a:endParaRPr lang="en-US" sz="2600" dirty="0"/>
          </a:p>
        </p:txBody>
      </p:sp>
      <p:sp>
        <p:nvSpPr>
          <p:cNvPr id="15" name="Shape 11"/>
          <p:cNvSpPr/>
          <p:nvPr/>
        </p:nvSpPr>
        <p:spPr>
          <a:xfrm>
            <a:off x="4023360" y="4754880"/>
            <a:ext cx="731520" cy="731520"/>
          </a:xfrm>
          <a:prstGeom prst="roundRect">
            <a:avLst>
              <a:gd name="adj" fmla="val 18750"/>
            </a:avLst>
          </a:prstGeom>
          <a:solidFill>
            <a:srgbClr val="2EA35A"/>
          </a:solidFill>
          <a:ln w="12700">
            <a:solidFill>
              <a:srgbClr val="2EA35A"/>
            </a:solidFill>
            <a:prstDash val="solid"/>
          </a:ln>
        </p:spPr>
      </p:sp>
      <p:pic>
        <p:nvPicPr>
          <p:cNvPr id="16" name="Image 2" descr="preencoded.png">    </p:cNvPr>
          <p:cNvPicPr>
            <a:picLocks noChangeAspect="1"/>
          </p:cNvPicPr>
          <p:nvPr/>
        </p:nvPicPr>
        <p:blipFill>
          <a:blip r:embed="rId3"/>
          <a:stretch>
            <a:fillRect/>
          </a:stretch>
        </p:blipFill>
        <p:spPr>
          <a:xfrm>
            <a:off x="4213555" y="4945075"/>
            <a:ext cx="351130" cy="351130"/>
          </a:xfrm>
          <a:prstGeom prst="rect">
            <a:avLst/>
          </a:prstGeom>
        </p:spPr>
      </p:pic>
      <p:sp>
        <p:nvSpPr>
          <p:cNvPr id="17" name="Text 12"/>
          <p:cNvSpPr txBox="1"/>
          <p:nvPr/>
        </p:nvSpPr>
        <p:spPr>
          <a:xfrm>
            <a:off x="3749040" y="5559552"/>
            <a:ext cx="128016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Décision</a:t>
            </a:r>
            <a:endParaRPr lang="en-US" sz="1300" dirty="0"/>
          </a:p>
        </p:txBody>
      </p:sp>
      <p:sp>
        <p:nvSpPr>
          <p:cNvPr id="18" name="Text 13"/>
          <p:cNvSpPr txBox="1"/>
          <p:nvPr/>
        </p:nvSpPr>
        <p:spPr>
          <a:xfrm>
            <a:off x="8046720" y="6126480"/>
            <a:ext cx="3657600" cy="320040"/>
          </a:xfrm>
          <a:prstGeom prst="rect">
            <a:avLst/>
          </a:prstGeom>
          <a:noFill/>
          <a:ln/>
        </p:spPr>
        <p:txBody>
          <a:bodyPr wrap="square" lIns="0" tIns="0" rIns="0" bIns="0" rtlCol="0" anchor="ctr"/>
          <a:lstStyle/>
          <a:p>
            <a:pPr algn="r" indent="0" marL="0">
              <a:buNone/>
            </a:pPr>
            <a:r>
              <a:rPr lang="en-US" sz="1200" dirty="0">
                <a:solidFill>
                  <a:srgbClr val="D9CCFB"/>
                </a:solidFill>
                <a:latin typeface="Calibri" pitchFamily="34" charset="0"/>
                <a:ea typeface="Calibri" pitchFamily="34" charset="-122"/>
                <a:cs typeface="Calibri" pitchFamily="34" charset="-120"/>
              </a:rPr>
              <a:t>Présentation de la solution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LE CONSTAT</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Un matricule ne prouve pas l'identité</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2</a:t>
            </a:r>
            <a:endParaRPr lang="en-US" sz="1000" dirty="0"/>
          </a:p>
        </p:txBody>
      </p:sp>
      <p:sp>
        <p:nvSpPr>
          <p:cNvPr id="6" name="Text 4"/>
          <p:cNvSpPr txBox="1"/>
          <p:nvPr/>
        </p:nvSpPr>
        <p:spPr>
          <a:xfrm>
            <a:off x="548640" y="1508760"/>
            <a:ext cx="6583680" cy="731520"/>
          </a:xfrm>
          <a:prstGeom prst="rect">
            <a:avLst/>
          </a:prstGeom>
          <a:noFill/>
          <a:ln/>
        </p:spPr>
        <p:txBody>
          <a:bodyPr wrap="square" lIns="0" tIns="0" rIns="0" bIns="0" rtlCol="0" anchor="ctr"/>
          <a:lstStyle/>
          <a:p>
            <a:pPr indent="0" marL="0">
              <a:buNone/>
            </a:pPr>
            <a:r>
              <a:rPr lang="en-US" sz="1600" dirty="0">
                <a:solidFill>
                  <a:srgbClr val="6B6780"/>
                </a:solidFill>
                <a:latin typeface="Calibri" pitchFamily="34" charset="0"/>
                <a:ea typeface="Calibri" pitchFamily="34" charset="-122"/>
                <a:cs typeface="Calibri" pitchFamily="34" charset="-120"/>
              </a:rPr>
              <a:t>Au point de soins, rien ne garantit aujourd'hui que la personne qui présente un numéro CNASS en est bien le titulaire.</a:t>
            </a:r>
            <a:endParaRPr lang="en-US" sz="1600" dirty="0"/>
          </a:p>
        </p:txBody>
      </p:sp>
      <p:sp>
        <p:nvSpPr>
          <p:cNvPr id="7" name="Shape 5"/>
          <p:cNvSpPr/>
          <p:nvPr/>
        </p:nvSpPr>
        <p:spPr>
          <a:xfrm>
            <a:off x="548640" y="2468880"/>
            <a:ext cx="6583680" cy="1005840"/>
          </a:xfrm>
          <a:prstGeom prst="roundRect">
            <a:avLst>
              <a:gd name="adj" fmla="val 10909"/>
            </a:avLst>
          </a:prstGeom>
          <a:solidFill>
            <a:srgbClr val="FAF8FF"/>
          </a:solidFill>
          <a:ln w="12700">
            <a:solidFill>
              <a:srgbClr val="E4DCF7"/>
            </a:solidFill>
            <a:prstDash val="solid"/>
          </a:ln>
        </p:spPr>
      </p:sp>
      <p:sp>
        <p:nvSpPr>
          <p:cNvPr id="8" name="Shape 6"/>
          <p:cNvSpPr/>
          <p:nvPr/>
        </p:nvSpPr>
        <p:spPr>
          <a:xfrm>
            <a:off x="777240" y="2651760"/>
            <a:ext cx="640080" cy="640080"/>
          </a:xfrm>
          <a:prstGeom prst="roundRect">
            <a:avLst>
              <a:gd name="adj" fmla="val 21429"/>
            </a:avLst>
          </a:prstGeom>
          <a:solidFill>
            <a:srgbClr val="D94848"/>
          </a:solidFill>
          <a:ln w="12700">
            <a:solidFill>
              <a:srgbClr val="D94848"/>
            </a:solidFill>
            <a:prstDash val="solid"/>
          </a:ln>
        </p:spPr>
      </p:sp>
      <p:pic>
        <p:nvPicPr>
          <p:cNvPr id="9" name="Image 0" descr="preencoded.png">    </p:cNvPr>
          <p:cNvPicPr>
            <a:picLocks noChangeAspect="1"/>
          </p:cNvPicPr>
          <p:nvPr/>
        </p:nvPicPr>
        <p:blipFill>
          <a:blip r:embed="rId1"/>
          <a:stretch>
            <a:fillRect/>
          </a:stretch>
        </p:blipFill>
        <p:spPr>
          <a:xfrm>
            <a:off x="943661" y="2818181"/>
            <a:ext cx="307238" cy="307238"/>
          </a:xfrm>
          <a:prstGeom prst="rect">
            <a:avLst/>
          </a:prstGeom>
        </p:spPr>
      </p:pic>
      <p:sp>
        <p:nvSpPr>
          <p:cNvPr id="10" name="Text 7"/>
          <p:cNvSpPr txBox="1"/>
          <p:nvPr/>
        </p:nvSpPr>
        <p:spPr>
          <a:xfrm>
            <a:off x="1645920" y="2624328"/>
            <a:ext cx="5303520" cy="365760"/>
          </a:xfrm>
          <a:prstGeom prst="rect">
            <a:avLst/>
          </a:prstGeom>
          <a:noFill/>
          <a:ln/>
        </p:spPr>
        <p:txBody>
          <a:bodyPr wrap="square" lIns="0" tIns="0" rIns="0" bIns="0" rtlCol="0" anchor="ctr"/>
          <a:lstStyle/>
          <a:p>
            <a:pPr indent="0" marL="0">
              <a:buNone/>
            </a:pPr>
            <a:r>
              <a:rPr lang="en-US" sz="1700" b="1" dirty="0">
                <a:solidFill>
                  <a:srgbClr val="1F1A2E"/>
                </a:solidFill>
                <a:latin typeface="Calibri" pitchFamily="34" charset="0"/>
                <a:ea typeface="Calibri" pitchFamily="34" charset="-122"/>
                <a:cs typeface="Calibri" pitchFamily="34" charset="-120"/>
              </a:rPr>
              <a:t>Usage du matricule d'un tiers</a:t>
            </a:r>
            <a:endParaRPr lang="en-US" sz="1700" dirty="0"/>
          </a:p>
        </p:txBody>
      </p:sp>
      <p:sp>
        <p:nvSpPr>
          <p:cNvPr id="11" name="Text 8"/>
          <p:cNvSpPr txBox="1"/>
          <p:nvPr/>
        </p:nvSpPr>
        <p:spPr>
          <a:xfrm>
            <a:off x="1645920" y="2971800"/>
            <a:ext cx="5303520" cy="411480"/>
          </a:xfrm>
          <a:prstGeom prst="rect">
            <a:avLst/>
          </a:prstGeom>
          <a:noFill/>
          <a:ln/>
        </p:spPr>
        <p:txBody>
          <a:bodyPr wrap="square" lIns="0" tIns="0" rIns="0" bIns="0" rtlCol="0" anchor="ctr"/>
          <a:lstStyle/>
          <a:p>
            <a:pPr indent="0" marL="0">
              <a:buNone/>
            </a:pPr>
            <a:r>
              <a:rPr lang="en-US" sz="1300" dirty="0">
                <a:solidFill>
                  <a:srgbClr val="6B6780"/>
                </a:solidFill>
                <a:latin typeface="Calibri" pitchFamily="34" charset="0"/>
                <a:ea typeface="Calibri" pitchFamily="34" charset="-122"/>
                <a:cs typeface="Calibri" pitchFamily="34" charset="-120"/>
              </a:rPr>
              <a:t>Un proche ou une connaissance bénéficie de la couverture d'un autre assuré.</a:t>
            </a:r>
            <a:endParaRPr lang="en-US" sz="1300" dirty="0"/>
          </a:p>
        </p:txBody>
      </p:sp>
      <p:sp>
        <p:nvSpPr>
          <p:cNvPr id="12" name="Shape 9"/>
          <p:cNvSpPr/>
          <p:nvPr/>
        </p:nvSpPr>
        <p:spPr>
          <a:xfrm>
            <a:off x="548640" y="3657600"/>
            <a:ext cx="6583680" cy="1005840"/>
          </a:xfrm>
          <a:prstGeom prst="roundRect">
            <a:avLst>
              <a:gd name="adj" fmla="val 10909"/>
            </a:avLst>
          </a:prstGeom>
          <a:solidFill>
            <a:srgbClr val="FAF8FF"/>
          </a:solidFill>
          <a:ln w="12700">
            <a:solidFill>
              <a:srgbClr val="E4DCF7"/>
            </a:solidFill>
            <a:prstDash val="solid"/>
          </a:ln>
        </p:spPr>
      </p:sp>
      <p:sp>
        <p:nvSpPr>
          <p:cNvPr id="13" name="Shape 10"/>
          <p:cNvSpPr/>
          <p:nvPr/>
        </p:nvSpPr>
        <p:spPr>
          <a:xfrm>
            <a:off x="777240" y="3840480"/>
            <a:ext cx="640080" cy="640080"/>
          </a:xfrm>
          <a:prstGeom prst="roundRect">
            <a:avLst>
              <a:gd name="adj" fmla="val 21429"/>
            </a:avLst>
          </a:prstGeom>
          <a:solidFill>
            <a:srgbClr val="D94848"/>
          </a:solidFill>
          <a:ln w="12700">
            <a:solidFill>
              <a:srgbClr val="D94848"/>
            </a:solidFill>
            <a:prstDash val="solid"/>
          </a:ln>
        </p:spPr>
      </p:sp>
      <p:pic>
        <p:nvPicPr>
          <p:cNvPr id="14" name="Image 1" descr="preencoded.png">    </p:cNvPr>
          <p:cNvPicPr>
            <a:picLocks noChangeAspect="1"/>
          </p:cNvPicPr>
          <p:nvPr/>
        </p:nvPicPr>
        <p:blipFill>
          <a:blip r:embed="rId2"/>
          <a:stretch>
            <a:fillRect/>
          </a:stretch>
        </p:blipFill>
        <p:spPr>
          <a:xfrm>
            <a:off x="943661" y="4006901"/>
            <a:ext cx="307238" cy="307238"/>
          </a:xfrm>
          <a:prstGeom prst="rect">
            <a:avLst/>
          </a:prstGeom>
        </p:spPr>
      </p:pic>
      <p:sp>
        <p:nvSpPr>
          <p:cNvPr id="15" name="Text 11"/>
          <p:cNvSpPr txBox="1"/>
          <p:nvPr/>
        </p:nvSpPr>
        <p:spPr>
          <a:xfrm>
            <a:off x="1645920" y="3813048"/>
            <a:ext cx="5303520" cy="365760"/>
          </a:xfrm>
          <a:prstGeom prst="rect">
            <a:avLst/>
          </a:prstGeom>
          <a:noFill/>
          <a:ln/>
        </p:spPr>
        <p:txBody>
          <a:bodyPr wrap="square" lIns="0" tIns="0" rIns="0" bIns="0" rtlCol="0" anchor="ctr"/>
          <a:lstStyle/>
          <a:p>
            <a:pPr indent="0" marL="0">
              <a:buNone/>
            </a:pPr>
            <a:r>
              <a:rPr lang="en-US" sz="1700" b="1" dirty="0">
                <a:solidFill>
                  <a:srgbClr val="1F1A2E"/>
                </a:solidFill>
                <a:latin typeface="Calibri" pitchFamily="34" charset="0"/>
                <a:ea typeface="Calibri" pitchFamily="34" charset="-122"/>
                <a:cs typeface="Calibri" pitchFamily="34" charset="-120"/>
              </a:rPr>
              <a:t>Contrôle visuel manuel</a:t>
            </a:r>
            <a:endParaRPr lang="en-US" sz="1700" dirty="0"/>
          </a:p>
        </p:txBody>
      </p:sp>
      <p:sp>
        <p:nvSpPr>
          <p:cNvPr id="16" name="Text 12"/>
          <p:cNvSpPr txBox="1"/>
          <p:nvPr/>
        </p:nvSpPr>
        <p:spPr>
          <a:xfrm>
            <a:off x="1645920" y="4160520"/>
            <a:ext cx="5303520" cy="411480"/>
          </a:xfrm>
          <a:prstGeom prst="rect">
            <a:avLst/>
          </a:prstGeom>
          <a:noFill/>
          <a:ln/>
        </p:spPr>
        <p:txBody>
          <a:bodyPr wrap="square" lIns="0" tIns="0" rIns="0" bIns="0" rtlCol="0" anchor="ctr"/>
          <a:lstStyle/>
          <a:p>
            <a:pPr indent="0" marL="0">
              <a:buNone/>
            </a:pPr>
            <a:r>
              <a:rPr lang="en-US" sz="1300" dirty="0">
                <a:solidFill>
                  <a:srgbClr val="6B6780"/>
                </a:solidFill>
                <a:latin typeface="Calibri" pitchFamily="34" charset="0"/>
                <a:ea typeface="Calibri" pitchFamily="34" charset="-122"/>
                <a:cs typeface="Calibri" pitchFamily="34" charset="-120"/>
              </a:rPr>
              <a:t>Lent, subjectif et dépendant de l'agent ; impossible à systématiser.</a:t>
            </a:r>
            <a:endParaRPr lang="en-US" sz="1300" dirty="0"/>
          </a:p>
        </p:txBody>
      </p:sp>
      <p:sp>
        <p:nvSpPr>
          <p:cNvPr id="17" name="Shape 13"/>
          <p:cNvSpPr/>
          <p:nvPr/>
        </p:nvSpPr>
        <p:spPr>
          <a:xfrm>
            <a:off x="548640" y="4846320"/>
            <a:ext cx="6583680" cy="1005840"/>
          </a:xfrm>
          <a:prstGeom prst="roundRect">
            <a:avLst>
              <a:gd name="adj" fmla="val 10909"/>
            </a:avLst>
          </a:prstGeom>
          <a:solidFill>
            <a:srgbClr val="FAF8FF"/>
          </a:solidFill>
          <a:ln w="12700">
            <a:solidFill>
              <a:srgbClr val="E4DCF7"/>
            </a:solidFill>
            <a:prstDash val="solid"/>
          </a:ln>
        </p:spPr>
      </p:sp>
      <p:sp>
        <p:nvSpPr>
          <p:cNvPr id="18" name="Shape 14"/>
          <p:cNvSpPr/>
          <p:nvPr/>
        </p:nvSpPr>
        <p:spPr>
          <a:xfrm>
            <a:off x="777240" y="5029200"/>
            <a:ext cx="640080" cy="640080"/>
          </a:xfrm>
          <a:prstGeom prst="roundRect">
            <a:avLst>
              <a:gd name="adj" fmla="val 21429"/>
            </a:avLst>
          </a:prstGeom>
          <a:solidFill>
            <a:srgbClr val="D94848"/>
          </a:solidFill>
          <a:ln w="12700">
            <a:solidFill>
              <a:srgbClr val="D94848"/>
            </a:solidFill>
            <a:prstDash val="solid"/>
          </a:ln>
        </p:spPr>
      </p:sp>
      <p:pic>
        <p:nvPicPr>
          <p:cNvPr id="19" name="Image 2" descr="preencoded.png">    </p:cNvPr>
          <p:cNvPicPr>
            <a:picLocks noChangeAspect="1"/>
          </p:cNvPicPr>
          <p:nvPr/>
        </p:nvPicPr>
        <p:blipFill>
          <a:blip r:embed="rId3"/>
          <a:stretch>
            <a:fillRect/>
          </a:stretch>
        </p:blipFill>
        <p:spPr>
          <a:xfrm>
            <a:off x="943661" y="5195621"/>
            <a:ext cx="307238" cy="307238"/>
          </a:xfrm>
          <a:prstGeom prst="rect">
            <a:avLst/>
          </a:prstGeom>
        </p:spPr>
      </p:pic>
      <p:sp>
        <p:nvSpPr>
          <p:cNvPr id="20" name="Text 15"/>
          <p:cNvSpPr txBox="1"/>
          <p:nvPr/>
        </p:nvSpPr>
        <p:spPr>
          <a:xfrm>
            <a:off x="1645920" y="5001768"/>
            <a:ext cx="5303520" cy="365760"/>
          </a:xfrm>
          <a:prstGeom prst="rect">
            <a:avLst/>
          </a:prstGeom>
          <a:noFill/>
          <a:ln/>
        </p:spPr>
        <p:txBody>
          <a:bodyPr wrap="square" lIns="0" tIns="0" rIns="0" bIns="0" rtlCol="0" anchor="ctr"/>
          <a:lstStyle/>
          <a:p>
            <a:pPr indent="0" marL="0">
              <a:buNone/>
            </a:pPr>
            <a:r>
              <a:rPr lang="en-US" sz="1700" b="1" dirty="0">
                <a:solidFill>
                  <a:srgbClr val="1F1A2E"/>
                </a:solidFill>
                <a:latin typeface="Calibri" pitchFamily="34" charset="0"/>
                <a:ea typeface="Calibri" pitchFamily="34" charset="-122"/>
                <a:cs typeface="Calibri" pitchFamily="34" charset="-120"/>
              </a:rPr>
              <a:t>Aucune preuve objective</a:t>
            </a:r>
            <a:endParaRPr lang="en-US" sz="1700" dirty="0"/>
          </a:p>
        </p:txBody>
      </p:sp>
      <p:sp>
        <p:nvSpPr>
          <p:cNvPr id="21" name="Text 16"/>
          <p:cNvSpPr txBox="1"/>
          <p:nvPr/>
        </p:nvSpPr>
        <p:spPr>
          <a:xfrm>
            <a:off x="1645920" y="5349240"/>
            <a:ext cx="5303520" cy="411480"/>
          </a:xfrm>
          <a:prstGeom prst="rect">
            <a:avLst/>
          </a:prstGeom>
          <a:noFill/>
          <a:ln/>
        </p:spPr>
        <p:txBody>
          <a:bodyPr wrap="square" lIns="0" tIns="0" rIns="0" bIns="0" rtlCol="0" anchor="ctr"/>
          <a:lstStyle/>
          <a:p>
            <a:pPr indent="0" marL="0">
              <a:buNone/>
            </a:pPr>
            <a:r>
              <a:rPr lang="en-US" sz="1300" dirty="0">
                <a:solidFill>
                  <a:srgbClr val="6B6780"/>
                </a:solidFill>
                <a:latin typeface="Calibri" pitchFamily="34" charset="0"/>
                <a:ea typeface="Calibri" pitchFamily="34" charset="-122"/>
                <a:cs typeface="Calibri" pitchFamily="34" charset="-120"/>
              </a:rPr>
              <a:t>Pas de trace vérifiable de l'identité au moment de la prise en charge.</a:t>
            </a:r>
            <a:endParaRPr lang="en-US" sz="1300" dirty="0"/>
          </a:p>
        </p:txBody>
      </p:sp>
      <p:sp>
        <p:nvSpPr>
          <p:cNvPr id="22" name="Shape 17"/>
          <p:cNvSpPr/>
          <p:nvPr/>
        </p:nvSpPr>
        <p:spPr>
          <a:xfrm>
            <a:off x="7589520" y="1508760"/>
            <a:ext cx="4050792" cy="4617720"/>
          </a:xfrm>
          <a:prstGeom prst="roundRect">
            <a:avLst>
              <a:gd name="adj" fmla="val 3386"/>
            </a:avLst>
          </a:prstGeom>
          <a:solidFill>
            <a:srgbClr val="1E0B4B"/>
          </a:solidFill>
          <a:ln w="12700">
            <a:solidFill>
              <a:srgbClr val="1E0B4B"/>
            </a:solidFill>
            <a:prstDash val="solid"/>
          </a:ln>
        </p:spPr>
      </p:sp>
      <p:sp>
        <p:nvSpPr>
          <p:cNvPr id="23" name="Text 18"/>
          <p:cNvSpPr txBox="1"/>
          <p:nvPr/>
        </p:nvSpPr>
        <p:spPr>
          <a:xfrm>
            <a:off x="7955280" y="1828800"/>
            <a:ext cx="3291840" cy="32004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NOTRE OBJECTIF</a:t>
            </a:r>
            <a:endParaRPr lang="en-US" sz="1200" dirty="0"/>
          </a:p>
        </p:txBody>
      </p:sp>
      <p:sp>
        <p:nvSpPr>
          <p:cNvPr id="24" name="Text 19"/>
          <p:cNvSpPr txBox="1"/>
          <p:nvPr/>
        </p:nvSpPr>
        <p:spPr>
          <a:xfrm>
            <a:off x="7955280" y="2240280"/>
            <a:ext cx="3383280" cy="9144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Une vérification biométrique</a:t>
            </a:r>
            <a:endParaRPr lang="en-US" sz="2400" dirty="0"/>
          </a:p>
        </p:txBody>
      </p:sp>
      <p:sp>
        <p:nvSpPr>
          <p:cNvPr id="25" name="Shape 20"/>
          <p:cNvSpPr/>
          <p:nvPr/>
        </p:nvSpPr>
        <p:spPr>
          <a:xfrm>
            <a:off x="7955280" y="3474720"/>
            <a:ext cx="548640" cy="548640"/>
          </a:xfrm>
          <a:prstGeom prst="roundRect">
            <a:avLst>
              <a:gd name="adj" fmla="val 25000"/>
            </a:avLst>
          </a:prstGeom>
          <a:solidFill>
            <a:srgbClr val="6A2BD9"/>
          </a:solidFill>
          <a:ln w="12700">
            <a:solidFill>
              <a:srgbClr val="6A2BD9"/>
            </a:solidFill>
            <a:prstDash val="solid"/>
          </a:ln>
        </p:spPr>
      </p:sp>
      <p:pic>
        <p:nvPicPr>
          <p:cNvPr id="26" name="Image 3" descr="preencoded.png">    </p:cNvPr>
          <p:cNvPicPr>
            <a:picLocks noChangeAspect="1"/>
          </p:cNvPicPr>
          <p:nvPr/>
        </p:nvPicPr>
        <p:blipFill>
          <a:blip r:embed="rId4"/>
          <a:stretch>
            <a:fillRect/>
          </a:stretch>
        </p:blipFill>
        <p:spPr>
          <a:xfrm>
            <a:off x="8097926" y="3617366"/>
            <a:ext cx="263347" cy="263347"/>
          </a:xfrm>
          <a:prstGeom prst="rect">
            <a:avLst/>
          </a:prstGeom>
        </p:spPr>
      </p:pic>
      <p:sp>
        <p:nvSpPr>
          <p:cNvPr id="27" name="Text 21"/>
          <p:cNvSpPr txBox="1"/>
          <p:nvPr/>
        </p:nvSpPr>
        <p:spPr>
          <a:xfrm>
            <a:off x="8686800" y="3547872"/>
            <a:ext cx="2743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Rapide</a:t>
            </a:r>
            <a:endParaRPr lang="en-US" sz="1800" dirty="0"/>
          </a:p>
        </p:txBody>
      </p:sp>
      <p:sp>
        <p:nvSpPr>
          <p:cNvPr id="28" name="Shape 22"/>
          <p:cNvSpPr/>
          <p:nvPr/>
        </p:nvSpPr>
        <p:spPr>
          <a:xfrm>
            <a:off x="7955280" y="4251960"/>
            <a:ext cx="548640" cy="548640"/>
          </a:xfrm>
          <a:prstGeom prst="roundRect">
            <a:avLst>
              <a:gd name="adj" fmla="val 25000"/>
            </a:avLst>
          </a:prstGeom>
          <a:solidFill>
            <a:srgbClr val="6A2BD9"/>
          </a:solidFill>
          <a:ln w="12700">
            <a:solidFill>
              <a:srgbClr val="6A2BD9"/>
            </a:solidFill>
            <a:prstDash val="solid"/>
          </a:ln>
        </p:spPr>
      </p:sp>
      <p:pic>
        <p:nvPicPr>
          <p:cNvPr id="29" name="Image 4" descr="preencoded.png">    </p:cNvPr>
          <p:cNvPicPr>
            <a:picLocks noChangeAspect="1"/>
          </p:cNvPicPr>
          <p:nvPr/>
        </p:nvPicPr>
        <p:blipFill>
          <a:blip r:embed="rId5"/>
          <a:stretch>
            <a:fillRect/>
          </a:stretch>
        </p:blipFill>
        <p:spPr>
          <a:xfrm>
            <a:off x="8097926" y="4394606"/>
            <a:ext cx="263347" cy="263347"/>
          </a:xfrm>
          <a:prstGeom prst="rect">
            <a:avLst/>
          </a:prstGeom>
        </p:spPr>
      </p:pic>
      <p:sp>
        <p:nvSpPr>
          <p:cNvPr id="30" name="Text 23"/>
          <p:cNvSpPr txBox="1"/>
          <p:nvPr/>
        </p:nvSpPr>
        <p:spPr>
          <a:xfrm>
            <a:off x="8686800" y="4325112"/>
            <a:ext cx="2743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a:t>
            </a:r>
            <a:endParaRPr lang="en-US" sz="1800" dirty="0"/>
          </a:p>
        </p:txBody>
      </p:sp>
      <p:sp>
        <p:nvSpPr>
          <p:cNvPr id="31" name="Shape 24"/>
          <p:cNvSpPr/>
          <p:nvPr/>
        </p:nvSpPr>
        <p:spPr>
          <a:xfrm>
            <a:off x="7955280" y="5029200"/>
            <a:ext cx="548640" cy="548640"/>
          </a:xfrm>
          <a:prstGeom prst="roundRect">
            <a:avLst>
              <a:gd name="adj" fmla="val 25000"/>
            </a:avLst>
          </a:prstGeom>
          <a:solidFill>
            <a:srgbClr val="6A2BD9"/>
          </a:solidFill>
          <a:ln w="12700">
            <a:solidFill>
              <a:srgbClr val="6A2BD9"/>
            </a:solidFill>
            <a:prstDash val="solid"/>
          </a:ln>
        </p:spPr>
      </p:sp>
      <p:pic>
        <p:nvPicPr>
          <p:cNvPr id="32" name="Image 5" descr="preencoded.png">    </p:cNvPr>
          <p:cNvPicPr>
            <a:picLocks noChangeAspect="1"/>
          </p:cNvPicPr>
          <p:nvPr/>
        </p:nvPicPr>
        <p:blipFill>
          <a:blip r:embed="rId6"/>
          <a:stretch>
            <a:fillRect/>
          </a:stretch>
        </p:blipFill>
        <p:spPr>
          <a:xfrm>
            <a:off x="8097926" y="5171846"/>
            <a:ext cx="263347" cy="263347"/>
          </a:xfrm>
          <a:prstGeom prst="rect">
            <a:avLst/>
          </a:prstGeom>
        </p:spPr>
      </p:pic>
      <p:sp>
        <p:nvSpPr>
          <p:cNvPr id="33" name="Text 25"/>
          <p:cNvSpPr txBox="1"/>
          <p:nvPr/>
        </p:nvSpPr>
        <p:spPr>
          <a:xfrm>
            <a:off x="8686800" y="5102352"/>
            <a:ext cx="2743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Traçable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LA SOLUTION</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Un parcours simple, en quelques secondes</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1737360"/>
            <a:ext cx="2606040" cy="2834640"/>
          </a:xfrm>
          <a:prstGeom prst="roundRect">
            <a:avLst>
              <a:gd name="adj" fmla="val 4211"/>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7" name="Shape 5"/>
          <p:cNvSpPr/>
          <p:nvPr/>
        </p:nvSpPr>
        <p:spPr>
          <a:xfrm>
            <a:off x="822960" y="2011680"/>
            <a:ext cx="731520" cy="731520"/>
          </a:xfrm>
          <a:prstGeom prst="roundRect">
            <a:avLst>
              <a:gd name="adj" fmla="val 18750"/>
            </a:avLst>
          </a:prstGeom>
          <a:solidFill>
            <a:srgbClr val="6A2BD9"/>
          </a:solidFill>
          <a:ln w="12700">
            <a:solidFill>
              <a:srgbClr val="6A2BD9"/>
            </a:solidFill>
            <a:prstDash val="solid"/>
          </a:ln>
        </p:spPr>
      </p:sp>
      <p:pic>
        <p:nvPicPr>
          <p:cNvPr id="8" name="Image 0" descr="preencoded.png">    </p:cNvPr>
          <p:cNvPicPr>
            <a:picLocks noChangeAspect="1"/>
          </p:cNvPicPr>
          <p:nvPr/>
        </p:nvPicPr>
        <p:blipFill>
          <a:blip r:embed="rId1"/>
          <a:stretch>
            <a:fillRect/>
          </a:stretch>
        </p:blipFill>
        <p:spPr>
          <a:xfrm>
            <a:off x="1013155" y="2201875"/>
            <a:ext cx="351130" cy="351130"/>
          </a:xfrm>
          <a:prstGeom prst="rect">
            <a:avLst/>
          </a:prstGeom>
        </p:spPr>
      </p:pic>
      <p:sp>
        <p:nvSpPr>
          <p:cNvPr id="9" name="Text 6"/>
          <p:cNvSpPr txBox="1"/>
          <p:nvPr/>
        </p:nvSpPr>
        <p:spPr>
          <a:xfrm>
            <a:off x="2331720" y="1965960"/>
            <a:ext cx="548640" cy="731520"/>
          </a:xfrm>
          <a:prstGeom prst="rect">
            <a:avLst/>
          </a:prstGeom>
          <a:noFill/>
          <a:ln/>
        </p:spPr>
        <p:txBody>
          <a:bodyPr wrap="square" lIns="0" tIns="0" rIns="0" bIns="0" rtlCol="0" anchor="ctr"/>
          <a:lstStyle/>
          <a:p>
            <a:pPr algn="r" indent="0" marL="0">
              <a:buNone/>
            </a:pPr>
            <a:r>
              <a:rPr lang="en-US" sz="3600" b="1" dirty="0">
                <a:solidFill>
                  <a:srgbClr val="E4DCF7"/>
                </a:solidFill>
                <a:latin typeface="Arial" pitchFamily="34" charset="0"/>
                <a:ea typeface="Arial" pitchFamily="34" charset="-122"/>
                <a:cs typeface="Arial" pitchFamily="34" charset="-120"/>
              </a:rPr>
              <a:t>1</a:t>
            </a:r>
            <a:endParaRPr lang="en-US" sz="3600" dirty="0"/>
          </a:p>
        </p:txBody>
      </p:sp>
      <p:sp>
        <p:nvSpPr>
          <p:cNvPr id="10" name="Text 7"/>
          <p:cNvSpPr txBox="1"/>
          <p:nvPr/>
        </p:nvSpPr>
        <p:spPr>
          <a:xfrm>
            <a:off x="822960" y="2926080"/>
            <a:ext cx="2148840" cy="411480"/>
          </a:xfrm>
          <a:prstGeom prst="rect">
            <a:avLst/>
          </a:prstGeom>
          <a:noFill/>
          <a:ln/>
        </p:spPr>
        <p:txBody>
          <a:bodyPr wrap="square" lIns="0" tIns="0" rIns="0" bIns="0" rtlCol="0" anchor="ctr"/>
          <a:lstStyle/>
          <a:p>
            <a:pPr indent="0" marL="0">
              <a:buNone/>
            </a:pPr>
            <a:r>
              <a:rPr lang="en-US" sz="1800" b="1" dirty="0">
                <a:solidFill>
                  <a:srgbClr val="1F1A2E"/>
                </a:solidFill>
                <a:latin typeface="Calibri" pitchFamily="34" charset="0"/>
                <a:ea typeface="Calibri" pitchFamily="34" charset="-122"/>
                <a:cs typeface="Calibri" pitchFamily="34" charset="-120"/>
              </a:rPr>
              <a:t>Numéro CNASS</a:t>
            </a:r>
            <a:endParaRPr lang="en-US" sz="1800" dirty="0"/>
          </a:p>
        </p:txBody>
      </p:sp>
      <p:sp>
        <p:nvSpPr>
          <p:cNvPr id="11" name="Text 8"/>
          <p:cNvSpPr txBox="1"/>
          <p:nvPr/>
        </p:nvSpPr>
        <p:spPr>
          <a:xfrm>
            <a:off x="822960" y="3383280"/>
            <a:ext cx="2103120" cy="1051560"/>
          </a:xfrm>
          <a:prstGeom prst="rect">
            <a:avLst/>
          </a:prstGeom>
          <a:noFill/>
          <a:ln/>
        </p:spPr>
        <p:txBody>
          <a:bodyPr wrap="square" lIns="0" tIns="0" rIns="0" bIns="0" rtlCol="0" anchor="t"/>
          <a:lstStyle/>
          <a:p>
            <a:pPr indent="0" marL="0">
              <a:buNone/>
            </a:pPr>
            <a:r>
              <a:rPr lang="en-US" sz="1300" dirty="0">
                <a:solidFill>
                  <a:srgbClr val="6B6780"/>
                </a:solidFill>
                <a:latin typeface="Calibri" pitchFamily="34" charset="0"/>
                <a:ea typeface="Calibri" pitchFamily="34" charset="-122"/>
                <a:cs typeface="Calibri" pitchFamily="34" charset="-120"/>
              </a:rPr>
              <a:t>L'assuré saisit son matricule à 13 chiffres. Son identité est récupérée via l'API CNASS.</a:t>
            </a:r>
            <a:endParaRPr lang="en-US" sz="1300" dirty="0"/>
          </a:p>
        </p:txBody>
      </p:sp>
      <p:sp>
        <p:nvSpPr>
          <p:cNvPr id="12" name="Shape 9"/>
          <p:cNvSpPr/>
          <p:nvPr/>
        </p:nvSpPr>
        <p:spPr>
          <a:xfrm>
            <a:off x="3337560" y="1737360"/>
            <a:ext cx="2606040" cy="2834640"/>
          </a:xfrm>
          <a:prstGeom prst="roundRect">
            <a:avLst>
              <a:gd name="adj" fmla="val 4211"/>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13" name="Shape 10"/>
          <p:cNvSpPr/>
          <p:nvPr/>
        </p:nvSpPr>
        <p:spPr>
          <a:xfrm>
            <a:off x="3611880" y="2011680"/>
            <a:ext cx="731520" cy="731520"/>
          </a:xfrm>
          <a:prstGeom prst="roundRect">
            <a:avLst>
              <a:gd name="adj" fmla="val 18750"/>
            </a:avLst>
          </a:prstGeom>
          <a:solidFill>
            <a:srgbClr val="6A2BD9"/>
          </a:solidFill>
          <a:ln w="12700">
            <a:solidFill>
              <a:srgbClr val="6A2BD9"/>
            </a:solidFill>
            <a:prstDash val="solid"/>
          </a:ln>
        </p:spPr>
      </p:sp>
      <p:pic>
        <p:nvPicPr>
          <p:cNvPr id="14" name="Image 1" descr="preencoded.png">    </p:cNvPr>
          <p:cNvPicPr>
            <a:picLocks noChangeAspect="1"/>
          </p:cNvPicPr>
          <p:nvPr/>
        </p:nvPicPr>
        <p:blipFill>
          <a:blip r:embed="rId2"/>
          <a:stretch>
            <a:fillRect/>
          </a:stretch>
        </p:blipFill>
        <p:spPr>
          <a:xfrm>
            <a:off x="3802075" y="2201875"/>
            <a:ext cx="351130" cy="351130"/>
          </a:xfrm>
          <a:prstGeom prst="rect">
            <a:avLst/>
          </a:prstGeom>
        </p:spPr>
      </p:pic>
      <p:sp>
        <p:nvSpPr>
          <p:cNvPr id="15" name="Text 11"/>
          <p:cNvSpPr txBox="1"/>
          <p:nvPr/>
        </p:nvSpPr>
        <p:spPr>
          <a:xfrm>
            <a:off x="5120640" y="1965960"/>
            <a:ext cx="548640" cy="731520"/>
          </a:xfrm>
          <a:prstGeom prst="rect">
            <a:avLst/>
          </a:prstGeom>
          <a:noFill/>
          <a:ln/>
        </p:spPr>
        <p:txBody>
          <a:bodyPr wrap="square" lIns="0" tIns="0" rIns="0" bIns="0" rtlCol="0" anchor="ctr"/>
          <a:lstStyle/>
          <a:p>
            <a:pPr algn="r" indent="0" marL="0">
              <a:buNone/>
            </a:pPr>
            <a:r>
              <a:rPr lang="en-US" sz="3600" b="1" dirty="0">
                <a:solidFill>
                  <a:srgbClr val="E4DCF7"/>
                </a:solidFill>
                <a:latin typeface="Arial" pitchFamily="34" charset="0"/>
                <a:ea typeface="Arial" pitchFamily="34" charset="-122"/>
                <a:cs typeface="Arial" pitchFamily="34" charset="-120"/>
              </a:rPr>
              <a:t>2</a:t>
            </a:r>
            <a:endParaRPr lang="en-US" sz="3600" dirty="0"/>
          </a:p>
        </p:txBody>
      </p:sp>
      <p:sp>
        <p:nvSpPr>
          <p:cNvPr id="16" name="Text 12"/>
          <p:cNvSpPr txBox="1"/>
          <p:nvPr/>
        </p:nvSpPr>
        <p:spPr>
          <a:xfrm>
            <a:off x="3611880" y="2926080"/>
            <a:ext cx="2148840" cy="411480"/>
          </a:xfrm>
          <a:prstGeom prst="rect">
            <a:avLst/>
          </a:prstGeom>
          <a:noFill/>
          <a:ln/>
        </p:spPr>
        <p:txBody>
          <a:bodyPr wrap="square" lIns="0" tIns="0" rIns="0" bIns="0" rtlCol="0" anchor="ctr"/>
          <a:lstStyle/>
          <a:p>
            <a:pPr indent="0" marL="0">
              <a:buNone/>
            </a:pPr>
            <a:r>
              <a:rPr lang="en-US" sz="1800" b="1" dirty="0">
                <a:solidFill>
                  <a:srgbClr val="1F1A2E"/>
                </a:solidFill>
                <a:latin typeface="Calibri" pitchFamily="34" charset="0"/>
                <a:ea typeface="Calibri" pitchFamily="34" charset="-122"/>
                <a:cs typeface="Calibri" pitchFamily="34" charset="-120"/>
              </a:rPr>
              <a:t>Capture du visage</a:t>
            </a:r>
            <a:endParaRPr lang="en-US" sz="1800" dirty="0"/>
          </a:p>
        </p:txBody>
      </p:sp>
      <p:sp>
        <p:nvSpPr>
          <p:cNvPr id="17" name="Text 13"/>
          <p:cNvSpPr txBox="1"/>
          <p:nvPr/>
        </p:nvSpPr>
        <p:spPr>
          <a:xfrm>
            <a:off x="3611880" y="3383280"/>
            <a:ext cx="2103120" cy="1051560"/>
          </a:xfrm>
          <a:prstGeom prst="rect">
            <a:avLst/>
          </a:prstGeom>
          <a:noFill/>
          <a:ln/>
        </p:spPr>
        <p:txBody>
          <a:bodyPr wrap="square" lIns="0" tIns="0" rIns="0" bIns="0" rtlCol="0" anchor="t"/>
          <a:lstStyle/>
          <a:p>
            <a:pPr indent="0" marL="0">
              <a:buNone/>
            </a:pPr>
            <a:r>
              <a:rPr lang="en-US" sz="1300" dirty="0">
                <a:solidFill>
                  <a:srgbClr val="6B6780"/>
                </a:solidFill>
                <a:latin typeface="Calibri" pitchFamily="34" charset="0"/>
                <a:ea typeface="Calibri" pitchFamily="34" charset="-122"/>
                <a:cs typeface="Calibri" pitchFamily="34" charset="-120"/>
              </a:rPr>
              <a:t>La caméra du kiosque capture le visage, guidée par un repère à l'écran.</a:t>
            </a:r>
            <a:endParaRPr lang="en-US" sz="1300" dirty="0"/>
          </a:p>
        </p:txBody>
      </p:sp>
      <p:sp>
        <p:nvSpPr>
          <p:cNvPr id="18" name="Shape 14"/>
          <p:cNvSpPr/>
          <p:nvPr/>
        </p:nvSpPr>
        <p:spPr>
          <a:xfrm>
            <a:off x="6126480" y="1737360"/>
            <a:ext cx="2606040" cy="2834640"/>
          </a:xfrm>
          <a:prstGeom prst="roundRect">
            <a:avLst>
              <a:gd name="adj" fmla="val 4211"/>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19" name="Shape 15"/>
          <p:cNvSpPr/>
          <p:nvPr/>
        </p:nvSpPr>
        <p:spPr>
          <a:xfrm>
            <a:off x="6400800" y="2011680"/>
            <a:ext cx="731520" cy="731520"/>
          </a:xfrm>
          <a:prstGeom prst="roundRect">
            <a:avLst>
              <a:gd name="adj" fmla="val 18750"/>
            </a:avLst>
          </a:prstGeom>
          <a:solidFill>
            <a:srgbClr val="6A2BD9"/>
          </a:solidFill>
          <a:ln w="12700">
            <a:solidFill>
              <a:srgbClr val="6A2BD9"/>
            </a:solidFill>
            <a:prstDash val="solid"/>
          </a:ln>
        </p:spPr>
      </p:sp>
      <p:pic>
        <p:nvPicPr>
          <p:cNvPr id="20" name="Image 2" descr="preencoded.png">    </p:cNvPr>
          <p:cNvPicPr>
            <a:picLocks noChangeAspect="1"/>
          </p:cNvPicPr>
          <p:nvPr/>
        </p:nvPicPr>
        <p:blipFill>
          <a:blip r:embed="rId3"/>
          <a:stretch>
            <a:fillRect/>
          </a:stretch>
        </p:blipFill>
        <p:spPr>
          <a:xfrm>
            <a:off x="6590995" y="2201875"/>
            <a:ext cx="351130" cy="351130"/>
          </a:xfrm>
          <a:prstGeom prst="rect">
            <a:avLst/>
          </a:prstGeom>
        </p:spPr>
      </p:pic>
      <p:sp>
        <p:nvSpPr>
          <p:cNvPr id="21" name="Text 16"/>
          <p:cNvSpPr txBox="1"/>
          <p:nvPr/>
        </p:nvSpPr>
        <p:spPr>
          <a:xfrm>
            <a:off x="7909560" y="1965960"/>
            <a:ext cx="548640" cy="731520"/>
          </a:xfrm>
          <a:prstGeom prst="rect">
            <a:avLst/>
          </a:prstGeom>
          <a:noFill/>
          <a:ln/>
        </p:spPr>
        <p:txBody>
          <a:bodyPr wrap="square" lIns="0" tIns="0" rIns="0" bIns="0" rtlCol="0" anchor="ctr"/>
          <a:lstStyle/>
          <a:p>
            <a:pPr algn="r" indent="0" marL="0">
              <a:buNone/>
            </a:pPr>
            <a:r>
              <a:rPr lang="en-US" sz="3600" b="1" dirty="0">
                <a:solidFill>
                  <a:srgbClr val="E4DCF7"/>
                </a:solidFill>
                <a:latin typeface="Arial" pitchFamily="34" charset="0"/>
                <a:ea typeface="Arial" pitchFamily="34" charset="-122"/>
                <a:cs typeface="Arial" pitchFamily="34" charset="-120"/>
              </a:rPr>
              <a:t>3</a:t>
            </a:r>
            <a:endParaRPr lang="en-US" sz="3600" dirty="0"/>
          </a:p>
        </p:txBody>
      </p:sp>
      <p:sp>
        <p:nvSpPr>
          <p:cNvPr id="22" name="Text 17"/>
          <p:cNvSpPr txBox="1"/>
          <p:nvPr/>
        </p:nvSpPr>
        <p:spPr>
          <a:xfrm>
            <a:off x="6400800" y="2926080"/>
            <a:ext cx="2148840" cy="411480"/>
          </a:xfrm>
          <a:prstGeom prst="rect">
            <a:avLst/>
          </a:prstGeom>
          <a:noFill/>
          <a:ln/>
        </p:spPr>
        <p:txBody>
          <a:bodyPr wrap="square" lIns="0" tIns="0" rIns="0" bIns="0" rtlCol="0" anchor="ctr"/>
          <a:lstStyle/>
          <a:p>
            <a:pPr indent="0" marL="0">
              <a:buNone/>
            </a:pPr>
            <a:r>
              <a:rPr lang="en-US" sz="1800" b="1" dirty="0">
                <a:solidFill>
                  <a:srgbClr val="1F1A2E"/>
                </a:solidFill>
                <a:latin typeface="Calibri" pitchFamily="34" charset="0"/>
                <a:ea typeface="Calibri" pitchFamily="34" charset="-122"/>
                <a:cs typeface="Calibri" pitchFamily="34" charset="-120"/>
              </a:rPr>
              <a:t>Comparaison</a:t>
            </a:r>
            <a:endParaRPr lang="en-US" sz="1800" dirty="0"/>
          </a:p>
        </p:txBody>
      </p:sp>
      <p:sp>
        <p:nvSpPr>
          <p:cNvPr id="23" name="Text 18"/>
          <p:cNvSpPr txBox="1"/>
          <p:nvPr/>
        </p:nvSpPr>
        <p:spPr>
          <a:xfrm>
            <a:off x="6400800" y="3383280"/>
            <a:ext cx="2103120" cy="1051560"/>
          </a:xfrm>
          <a:prstGeom prst="rect">
            <a:avLst/>
          </a:prstGeom>
          <a:noFill/>
          <a:ln/>
        </p:spPr>
        <p:txBody>
          <a:bodyPr wrap="square" lIns="0" tIns="0" rIns="0" bIns="0" rtlCol="0" anchor="t"/>
          <a:lstStyle/>
          <a:p>
            <a:pPr indent="0" marL="0">
              <a:buNone/>
            </a:pPr>
            <a:r>
              <a:rPr lang="en-US" sz="1300" dirty="0">
                <a:solidFill>
                  <a:srgbClr val="6B6780"/>
                </a:solidFill>
                <a:latin typeface="Calibri" pitchFamily="34" charset="0"/>
                <a:ea typeface="Calibri" pitchFamily="34" charset="-122"/>
                <a:cs typeface="Calibri" pitchFamily="34" charset="-120"/>
              </a:rPr>
              <a:t>Le visage est comparé à l'empreinte de référence liée au matricule.</a:t>
            </a:r>
            <a:endParaRPr lang="en-US" sz="1300" dirty="0"/>
          </a:p>
        </p:txBody>
      </p:sp>
      <p:sp>
        <p:nvSpPr>
          <p:cNvPr id="24" name="Shape 19"/>
          <p:cNvSpPr/>
          <p:nvPr/>
        </p:nvSpPr>
        <p:spPr>
          <a:xfrm>
            <a:off x="8915400" y="1737360"/>
            <a:ext cx="2606040" cy="2834640"/>
          </a:xfrm>
          <a:prstGeom prst="roundRect">
            <a:avLst>
              <a:gd name="adj" fmla="val 4211"/>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25" name="Shape 20"/>
          <p:cNvSpPr/>
          <p:nvPr/>
        </p:nvSpPr>
        <p:spPr>
          <a:xfrm>
            <a:off x="9189720" y="2011680"/>
            <a:ext cx="731520" cy="731520"/>
          </a:xfrm>
          <a:prstGeom prst="roundRect">
            <a:avLst>
              <a:gd name="adj" fmla="val 18750"/>
            </a:avLst>
          </a:prstGeom>
          <a:solidFill>
            <a:srgbClr val="2EA35A"/>
          </a:solidFill>
          <a:ln w="12700">
            <a:solidFill>
              <a:srgbClr val="2EA35A"/>
            </a:solidFill>
            <a:prstDash val="solid"/>
          </a:ln>
        </p:spPr>
      </p:sp>
      <p:pic>
        <p:nvPicPr>
          <p:cNvPr id="26" name="Image 3" descr="preencoded.png">    </p:cNvPr>
          <p:cNvPicPr>
            <a:picLocks noChangeAspect="1"/>
          </p:cNvPicPr>
          <p:nvPr/>
        </p:nvPicPr>
        <p:blipFill>
          <a:blip r:embed="rId4"/>
          <a:stretch>
            <a:fillRect/>
          </a:stretch>
        </p:blipFill>
        <p:spPr>
          <a:xfrm>
            <a:off x="9379915" y="2201875"/>
            <a:ext cx="351130" cy="351130"/>
          </a:xfrm>
          <a:prstGeom prst="rect">
            <a:avLst/>
          </a:prstGeom>
        </p:spPr>
      </p:pic>
      <p:sp>
        <p:nvSpPr>
          <p:cNvPr id="27" name="Text 21"/>
          <p:cNvSpPr txBox="1"/>
          <p:nvPr/>
        </p:nvSpPr>
        <p:spPr>
          <a:xfrm>
            <a:off x="10698480" y="1965960"/>
            <a:ext cx="548640" cy="731520"/>
          </a:xfrm>
          <a:prstGeom prst="rect">
            <a:avLst/>
          </a:prstGeom>
          <a:noFill/>
          <a:ln/>
        </p:spPr>
        <p:txBody>
          <a:bodyPr wrap="square" lIns="0" tIns="0" rIns="0" bIns="0" rtlCol="0" anchor="ctr"/>
          <a:lstStyle/>
          <a:p>
            <a:pPr algn="r" indent="0" marL="0">
              <a:buNone/>
            </a:pPr>
            <a:r>
              <a:rPr lang="en-US" sz="3600" b="1" dirty="0">
                <a:solidFill>
                  <a:srgbClr val="E4DCF7"/>
                </a:solidFill>
                <a:latin typeface="Arial" pitchFamily="34" charset="0"/>
                <a:ea typeface="Arial" pitchFamily="34" charset="-122"/>
                <a:cs typeface="Arial" pitchFamily="34" charset="-120"/>
              </a:rPr>
              <a:t>4</a:t>
            </a:r>
            <a:endParaRPr lang="en-US" sz="3600" dirty="0"/>
          </a:p>
        </p:txBody>
      </p:sp>
      <p:sp>
        <p:nvSpPr>
          <p:cNvPr id="28" name="Text 22"/>
          <p:cNvSpPr txBox="1"/>
          <p:nvPr/>
        </p:nvSpPr>
        <p:spPr>
          <a:xfrm>
            <a:off x="9189720" y="2926080"/>
            <a:ext cx="2148840" cy="411480"/>
          </a:xfrm>
          <a:prstGeom prst="rect">
            <a:avLst/>
          </a:prstGeom>
          <a:noFill/>
          <a:ln/>
        </p:spPr>
        <p:txBody>
          <a:bodyPr wrap="square" lIns="0" tIns="0" rIns="0" bIns="0" rtlCol="0" anchor="ctr"/>
          <a:lstStyle/>
          <a:p>
            <a:pPr indent="0" marL="0">
              <a:buNone/>
            </a:pPr>
            <a:r>
              <a:rPr lang="en-US" sz="1800" b="1" dirty="0">
                <a:solidFill>
                  <a:srgbClr val="1F1A2E"/>
                </a:solidFill>
                <a:latin typeface="Calibri" pitchFamily="34" charset="0"/>
                <a:ea typeface="Calibri" pitchFamily="34" charset="-122"/>
                <a:cs typeface="Calibri" pitchFamily="34" charset="-120"/>
              </a:rPr>
              <a:t>Feuille de soins</a:t>
            </a:r>
            <a:endParaRPr lang="en-US" sz="1800" dirty="0"/>
          </a:p>
        </p:txBody>
      </p:sp>
      <p:sp>
        <p:nvSpPr>
          <p:cNvPr id="29" name="Text 23"/>
          <p:cNvSpPr txBox="1"/>
          <p:nvPr/>
        </p:nvSpPr>
        <p:spPr>
          <a:xfrm>
            <a:off x="9189720" y="3383280"/>
            <a:ext cx="2103120" cy="1051560"/>
          </a:xfrm>
          <a:prstGeom prst="rect">
            <a:avLst/>
          </a:prstGeom>
          <a:noFill/>
          <a:ln/>
        </p:spPr>
        <p:txBody>
          <a:bodyPr wrap="square" lIns="0" tIns="0" rIns="0" bIns="0" rtlCol="0" anchor="t"/>
          <a:lstStyle/>
          <a:p>
            <a:pPr indent="0" marL="0">
              <a:buNone/>
            </a:pPr>
            <a:r>
              <a:rPr lang="en-US" sz="1300" dirty="0">
                <a:solidFill>
                  <a:srgbClr val="6B6780"/>
                </a:solidFill>
                <a:latin typeface="Calibri" pitchFamily="34" charset="0"/>
                <a:ea typeface="Calibri" pitchFamily="34" charset="-122"/>
                <a:cs typeface="Calibri" pitchFamily="34" charset="-120"/>
              </a:rPr>
              <a:t>Si c'est le titulaire, la feuille de soins officielle est imprimée.</a:t>
            </a:r>
            <a:endParaRPr lang="en-US" sz="1300" dirty="0"/>
          </a:p>
        </p:txBody>
      </p:sp>
      <p:sp>
        <p:nvSpPr>
          <p:cNvPr id="30" name="Shape 24"/>
          <p:cNvSpPr/>
          <p:nvPr/>
        </p:nvSpPr>
        <p:spPr>
          <a:xfrm>
            <a:off x="548640" y="4892040"/>
            <a:ext cx="5440680" cy="1188720"/>
          </a:xfrm>
          <a:prstGeom prst="roundRect">
            <a:avLst>
              <a:gd name="adj" fmla="val 9231"/>
            </a:avLst>
          </a:prstGeom>
          <a:solidFill>
            <a:srgbClr val="EAF7EF"/>
          </a:solidFill>
          <a:ln w="12700">
            <a:solidFill>
              <a:srgbClr val="E4DCF7"/>
            </a:solidFill>
            <a:prstDash val="solid"/>
          </a:ln>
        </p:spPr>
      </p:sp>
      <p:sp>
        <p:nvSpPr>
          <p:cNvPr id="31" name="Shape 25"/>
          <p:cNvSpPr/>
          <p:nvPr/>
        </p:nvSpPr>
        <p:spPr>
          <a:xfrm>
            <a:off x="822960" y="5120640"/>
            <a:ext cx="731520" cy="731520"/>
          </a:xfrm>
          <a:prstGeom prst="roundRect">
            <a:avLst>
              <a:gd name="adj" fmla="val 18750"/>
            </a:avLst>
          </a:prstGeom>
          <a:solidFill>
            <a:srgbClr val="2EA35A"/>
          </a:solidFill>
          <a:ln w="12700">
            <a:solidFill>
              <a:srgbClr val="2EA35A"/>
            </a:solidFill>
            <a:prstDash val="solid"/>
          </a:ln>
        </p:spPr>
      </p:sp>
      <p:pic>
        <p:nvPicPr>
          <p:cNvPr id="32" name="Image 4" descr="preencoded.png">    </p:cNvPr>
          <p:cNvPicPr>
            <a:picLocks noChangeAspect="1"/>
          </p:cNvPicPr>
          <p:nvPr/>
        </p:nvPicPr>
        <p:blipFill>
          <a:blip r:embed="rId5"/>
          <a:stretch>
            <a:fillRect/>
          </a:stretch>
        </p:blipFill>
        <p:spPr>
          <a:xfrm>
            <a:off x="1013155" y="5310835"/>
            <a:ext cx="351130" cy="351130"/>
          </a:xfrm>
          <a:prstGeom prst="rect">
            <a:avLst/>
          </a:prstGeom>
        </p:spPr>
      </p:pic>
      <p:sp>
        <p:nvSpPr>
          <p:cNvPr id="33" name="Text 26"/>
          <p:cNvSpPr txBox="1"/>
          <p:nvPr/>
        </p:nvSpPr>
        <p:spPr>
          <a:xfrm>
            <a:off x="1737360" y="5074920"/>
            <a:ext cx="4114800" cy="822960"/>
          </a:xfrm>
          <a:prstGeom prst="rect">
            <a:avLst/>
          </a:prstGeom>
          <a:noFill/>
          <a:ln/>
        </p:spPr>
        <p:txBody>
          <a:bodyPr wrap="square" lIns="0" tIns="0" rIns="0" bIns="0" rtlCol="0" anchor="ctr"/>
          <a:lstStyle/>
          <a:p>
            <a:pPr indent="0" marL="0">
              <a:buNone/>
            </a:pPr>
            <a:r>
              <a:rPr lang="en-US" sz="1500" b="1" dirty="0">
                <a:solidFill>
                  <a:srgbClr val="2EA35A"/>
                </a:solidFill>
                <a:latin typeface="Calibri" pitchFamily="34" charset="0"/>
                <a:ea typeface="Calibri" pitchFamily="34" charset="-122"/>
                <a:cs typeface="Calibri" pitchFamily="34" charset="-120"/>
              </a:rPr>
              <a:t>Correspondance</a:t>
            </a:r>
            <a:endParaRPr lang="en-US" sz="1500" dirty="0"/>
          </a:p>
          <a:p>
            <a:pPr indent="0" marL="0">
              <a:buNone/>
            </a:pPr>
            <a:r>
              <a:rPr lang="en-US" sz="1500" dirty="0">
                <a:solidFill>
                  <a:srgbClr val="1F1A2E"/>
                </a:solidFill>
                <a:latin typeface="Calibri" pitchFamily="34" charset="0"/>
                <a:ea typeface="Calibri" pitchFamily="34" charset="-122"/>
                <a:cs typeface="Calibri" pitchFamily="34" charset="-120"/>
              </a:rPr>
              <a:t>Accès autorisé et feuille de soins imprimée</a:t>
            </a:r>
            <a:endParaRPr lang="en-US" sz="1500" dirty="0"/>
          </a:p>
        </p:txBody>
      </p:sp>
      <p:sp>
        <p:nvSpPr>
          <p:cNvPr id="34" name="Shape 27"/>
          <p:cNvSpPr/>
          <p:nvPr/>
        </p:nvSpPr>
        <p:spPr>
          <a:xfrm>
            <a:off x="6199632" y="4892040"/>
            <a:ext cx="5440680" cy="1188720"/>
          </a:xfrm>
          <a:prstGeom prst="roundRect">
            <a:avLst>
              <a:gd name="adj" fmla="val 9231"/>
            </a:avLst>
          </a:prstGeom>
          <a:solidFill>
            <a:srgbClr val="FBECEC"/>
          </a:solidFill>
          <a:ln w="12700">
            <a:solidFill>
              <a:srgbClr val="E4DCF7"/>
            </a:solidFill>
            <a:prstDash val="solid"/>
          </a:ln>
        </p:spPr>
      </p:sp>
      <p:sp>
        <p:nvSpPr>
          <p:cNvPr id="35" name="Shape 28"/>
          <p:cNvSpPr/>
          <p:nvPr/>
        </p:nvSpPr>
        <p:spPr>
          <a:xfrm>
            <a:off x="6473952" y="5120640"/>
            <a:ext cx="731520" cy="731520"/>
          </a:xfrm>
          <a:prstGeom prst="roundRect">
            <a:avLst>
              <a:gd name="adj" fmla="val 18750"/>
            </a:avLst>
          </a:prstGeom>
          <a:solidFill>
            <a:srgbClr val="D94848"/>
          </a:solidFill>
          <a:ln w="12700">
            <a:solidFill>
              <a:srgbClr val="D94848"/>
            </a:solidFill>
            <a:prstDash val="solid"/>
          </a:ln>
        </p:spPr>
      </p:sp>
      <p:pic>
        <p:nvPicPr>
          <p:cNvPr id="36" name="Image 5" descr="preencoded.png">    </p:cNvPr>
          <p:cNvPicPr>
            <a:picLocks noChangeAspect="1"/>
          </p:cNvPicPr>
          <p:nvPr/>
        </p:nvPicPr>
        <p:blipFill>
          <a:blip r:embed="rId6"/>
          <a:stretch>
            <a:fillRect/>
          </a:stretch>
        </p:blipFill>
        <p:spPr>
          <a:xfrm>
            <a:off x="6664147" y="5310835"/>
            <a:ext cx="351130" cy="351130"/>
          </a:xfrm>
          <a:prstGeom prst="rect">
            <a:avLst/>
          </a:prstGeom>
        </p:spPr>
      </p:pic>
      <p:sp>
        <p:nvSpPr>
          <p:cNvPr id="37" name="Text 29"/>
          <p:cNvSpPr txBox="1"/>
          <p:nvPr/>
        </p:nvSpPr>
        <p:spPr>
          <a:xfrm>
            <a:off x="7388352" y="5074920"/>
            <a:ext cx="4114800" cy="822960"/>
          </a:xfrm>
          <a:prstGeom prst="rect">
            <a:avLst/>
          </a:prstGeom>
          <a:noFill/>
          <a:ln/>
        </p:spPr>
        <p:txBody>
          <a:bodyPr wrap="square" lIns="0" tIns="0" rIns="0" bIns="0" rtlCol="0" anchor="ctr"/>
          <a:lstStyle/>
          <a:p>
            <a:pPr indent="0" marL="0">
              <a:buNone/>
            </a:pPr>
            <a:r>
              <a:rPr lang="en-US" sz="1500" b="1" dirty="0">
                <a:solidFill>
                  <a:srgbClr val="D94848"/>
                </a:solidFill>
                <a:latin typeface="Calibri" pitchFamily="34" charset="0"/>
                <a:ea typeface="Calibri" pitchFamily="34" charset="-122"/>
                <a:cs typeface="Calibri" pitchFamily="34" charset="-120"/>
              </a:rPr>
              <a:t>Refus</a:t>
            </a:r>
            <a:endParaRPr lang="en-US" sz="1500" dirty="0"/>
          </a:p>
          <a:p>
            <a:pPr indent="0" marL="0">
              <a:buNone/>
            </a:pPr>
            <a:r>
              <a:rPr lang="en-US" sz="1500" dirty="0">
                <a:solidFill>
                  <a:srgbClr val="1F1A2E"/>
                </a:solidFill>
                <a:latin typeface="Calibri" pitchFamily="34" charset="0"/>
                <a:ea typeface="Calibri" pitchFamily="34" charset="-122"/>
                <a:cs typeface="Calibri" pitchFamily="34" charset="-120"/>
              </a:rPr>
              <a:t>Une autre personne : aucune prise en charge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DÉMONSTRATEUR FONCTIONNEL</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Le kiosque tourne déjà sur terminal Jetson</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4</a:t>
            </a:r>
            <a:endParaRPr lang="en-US" sz="1000" dirty="0"/>
          </a:p>
        </p:txBody>
      </p:sp>
      <p:pic>
        <p:nvPicPr>
          <p:cNvPr id="6" name="Image 0" descr="preencoded.png">    </p:cNvPr>
          <p:cNvPicPr>
            <a:picLocks noChangeAspect="1"/>
          </p:cNvPicPr>
          <p:nvPr/>
        </p:nvPicPr>
        <p:blipFill>
          <a:blip r:embed="rId1"/>
          <a:stretch>
            <a:fillRect/>
          </a:stretch>
        </p:blipFill>
        <p:spPr>
          <a:xfrm>
            <a:off x="548640" y="1645920"/>
            <a:ext cx="3840480" cy="2566387"/>
          </a:xfrm>
          <a:prstGeom prst="rect">
            <a:avLst/>
          </a:prstGeom>
        </p:spPr>
      </p:pic>
      <p:sp>
        <p:nvSpPr>
          <p:cNvPr id="7" name="Text 4"/>
          <p:cNvSpPr txBox="1"/>
          <p:nvPr/>
        </p:nvSpPr>
        <p:spPr>
          <a:xfrm>
            <a:off x="548640" y="4322035"/>
            <a:ext cx="3840480" cy="32004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Saisie du numéro CNASS</a:t>
            </a:r>
            <a:endParaRPr lang="en-US" sz="1300" dirty="0"/>
          </a:p>
        </p:txBody>
      </p:sp>
      <p:pic>
        <p:nvPicPr>
          <p:cNvPr id="8" name="Image 1" descr="preencoded.png">    </p:cNvPr>
          <p:cNvPicPr>
            <a:picLocks noChangeAspect="1"/>
          </p:cNvPicPr>
          <p:nvPr/>
        </p:nvPicPr>
        <p:blipFill>
          <a:blip r:embed="rId2"/>
          <a:stretch>
            <a:fillRect/>
          </a:stretch>
        </p:blipFill>
        <p:spPr>
          <a:xfrm>
            <a:off x="4617720" y="1645920"/>
            <a:ext cx="3840480" cy="2564630"/>
          </a:xfrm>
          <a:prstGeom prst="rect">
            <a:avLst/>
          </a:prstGeom>
        </p:spPr>
      </p:pic>
      <p:sp>
        <p:nvSpPr>
          <p:cNvPr id="9" name="Text 5"/>
          <p:cNvSpPr txBox="1"/>
          <p:nvPr/>
        </p:nvSpPr>
        <p:spPr>
          <a:xfrm>
            <a:off x="4617720" y="4320278"/>
            <a:ext cx="3840480" cy="32004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Identité vérifiée : impression</a:t>
            </a:r>
            <a:endParaRPr lang="en-US" sz="1300" dirty="0"/>
          </a:p>
        </p:txBody>
      </p:sp>
      <p:sp>
        <p:nvSpPr>
          <p:cNvPr id="10" name="Shape 6"/>
          <p:cNvSpPr/>
          <p:nvPr/>
        </p:nvSpPr>
        <p:spPr>
          <a:xfrm>
            <a:off x="8778240" y="1645920"/>
            <a:ext cx="548640" cy="548640"/>
          </a:xfrm>
          <a:prstGeom prst="roundRect">
            <a:avLst>
              <a:gd name="adj" fmla="val 25000"/>
            </a:avLst>
          </a:prstGeom>
          <a:solidFill>
            <a:srgbClr val="6A2BD9"/>
          </a:solidFill>
          <a:ln w="12700">
            <a:solidFill>
              <a:srgbClr val="6A2BD9"/>
            </a:solidFill>
            <a:prstDash val="solid"/>
          </a:ln>
        </p:spPr>
      </p:sp>
      <p:pic>
        <p:nvPicPr>
          <p:cNvPr id="11" name="Image 2" descr="preencoded.png">    </p:cNvPr>
          <p:cNvPicPr>
            <a:picLocks noChangeAspect="1"/>
          </p:cNvPicPr>
          <p:nvPr/>
        </p:nvPicPr>
        <p:blipFill>
          <a:blip r:embed="rId3"/>
          <a:stretch>
            <a:fillRect/>
          </a:stretch>
        </p:blipFill>
        <p:spPr>
          <a:xfrm>
            <a:off x="8920886" y="1788566"/>
            <a:ext cx="263347" cy="263347"/>
          </a:xfrm>
          <a:prstGeom prst="rect">
            <a:avLst/>
          </a:prstGeom>
        </p:spPr>
      </p:pic>
      <p:sp>
        <p:nvSpPr>
          <p:cNvPr id="12" name="Text 7"/>
          <p:cNvSpPr txBox="1"/>
          <p:nvPr/>
        </p:nvSpPr>
        <p:spPr>
          <a:xfrm>
            <a:off x="9509760" y="1627632"/>
            <a:ext cx="2377440" cy="365760"/>
          </a:xfrm>
          <a:prstGeom prst="rect">
            <a:avLst/>
          </a:prstGeom>
          <a:noFill/>
          <a:ln/>
        </p:spPr>
        <p:txBody>
          <a:bodyPr wrap="square" lIns="0" tIns="0" rIns="0" bIns="0" rtlCol="0" anchor="ctr"/>
          <a:lstStyle/>
          <a:p>
            <a:pPr indent="0" marL="0">
              <a:buNone/>
            </a:pPr>
            <a:r>
              <a:rPr lang="en-US" sz="1400" b="1" dirty="0">
                <a:solidFill>
                  <a:srgbClr val="1F1A2E"/>
                </a:solidFill>
                <a:latin typeface="Calibri" pitchFamily="34" charset="0"/>
                <a:ea typeface="Calibri" pitchFamily="34" charset="-122"/>
                <a:cs typeface="Calibri" pitchFamily="34" charset="-120"/>
              </a:rPr>
              <a:t>Bilingue arabe / français</a:t>
            </a:r>
            <a:endParaRPr lang="en-US" sz="1400" dirty="0"/>
          </a:p>
        </p:txBody>
      </p:sp>
      <p:sp>
        <p:nvSpPr>
          <p:cNvPr id="13" name="Text 8"/>
          <p:cNvSpPr txBox="1"/>
          <p:nvPr/>
        </p:nvSpPr>
        <p:spPr>
          <a:xfrm>
            <a:off x="9509760" y="1975104"/>
            <a:ext cx="2377440" cy="320040"/>
          </a:xfrm>
          <a:prstGeom prst="rect">
            <a:avLst/>
          </a:prstGeom>
          <a:noFill/>
          <a:ln/>
        </p:spPr>
        <p:txBody>
          <a:bodyPr wrap="square" lIns="0" tIns="0" rIns="0" bIns="0" rtlCol="0" anchor="ctr"/>
          <a:lstStyle/>
          <a:p>
            <a:pPr indent="0" marL="0">
              <a:buNone/>
            </a:pPr>
            <a:r>
              <a:rPr lang="en-US" sz="1200" dirty="0">
                <a:solidFill>
                  <a:srgbClr val="6B6780"/>
                </a:solidFill>
                <a:latin typeface="Calibri" pitchFamily="34" charset="0"/>
                <a:ea typeface="Calibri" pitchFamily="34" charset="-122"/>
                <a:cs typeface="Calibri" pitchFamily="34" charset="-120"/>
              </a:rPr>
              <a:t>Adapté à tous les assurés</a:t>
            </a:r>
            <a:endParaRPr lang="en-US" sz="1200" dirty="0"/>
          </a:p>
        </p:txBody>
      </p:sp>
      <p:sp>
        <p:nvSpPr>
          <p:cNvPr id="14" name="Shape 9"/>
          <p:cNvSpPr/>
          <p:nvPr/>
        </p:nvSpPr>
        <p:spPr>
          <a:xfrm>
            <a:off x="8778240" y="2697480"/>
            <a:ext cx="548640" cy="548640"/>
          </a:xfrm>
          <a:prstGeom prst="roundRect">
            <a:avLst>
              <a:gd name="adj" fmla="val 25000"/>
            </a:avLst>
          </a:prstGeom>
          <a:solidFill>
            <a:srgbClr val="6A2BD9"/>
          </a:solidFill>
          <a:ln w="12700">
            <a:solidFill>
              <a:srgbClr val="6A2BD9"/>
            </a:solidFill>
            <a:prstDash val="solid"/>
          </a:ln>
        </p:spPr>
      </p:sp>
      <p:pic>
        <p:nvPicPr>
          <p:cNvPr id="15" name="Image 3" descr="preencoded.png">    </p:cNvPr>
          <p:cNvPicPr>
            <a:picLocks noChangeAspect="1"/>
          </p:cNvPicPr>
          <p:nvPr/>
        </p:nvPicPr>
        <p:blipFill>
          <a:blip r:embed="rId4"/>
          <a:stretch>
            <a:fillRect/>
          </a:stretch>
        </p:blipFill>
        <p:spPr>
          <a:xfrm>
            <a:off x="8920886" y="2840126"/>
            <a:ext cx="263347" cy="263347"/>
          </a:xfrm>
          <a:prstGeom prst="rect">
            <a:avLst/>
          </a:prstGeom>
        </p:spPr>
      </p:pic>
      <p:sp>
        <p:nvSpPr>
          <p:cNvPr id="16" name="Text 10"/>
          <p:cNvSpPr txBox="1"/>
          <p:nvPr/>
        </p:nvSpPr>
        <p:spPr>
          <a:xfrm>
            <a:off x="9509760" y="2679192"/>
            <a:ext cx="2377440" cy="365760"/>
          </a:xfrm>
          <a:prstGeom prst="rect">
            <a:avLst/>
          </a:prstGeom>
          <a:noFill/>
          <a:ln/>
        </p:spPr>
        <p:txBody>
          <a:bodyPr wrap="square" lIns="0" tIns="0" rIns="0" bIns="0" rtlCol="0" anchor="ctr"/>
          <a:lstStyle/>
          <a:p>
            <a:pPr indent="0" marL="0">
              <a:buNone/>
            </a:pPr>
            <a:r>
              <a:rPr lang="en-US" sz="1400" b="1" dirty="0">
                <a:solidFill>
                  <a:srgbClr val="1F1A2E"/>
                </a:solidFill>
                <a:latin typeface="Calibri" pitchFamily="34" charset="0"/>
                <a:ea typeface="Calibri" pitchFamily="34" charset="-122"/>
                <a:cs typeface="Calibri" pitchFamily="34" charset="-120"/>
              </a:rPr>
              <a:t>Guidage visuel et sonore</a:t>
            </a:r>
            <a:endParaRPr lang="en-US" sz="1400" dirty="0"/>
          </a:p>
        </p:txBody>
      </p:sp>
      <p:sp>
        <p:nvSpPr>
          <p:cNvPr id="17" name="Text 11"/>
          <p:cNvSpPr txBox="1"/>
          <p:nvPr/>
        </p:nvSpPr>
        <p:spPr>
          <a:xfrm>
            <a:off x="9509760" y="3026664"/>
            <a:ext cx="2377440" cy="320040"/>
          </a:xfrm>
          <a:prstGeom prst="rect">
            <a:avLst/>
          </a:prstGeom>
          <a:noFill/>
          <a:ln/>
        </p:spPr>
        <p:txBody>
          <a:bodyPr wrap="square" lIns="0" tIns="0" rIns="0" bIns="0" rtlCol="0" anchor="ctr"/>
          <a:lstStyle/>
          <a:p>
            <a:pPr indent="0" marL="0">
              <a:buNone/>
            </a:pPr>
            <a:r>
              <a:rPr lang="en-US" sz="1200" dirty="0">
                <a:solidFill>
                  <a:srgbClr val="6B6780"/>
                </a:solidFill>
                <a:latin typeface="Calibri" pitchFamily="34" charset="0"/>
                <a:ea typeface="Calibri" pitchFamily="34" charset="-122"/>
                <a:cs typeface="Calibri" pitchFamily="34" charset="-120"/>
              </a:rPr>
              <a:t>Repère de cadrage, compte à rebours</a:t>
            </a:r>
            <a:endParaRPr lang="en-US" sz="1200" dirty="0"/>
          </a:p>
        </p:txBody>
      </p:sp>
      <p:sp>
        <p:nvSpPr>
          <p:cNvPr id="18" name="Shape 12"/>
          <p:cNvSpPr/>
          <p:nvPr/>
        </p:nvSpPr>
        <p:spPr>
          <a:xfrm>
            <a:off x="8778240" y="3749040"/>
            <a:ext cx="548640" cy="548640"/>
          </a:xfrm>
          <a:prstGeom prst="roundRect">
            <a:avLst>
              <a:gd name="adj" fmla="val 25000"/>
            </a:avLst>
          </a:prstGeom>
          <a:solidFill>
            <a:srgbClr val="6A2BD9"/>
          </a:solidFill>
          <a:ln w="12700">
            <a:solidFill>
              <a:srgbClr val="6A2BD9"/>
            </a:solidFill>
            <a:prstDash val="solid"/>
          </a:ln>
        </p:spPr>
      </p:sp>
      <p:pic>
        <p:nvPicPr>
          <p:cNvPr id="19" name="Image 4" descr="preencoded.png">    </p:cNvPr>
          <p:cNvPicPr>
            <a:picLocks noChangeAspect="1"/>
          </p:cNvPicPr>
          <p:nvPr/>
        </p:nvPicPr>
        <p:blipFill>
          <a:blip r:embed="rId5"/>
          <a:stretch>
            <a:fillRect/>
          </a:stretch>
        </p:blipFill>
        <p:spPr>
          <a:xfrm>
            <a:off x="8920886" y="3891686"/>
            <a:ext cx="263347" cy="263347"/>
          </a:xfrm>
          <a:prstGeom prst="rect">
            <a:avLst/>
          </a:prstGeom>
        </p:spPr>
      </p:pic>
      <p:sp>
        <p:nvSpPr>
          <p:cNvPr id="20" name="Text 13"/>
          <p:cNvSpPr txBox="1"/>
          <p:nvPr/>
        </p:nvSpPr>
        <p:spPr>
          <a:xfrm>
            <a:off x="9509760" y="3730752"/>
            <a:ext cx="2377440" cy="365760"/>
          </a:xfrm>
          <a:prstGeom prst="rect">
            <a:avLst/>
          </a:prstGeom>
          <a:noFill/>
          <a:ln/>
        </p:spPr>
        <p:txBody>
          <a:bodyPr wrap="square" lIns="0" tIns="0" rIns="0" bIns="0" rtlCol="0" anchor="ctr"/>
          <a:lstStyle/>
          <a:p>
            <a:pPr indent="0" marL="0">
              <a:buNone/>
            </a:pPr>
            <a:r>
              <a:rPr lang="en-US" sz="1400" b="1" dirty="0">
                <a:solidFill>
                  <a:srgbClr val="1F1A2E"/>
                </a:solidFill>
                <a:latin typeface="Calibri" pitchFamily="34" charset="0"/>
                <a:ea typeface="Calibri" pitchFamily="34" charset="-122"/>
                <a:cs typeface="Calibri" pitchFamily="34" charset="-120"/>
              </a:rPr>
              <a:t>Calcul embarqué Jetson</a:t>
            </a:r>
            <a:endParaRPr lang="en-US" sz="1400" dirty="0"/>
          </a:p>
        </p:txBody>
      </p:sp>
      <p:sp>
        <p:nvSpPr>
          <p:cNvPr id="21" name="Text 14"/>
          <p:cNvSpPr txBox="1"/>
          <p:nvPr/>
        </p:nvSpPr>
        <p:spPr>
          <a:xfrm>
            <a:off x="9509760" y="4078224"/>
            <a:ext cx="2377440" cy="320040"/>
          </a:xfrm>
          <a:prstGeom prst="rect">
            <a:avLst/>
          </a:prstGeom>
          <a:noFill/>
          <a:ln/>
        </p:spPr>
        <p:txBody>
          <a:bodyPr wrap="square" lIns="0" tIns="0" rIns="0" bIns="0" rtlCol="0" anchor="ctr"/>
          <a:lstStyle/>
          <a:p>
            <a:pPr indent="0" marL="0">
              <a:buNone/>
            </a:pPr>
            <a:r>
              <a:rPr lang="en-US" sz="1200" dirty="0">
                <a:solidFill>
                  <a:srgbClr val="6B6780"/>
                </a:solidFill>
                <a:latin typeface="Calibri" pitchFamily="34" charset="0"/>
                <a:ea typeface="Calibri" pitchFamily="34" charset="-122"/>
                <a:cs typeface="Calibri" pitchFamily="34" charset="-120"/>
              </a:rPr>
              <a:t>Rapide, fonctionne en local</a:t>
            </a:r>
            <a:endParaRPr lang="en-US" sz="1200" dirty="0"/>
          </a:p>
        </p:txBody>
      </p:sp>
      <p:sp>
        <p:nvSpPr>
          <p:cNvPr id="22" name="Shape 15"/>
          <p:cNvSpPr/>
          <p:nvPr/>
        </p:nvSpPr>
        <p:spPr>
          <a:xfrm>
            <a:off x="8778240" y="4800600"/>
            <a:ext cx="548640" cy="548640"/>
          </a:xfrm>
          <a:prstGeom prst="roundRect">
            <a:avLst>
              <a:gd name="adj" fmla="val 25000"/>
            </a:avLst>
          </a:prstGeom>
          <a:solidFill>
            <a:srgbClr val="6A2BD9"/>
          </a:solidFill>
          <a:ln w="12700">
            <a:solidFill>
              <a:srgbClr val="6A2BD9"/>
            </a:solidFill>
            <a:prstDash val="solid"/>
          </a:ln>
        </p:spPr>
      </p:sp>
      <p:pic>
        <p:nvPicPr>
          <p:cNvPr id="23" name="Image 5" descr="preencoded.png">    </p:cNvPr>
          <p:cNvPicPr>
            <a:picLocks noChangeAspect="1"/>
          </p:cNvPicPr>
          <p:nvPr/>
        </p:nvPicPr>
        <p:blipFill>
          <a:blip r:embed="rId6"/>
          <a:stretch>
            <a:fillRect/>
          </a:stretch>
        </p:blipFill>
        <p:spPr>
          <a:xfrm>
            <a:off x="8920886" y="4943246"/>
            <a:ext cx="263347" cy="263347"/>
          </a:xfrm>
          <a:prstGeom prst="rect">
            <a:avLst/>
          </a:prstGeom>
        </p:spPr>
      </p:pic>
      <p:sp>
        <p:nvSpPr>
          <p:cNvPr id="24" name="Text 16"/>
          <p:cNvSpPr txBox="1"/>
          <p:nvPr/>
        </p:nvSpPr>
        <p:spPr>
          <a:xfrm>
            <a:off x="9509760" y="4782312"/>
            <a:ext cx="2377440" cy="365760"/>
          </a:xfrm>
          <a:prstGeom prst="rect">
            <a:avLst/>
          </a:prstGeom>
          <a:noFill/>
          <a:ln/>
        </p:spPr>
        <p:txBody>
          <a:bodyPr wrap="square" lIns="0" tIns="0" rIns="0" bIns="0" rtlCol="0" anchor="ctr"/>
          <a:lstStyle/>
          <a:p>
            <a:pPr indent="0" marL="0">
              <a:buNone/>
            </a:pPr>
            <a:r>
              <a:rPr lang="en-US" sz="1400" b="1" dirty="0">
                <a:solidFill>
                  <a:srgbClr val="1F1A2E"/>
                </a:solidFill>
                <a:latin typeface="Calibri" pitchFamily="34" charset="0"/>
                <a:ea typeface="Calibri" pitchFamily="34" charset="-122"/>
                <a:cs typeface="Calibri" pitchFamily="34" charset="-120"/>
              </a:rPr>
              <a:t>Aucune donnée conservée</a:t>
            </a:r>
            <a:endParaRPr lang="en-US" sz="1400" dirty="0"/>
          </a:p>
        </p:txBody>
      </p:sp>
      <p:sp>
        <p:nvSpPr>
          <p:cNvPr id="25" name="Text 17"/>
          <p:cNvSpPr txBox="1"/>
          <p:nvPr/>
        </p:nvSpPr>
        <p:spPr>
          <a:xfrm>
            <a:off x="9509760" y="5129784"/>
            <a:ext cx="2377440" cy="320040"/>
          </a:xfrm>
          <a:prstGeom prst="rect">
            <a:avLst/>
          </a:prstGeom>
          <a:noFill/>
          <a:ln/>
        </p:spPr>
        <p:txBody>
          <a:bodyPr wrap="square" lIns="0" tIns="0" rIns="0" bIns="0" rtlCol="0" anchor="ctr"/>
          <a:lstStyle/>
          <a:p>
            <a:pPr indent="0" marL="0">
              <a:buNone/>
            </a:pPr>
            <a:r>
              <a:rPr lang="en-US" sz="1200" dirty="0">
                <a:solidFill>
                  <a:srgbClr val="6B6780"/>
                </a:solidFill>
                <a:latin typeface="Calibri" pitchFamily="34" charset="0"/>
                <a:ea typeface="Calibri" pitchFamily="34" charset="-122"/>
                <a:cs typeface="Calibri" pitchFamily="34" charset="-120"/>
              </a:rPr>
              <a:t>Rien n'est stocké sur le terminal</a:t>
            </a:r>
            <a:endParaRPr lang="en-US" sz="1200" dirty="0"/>
          </a:p>
        </p:txBody>
      </p:sp>
      <p:sp>
        <p:nvSpPr>
          <p:cNvPr id="26" name="Shape 18"/>
          <p:cNvSpPr/>
          <p:nvPr/>
        </p:nvSpPr>
        <p:spPr>
          <a:xfrm>
            <a:off x="548640" y="4892040"/>
            <a:ext cx="7909560" cy="1188720"/>
          </a:xfrm>
          <a:prstGeom prst="roundRect">
            <a:avLst>
              <a:gd name="adj" fmla="val 9231"/>
            </a:avLst>
          </a:prstGeom>
          <a:solidFill>
            <a:srgbClr val="F3EEFE"/>
          </a:solidFill>
          <a:ln w="12700">
            <a:solidFill>
              <a:srgbClr val="E4DCF7"/>
            </a:solidFill>
            <a:prstDash val="solid"/>
          </a:ln>
        </p:spPr>
      </p:sp>
      <p:sp>
        <p:nvSpPr>
          <p:cNvPr id="27" name="Shape 19"/>
          <p:cNvSpPr/>
          <p:nvPr/>
        </p:nvSpPr>
        <p:spPr>
          <a:xfrm>
            <a:off x="914400" y="5166360"/>
            <a:ext cx="640080" cy="640080"/>
          </a:xfrm>
          <a:prstGeom prst="roundRect">
            <a:avLst>
              <a:gd name="adj" fmla="val 21429"/>
            </a:avLst>
          </a:prstGeom>
          <a:solidFill>
            <a:srgbClr val="6A2BD9"/>
          </a:solidFill>
          <a:ln w="12700">
            <a:solidFill>
              <a:srgbClr val="6A2BD9"/>
            </a:solidFill>
            <a:prstDash val="solid"/>
          </a:ln>
        </p:spPr>
      </p:sp>
      <p:pic>
        <p:nvPicPr>
          <p:cNvPr id="28" name="Image 6" descr="preencoded.png">    </p:cNvPr>
          <p:cNvPicPr>
            <a:picLocks noChangeAspect="1"/>
          </p:cNvPicPr>
          <p:nvPr/>
        </p:nvPicPr>
        <p:blipFill>
          <a:blip r:embed="rId7"/>
          <a:stretch>
            <a:fillRect/>
          </a:stretch>
        </p:blipFill>
        <p:spPr>
          <a:xfrm>
            <a:off x="1080821" y="5332781"/>
            <a:ext cx="307238" cy="307238"/>
          </a:xfrm>
          <a:prstGeom prst="rect">
            <a:avLst/>
          </a:prstGeom>
        </p:spPr>
      </p:pic>
      <p:sp>
        <p:nvSpPr>
          <p:cNvPr id="29" name="Text 20"/>
          <p:cNvSpPr txBox="1"/>
          <p:nvPr/>
        </p:nvSpPr>
        <p:spPr>
          <a:xfrm>
            <a:off x="1691640" y="5257800"/>
            <a:ext cx="1371600" cy="457200"/>
          </a:xfrm>
          <a:prstGeom prst="rect">
            <a:avLst/>
          </a:prstGeom>
          <a:noFill/>
          <a:ln/>
        </p:spPr>
        <p:txBody>
          <a:bodyPr wrap="square" lIns="0" tIns="0" rIns="0" bIns="0" rtlCol="0" anchor="ctr"/>
          <a:lstStyle/>
          <a:p>
            <a:pPr indent="0" marL="0">
              <a:buNone/>
            </a:pPr>
            <a:r>
              <a:rPr lang="en-US" sz="1700" b="1" dirty="0">
                <a:solidFill>
                  <a:srgbClr val="1E0B4B"/>
                </a:solidFill>
                <a:latin typeface="Calibri" pitchFamily="34" charset="0"/>
                <a:ea typeface="Calibri" pitchFamily="34" charset="-122"/>
                <a:cs typeface="Calibri" pitchFamily="34" charset="-120"/>
              </a:rPr>
              <a:t>Numéro</a:t>
            </a:r>
            <a:endParaRPr lang="en-US" sz="1700" dirty="0"/>
          </a:p>
        </p:txBody>
      </p:sp>
      <p:sp>
        <p:nvSpPr>
          <p:cNvPr id="30" name="Text 21"/>
          <p:cNvSpPr txBox="1"/>
          <p:nvPr/>
        </p:nvSpPr>
        <p:spPr>
          <a:xfrm>
            <a:off x="2880360" y="5166360"/>
            <a:ext cx="548640" cy="640080"/>
          </a:xfrm>
          <a:prstGeom prst="rect">
            <a:avLst/>
          </a:prstGeom>
          <a:noFill/>
          <a:ln/>
        </p:spPr>
        <p:txBody>
          <a:bodyPr wrap="square" lIns="0" tIns="0" rIns="0" bIns="0" rtlCol="0" anchor="ctr"/>
          <a:lstStyle/>
          <a:p>
            <a:pPr algn="ctr" indent="0" marL="0">
              <a:buNone/>
            </a:pPr>
            <a:r>
              <a:rPr lang="en-US" sz="2400" dirty="0">
                <a:solidFill>
                  <a:srgbClr val="F28C28"/>
                </a:solidFill>
                <a:latin typeface="Calibri" pitchFamily="34" charset="0"/>
                <a:ea typeface="Calibri" pitchFamily="34" charset="-122"/>
                <a:cs typeface="Calibri" pitchFamily="34" charset="-120"/>
              </a:rPr>
              <a:t>→</a:t>
            </a:r>
            <a:endParaRPr lang="en-US" sz="2400" dirty="0"/>
          </a:p>
        </p:txBody>
      </p:sp>
      <p:sp>
        <p:nvSpPr>
          <p:cNvPr id="31" name="Shape 22"/>
          <p:cNvSpPr/>
          <p:nvPr/>
        </p:nvSpPr>
        <p:spPr>
          <a:xfrm>
            <a:off x="3520440" y="5166360"/>
            <a:ext cx="640080" cy="640080"/>
          </a:xfrm>
          <a:prstGeom prst="roundRect">
            <a:avLst>
              <a:gd name="adj" fmla="val 21429"/>
            </a:avLst>
          </a:prstGeom>
          <a:solidFill>
            <a:srgbClr val="6A2BD9"/>
          </a:solidFill>
          <a:ln w="12700">
            <a:solidFill>
              <a:srgbClr val="6A2BD9"/>
            </a:solidFill>
            <a:prstDash val="solid"/>
          </a:ln>
        </p:spPr>
      </p:sp>
      <p:pic>
        <p:nvPicPr>
          <p:cNvPr id="32" name="Image 7" descr="preencoded.png">    </p:cNvPr>
          <p:cNvPicPr>
            <a:picLocks noChangeAspect="1"/>
          </p:cNvPicPr>
          <p:nvPr/>
        </p:nvPicPr>
        <p:blipFill>
          <a:blip r:embed="rId8"/>
          <a:stretch>
            <a:fillRect/>
          </a:stretch>
        </p:blipFill>
        <p:spPr>
          <a:xfrm>
            <a:off x="3686861" y="5332781"/>
            <a:ext cx="307238" cy="307238"/>
          </a:xfrm>
          <a:prstGeom prst="rect">
            <a:avLst/>
          </a:prstGeom>
        </p:spPr>
      </p:pic>
      <p:sp>
        <p:nvSpPr>
          <p:cNvPr id="33" name="Text 23"/>
          <p:cNvSpPr txBox="1"/>
          <p:nvPr/>
        </p:nvSpPr>
        <p:spPr>
          <a:xfrm>
            <a:off x="4297680" y="5257800"/>
            <a:ext cx="1371600" cy="457200"/>
          </a:xfrm>
          <a:prstGeom prst="rect">
            <a:avLst/>
          </a:prstGeom>
          <a:noFill/>
          <a:ln/>
        </p:spPr>
        <p:txBody>
          <a:bodyPr wrap="square" lIns="0" tIns="0" rIns="0" bIns="0" rtlCol="0" anchor="ctr"/>
          <a:lstStyle/>
          <a:p>
            <a:pPr indent="0" marL="0">
              <a:buNone/>
            </a:pPr>
            <a:r>
              <a:rPr lang="en-US" sz="1700" b="1" dirty="0">
                <a:solidFill>
                  <a:srgbClr val="1E0B4B"/>
                </a:solidFill>
                <a:latin typeface="Calibri" pitchFamily="34" charset="0"/>
                <a:ea typeface="Calibri" pitchFamily="34" charset="-122"/>
                <a:cs typeface="Calibri" pitchFamily="34" charset="-120"/>
              </a:rPr>
              <a:t>Caméra</a:t>
            </a:r>
            <a:endParaRPr lang="en-US" sz="1700" dirty="0"/>
          </a:p>
        </p:txBody>
      </p:sp>
      <p:sp>
        <p:nvSpPr>
          <p:cNvPr id="34" name="Text 24"/>
          <p:cNvSpPr txBox="1"/>
          <p:nvPr/>
        </p:nvSpPr>
        <p:spPr>
          <a:xfrm>
            <a:off x="5486400" y="5166360"/>
            <a:ext cx="548640" cy="640080"/>
          </a:xfrm>
          <a:prstGeom prst="rect">
            <a:avLst/>
          </a:prstGeom>
          <a:noFill/>
          <a:ln/>
        </p:spPr>
        <p:txBody>
          <a:bodyPr wrap="square" lIns="0" tIns="0" rIns="0" bIns="0" rtlCol="0" anchor="ctr"/>
          <a:lstStyle/>
          <a:p>
            <a:pPr algn="ctr" indent="0" marL="0">
              <a:buNone/>
            </a:pPr>
            <a:r>
              <a:rPr lang="en-US" sz="2400" dirty="0">
                <a:solidFill>
                  <a:srgbClr val="F28C28"/>
                </a:solidFill>
                <a:latin typeface="Calibri" pitchFamily="34" charset="0"/>
                <a:ea typeface="Calibri" pitchFamily="34" charset="-122"/>
                <a:cs typeface="Calibri" pitchFamily="34" charset="-120"/>
              </a:rPr>
              <a:t>→</a:t>
            </a:r>
            <a:endParaRPr lang="en-US" sz="2400" dirty="0"/>
          </a:p>
        </p:txBody>
      </p:sp>
      <p:sp>
        <p:nvSpPr>
          <p:cNvPr id="35" name="Shape 25"/>
          <p:cNvSpPr/>
          <p:nvPr/>
        </p:nvSpPr>
        <p:spPr>
          <a:xfrm>
            <a:off x="6126480" y="5166360"/>
            <a:ext cx="640080" cy="640080"/>
          </a:xfrm>
          <a:prstGeom prst="roundRect">
            <a:avLst>
              <a:gd name="adj" fmla="val 21429"/>
            </a:avLst>
          </a:prstGeom>
          <a:solidFill>
            <a:srgbClr val="2EA35A"/>
          </a:solidFill>
          <a:ln w="12700">
            <a:solidFill>
              <a:srgbClr val="2EA35A"/>
            </a:solidFill>
            <a:prstDash val="solid"/>
          </a:ln>
        </p:spPr>
      </p:sp>
      <p:pic>
        <p:nvPicPr>
          <p:cNvPr id="36" name="Image 8" descr="preencoded.png">    </p:cNvPr>
          <p:cNvPicPr>
            <a:picLocks noChangeAspect="1"/>
          </p:cNvPicPr>
          <p:nvPr/>
        </p:nvPicPr>
        <p:blipFill>
          <a:blip r:embed="rId9"/>
          <a:stretch>
            <a:fillRect/>
          </a:stretch>
        </p:blipFill>
        <p:spPr>
          <a:xfrm>
            <a:off x="6292901" y="5332781"/>
            <a:ext cx="307238" cy="307238"/>
          </a:xfrm>
          <a:prstGeom prst="rect">
            <a:avLst/>
          </a:prstGeom>
        </p:spPr>
      </p:pic>
      <p:sp>
        <p:nvSpPr>
          <p:cNvPr id="37" name="Text 26"/>
          <p:cNvSpPr txBox="1"/>
          <p:nvPr/>
        </p:nvSpPr>
        <p:spPr>
          <a:xfrm>
            <a:off x="6903720" y="5257800"/>
            <a:ext cx="1371600" cy="457200"/>
          </a:xfrm>
          <a:prstGeom prst="rect">
            <a:avLst/>
          </a:prstGeom>
          <a:noFill/>
          <a:ln/>
        </p:spPr>
        <p:txBody>
          <a:bodyPr wrap="square" lIns="0" tIns="0" rIns="0" bIns="0" rtlCol="0" anchor="ctr"/>
          <a:lstStyle/>
          <a:p>
            <a:pPr indent="0" marL="0">
              <a:buNone/>
            </a:pPr>
            <a:r>
              <a:rPr lang="en-US" sz="1700" b="1" dirty="0">
                <a:solidFill>
                  <a:srgbClr val="1E0B4B"/>
                </a:solidFill>
                <a:latin typeface="Calibri" pitchFamily="34" charset="0"/>
                <a:ea typeface="Calibri" pitchFamily="34" charset="-122"/>
                <a:cs typeface="Calibri" pitchFamily="34" charset="-120"/>
              </a:rPr>
              <a:t>Terminé</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Une couche de vérification au-dessus du SI CNASS</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737360"/>
            <a:ext cx="3200400" cy="1371600"/>
          </a:xfrm>
          <a:prstGeom prst="roundRect">
            <a:avLst>
              <a:gd name="adj" fmla="val 8000"/>
            </a:avLst>
          </a:prstGeom>
          <a:solidFill>
            <a:srgbClr val="6A2BD9"/>
          </a:solidFill>
          <a:ln w="12700">
            <a:solidFill>
              <a:srgbClr val="6A2BD9"/>
            </a:solidFill>
            <a:prstDash val="solid"/>
          </a:ln>
          <a:effectLst>
            <a:outerShdw sx="100000" sy="100000" kx="0" ky="0" algn="bl" rotWithShape="0" blurRad="127000" dist="38100" dir="5400000">
              <a:srgbClr val="1E0B4B">
                <a:alpha val="18000"/>
              </a:srgbClr>
            </a:outerShdw>
          </a:effectLst>
        </p:spPr>
      </p:sp>
      <p:sp>
        <p:nvSpPr>
          <p:cNvPr id="7" name="Shape 5"/>
          <p:cNvSpPr/>
          <p:nvPr/>
        </p:nvSpPr>
        <p:spPr>
          <a:xfrm>
            <a:off x="777240" y="1965960"/>
            <a:ext cx="548640" cy="548640"/>
          </a:xfrm>
          <a:prstGeom prst="roundRect">
            <a:avLst>
              <a:gd name="adj" fmla="val 25000"/>
            </a:avLst>
          </a:prstGeom>
          <a:solidFill>
            <a:srgbClr val="1E0B4B"/>
          </a:solidFill>
          <a:ln w="12700">
            <a:solidFill>
              <a:srgbClr val="1E0B4B"/>
            </a:solidFill>
            <a:prstDash val="solid"/>
          </a:ln>
        </p:spPr>
      </p:sp>
      <p:pic>
        <p:nvPicPr>
          <p:cNvPr id="8" name="Image 0" descr="preencoded.png">    </p:cNvPr>
          <p:cNvPicPr>
            <a:picLocks noChangeAspect="1"/>
          </p:cNvPicPr>
          <p:nvPr/>
        </p:nvPicPr>
        <p:blipFill>
          <a:blip r:embed="rId1"/>
          <a:stretch>
            <a:fillRect/>
          </a:stretch>
        </p:blipFill>
        <p:spPr>
          <a:xfrm>
            <a:off x="919886" y="2108606"/>
            <a:ext cx="263347" cy="263347"/>
          </a:xfrm>
          <a:prstGeom prst="rect">
            <a:avLst/>
          </a:prstGeom>
        </p:spPr>
      </p:pic>
      <p:sp>
        <p:nvSpPr>
          <p:cNvPr id="9" name="Text 6"/>
          <p:cNvSpPr txBox="1"/>
          <p:nvPr/>
        </p:nvSpPr>
        <p:spPr>
          <a:xfrm>
            <a:off x="1463040" y="1938528"/>
            <a:ext cx="21488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Kiosque</a:t>
            </a:r>
            <a:endParaRPr lang="en-US" sz="1600" dirty="0"/>
          </a:p>
        </p:txBody>
      </p:sp>
      <p:sp>
        <p:nvSpPr>
          <p:cNvPr id="10" name="Text 7"/>
          <p:cNvSpPr txBox="1"/>
          <p:nvPr/>
        </p:nvSpPr>
        <p:spPr>
          <a:xfrm>
            <a:off x="1463040" y="2286000"/>
            <a:ext cx="2148840" cy="731520"/>
          </a:xfrm>
          <a:prstGeom prst="rect">
            <a:avLst/>
          </a:prstGeom>
          <a:noFill/>
          <a:ln/>
        </p:spPr>
        <p:txBody>
          <a:bodyPr wrap="square" lIns="0" tIns="0" rIns="0" bIns="0" rtlCol="0" anchor="t"/>
          <a:lstStyle/>
          <a:p>
            <a:pPr indent="0" marL="0">
              <a:buNone/>
            </a:pPr>
            <a:r>
              <a:rPr lang="en-US" sz="1200" dirty="0">
                <a:solidFill>
                  <a:srgbClr val="E6DDFD"/>
                </a:solidFill>
                <a:latin typeface="Calibri" pitchFamily="34" charset="0"/>
                <a:ea typeface="Calibri" pitchFamily="34" charset="-122"/>
                <a:cs typeface="Calibri" pitchFamily="34" charset="-120"/>
              </a:rPr>
              <a:t>Écran tactile, caméra, Jetson. Capture et affichage uniquement.</a:t>
            </a:r>
            <a:endParaRPr lang="en-US" sz="1200" dirty="0"/>
          </a:p>
        </p:txBody>
      </p:sp>
      <p:sp>
        <p:nvSpPr>
          <p:cNvPr id="11" name="Shape 8"/>
          <p:cNvSpPr/>
          <p:nvPr/>
        </p:nvSpPr>
        <p:spPr>
          <a:xfrm>
            <a:off x="4572000" y="1737360"/>
            <a:ext cx="3200400" cy="1371600"/>
          </a:xfrm>
          <a:prstGeom prst="roundRect">
            <a:avLst>
              <a:gd name="adj" fmla="val 8000"/>
            </a:avLst>
          </a:prstGeom>
          <a:solidFill>
            <a:srgbClr val="1E0B4B"/>
          </a:solidFill>
          <a:ln w="12700">
            <a:solidFill>
              <a:srgbClr val="1E0B4B"/>
            </a:solidFill>
            <a:prstDash val="solid"/>
          </a:ln>
          <a:effectLst>
            <a:outerShdw sx="100000" sy="100000" kx="0" ky="0" algn="bl" rotWithShape="0" blurRad="127000" dist="38100" dir="5400000">
              <a:srgbClr val="1E0B4B">
                <a:alpha val="18000"/>
              </a:srgbClr>
            </a:outerShdw>
          </a:effectLst>
        </p:spPr>
      </p:sp>
      <p:sp>
        <p:nvSpPr>
          <p:cNvPr id="12" name="Shape 9"/>
          <p:cNvSpPr/>
          <p:nvPr/>
        </p:nvSpPr>
        <p:spPr>
          <a:xfrm>
            <a:off x="4800600" y="1965960"/>
            <a:ext cx="548640" cy="548640"/>
          </a:xfrm>
          <a:prstGeom prst="roundRect">
            <a:avLst>
              <a:gd name="adj" fmla="val 25000"/>
            </a:avLst>
          </a:prstGeom>
          <a:solidFill>
            <a:srgbClr val="6A2BD9"/>
          </a:solidFill>
          <a:ln w="12700">
            <a:solidFill>
              <a:srgbClr val="6A2BD9"/>
            </a:solidFill>
            <a:prstDash val="solid"/>
          </a:ln>
        </p:spPr>
      </p:sp>
      <p:pic>
        <p:nvPicPr>
          <p:cNvPr id="13" name="Image 1" descr="preencoded.png">    </p:cNvPr>
          <p:cNvPicPr>
            <a:picLocks noChangeAspect="1"/>
          </p:cNvPicPr>
          <p:nvPr/>
        </p:nvPicPr>
        <p:blipFill>
          <a:blip r:embed="rId2"/>
          <a:stretch>
            <a:fillRect/>
          </a:stretch>
        </p:blipFill>
        <p:spPr>
          <a:xfrm>
            <a:off x="4943246" y="2108606"/>
            <a:ext cx="263347" cy="263347"/>
          </a:xfrm>
          <a:prstGeom prst="rect">
            <a:avLst/>
          </a:prstGeom>
        </p:spPr>
      </p:pic>
      <p:sp>
        <p:nvSpPr>
          <p:cNvPr id="14" name="Text 10"/>
          <p:cNvSpPr txBox="1"/>
          <p:nvPr/>
        </p:nvSpPr>
        <p:spPr>
          <a:xfrm>
            <a:off x="5486400" y="1938528"/>
            <a:ext cx="21488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Backend FastAPI</a:t>
            </a:r>
            <a:endParaRPr lang="en-US" sz="1600" dirty="0"/>
          </a:p>
        </p:txBody>
      </p:sp>
      <p:sp>
        <p:nvSpPr>
          <p:cNvPr id="15" name="Text 11"/>
          <p:cNvSpPr txBox="1"/>
          <p:nvPr/>
        </p:nvSpPr>
        <p:spPr>
          <a:xfrm>
            <a:off x="5486400" y="2286000"/>
            <a:ext cx="2148840" cy="731520"/>
          </a:xfrm>
          <a:prstGeom prst="rect">
            <a:avLst/>
          </a:prstGeom>
          <a:noFill/>
          <a:ln/>
        </p:spPr>
        <p:txBody>
          <a:bodyPr wrap="square" lIns="0" tIns="0" rIns="0" bIns="0" rtlCol="0" anchor="t"/>
          <a:lstStyle/>
          <a:p>
            <a:pPr indent="0" marL="0">
              <a:buNone/>
            </a:pPr>
            <a:r>
              <a:rPr lang="en-US" sz="1200" dirty="0">
                <a:solidFill>
                  <a:srgbClr val="E6DDFD"/>
                </a:solidFill>
                <a:latin typeface="Calibri" pitchFamily="34" charset="0"/>
                <a:ea typeface="Calibri" pitchFamily="34" charset="-122"/>
                <a:cs typeface="Calibri" pitchFamily="34" charset="-120"/>
              </a:rPr>
              <a:t>Orchestre la vérification et le calcul des scores.</a:t>
            </a:r>
            <a:endParaRPr lang="en-US" sz="1200" dirty="0"/>
          </a:p>
        </p:txBody>
      </p:sp>
      <p:sp>
        <p:nvSpPr>
          <p:cNvPr id="16" name="Shape 12"/>
          <p:cNvSpPr/>
          <p:nvPr/>
        </p:nvSpPr>
        <p:spPr>
          <a:xfrm>
            <a:off x="8595360" y="1737360"/>
            <a:ext cx="3044952" cy="1371600"/>
          </a:xfrm>
          <a:prstGeom prst="roundRect">
            <a:avLst>
              <a:gd name="adj" fmla="val 8000"/>
            </a:avLst>
          </a:prstGeom>
          <a:solidFill>
            <a:srgbClr val="F28C28"/>
          </a:solidFill>
          <a:ln w="12700">
            <a:solidFill>
              <a:srgbClr val="F28C28"/>
            </a:solidFill>
            <a:prstDash val="solid"/>
          </a:ln>
          <a:effectLst>
            <a:outerShdw sx="100000" sy="100000" kx="0" ky="0" algn="bl" rotWithShape="0" blurRad="127000" dist="38100" dir="5400000">
              <a:srgbClr val="1E0B4B">
                <a:alpha val="18000"/>
              </a:srgbClr>
            </a:outerShdw>
          </a:effectLst>
        </p:spPr>
      </p:sp>
      <p:sp>
        <p:nvSpPr>
          <p:cNvPr id="17" name="Shape 13"/>
          <p:cNvSpPr/>
          <p:nvPr/>
        </p:nvSpPr>
        <p:spPr>
          <a:xfrm>
            <a:off x="8823960" y="1965960"/>
            <a:ext cx="548640" cy="548640"/>
          </a:xfrm>
          <a:prstGeom prst="roundRect">
            <a:avLst>
              <a:gd name="adj" fmla="val 25000"/>
            </a:avLst>
          </a:prstGeom>
          <a:solidFill>
            <a:srgbClr val="1E0B4B"/>
          </a:solidFill>
          <a:ln w="12700">
            <a:solidFill>
              <a:srgbClr val="1E0B4B"/>
            </a:solidFill>
            <a:prstDash val="solid"/>
          </a:ln>
        </p:spPr>
      </p:sp>
      <p:pic>
        <p:nvPicPr>
          <p:cNvPr id="18" name="Image 2" descr="preencoded.png">    </p:cNvPr>
          <p:cNvPicPr>
            <a:picLocks noChangeAspect="1"/>
          </p:cNvPicPr>
          <p:nvPr/>
        </p:nvPicPr>
        <p:blipFill>
          <a:blip r:embed="rId3"/>
          <a:stretch>
            <a:fillRect/>
          </a:stretch>
        </p:blipFill>
        <p:spPr>
          <a:xfrm>
            <a:off x="8966606" y="2108606"/>
            <a:ext cx="263347" cy="263347"/>
          </a:xfrm>
          <a:prstGeom prst="rect">
            <a:avLst/>
          </a:prstGeom>
        </p:spPr>
      </p:pic>
      <p:sp>
        <p:nvSpPr>
          <p:cNvPr id="19" name="Text 14"/>
          <p:cNvSpPr txBox="1"/>
          <p:nvPr/>
        </p:nvSpPr>
        <p:spPr>
          <a:xfrm>
            <a:off x="9509760" y="1938528"/>
            <a:ext cx="1993392"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API CNASS</a:t>
            </a:r>
            <a:endParaRPr lang="en-US" sz="1600" dirty="0"/>
          </a:p>
        </p:txBody>
      </p:sp>
      <p:sp>
        <p:nvSpPr>
          <p:cNvPr id="20" name="Text 15"/>
          <p:cNvSpPr txBox="1"/>
          <p:nvPr/>
        </p:nvSpPr>
        <p:spPr>
          <a:xfrm>
            <a:off x="9509760" y="2286000"/>
            <a:ext cx="1993392" cy="731520"/>
          </a:xfrm>
          <a:prstGeom prst="rect">
            <a:avLst/>
          </a:prstGeom>
          <a:noFill/>
          <a:ln/>
        </p:spPr>
        <p:txBody>
          <a:bodyPr wrap="square" lIns="0" tIns="0" rIns="0" bIns="0" rtlCol="0" anchor="t"/>
          <a:lstStyle/>
          <a:p>
            <a:pPr indent="0" marL="0">
              <a:buNone/>
            </a:pPr>
            <a:r>
              <a:rPr lang="en-US" sz="1200" dirty="0">
                <a:solidFill>
                  <a:srgbClr val="E6DDFD"/>
                </a:solidFill>
                <a:latin typeface="Calibri" pitchFamily="34" charset="0"/>
                <a:ea typeface="Calibri" pitchFamily="34" charset="-122"/>
                <a:cs typeface="Calibri" pitchFamily="34" charset="-120"/>
              </a:rPr>
              <a:t>Identité de l'assuré, feuille de soins officielle.</a:t>
            </a:r>
            <a:endParaRPr lang="en-US" sz="1200" dirty="0"/>
          </a:p>
        </p:txBody>
      </p:sp>
      <p:sp>
        <p:nvSpPr>
          <p:cNvPr id="21" name="Shape 16"/>
          <p:cNvSpPr/>
          <p:nvPr/>
        </p:nvSpPr>
        <p:spPr>
          <a:xfrm>
            <a:off x="4572000" y="4114800"/>
            <a:ext cx="320040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38100" dir="5400000">
              <a:srgbClr val="1E0B4B">
                <a:alpha val="18000"/>
              </a:srgbClr>
            </a:outerShdw>
          </a:effectLst>
        </p:spPr>
      </p:sp>
      <p:sp>
        <p:nvSpPr>
          <p:cNvPr id="22" name="Shape 17"/>
          <p:cNvSpPr/>
          <p:nvPr/>
        </p:nvSpPr>
        <p:spPr>
          <a:xfrm>
            <a:off x="4800600" y="4343400"/>
            <a:ext cx="548640" cy="548640"/>
          </a:xfrm>
          <a:prstGeom prst="roundRect">
            <a:avLst>
              <a:gd name="adj" fmla="val 25000"/>
            </a:avLst>
          </a:prstGeom>
          <a:solidFill>
            <a:srgbClr val="6A2BD9"/>
          </a:solidFill>
          <a:ln w="12700">
            <a:solidFill>
              <a:srgbClr val="6A2BD9"/>
            </a:solidFill>
            <a:prstDash val="solid"/>
          </a:ln>
        </p:spPr>
      </p:sp>
      <p:pic>
        <p:nvPicPr>
          <p:cNvPr id="23" name="Image 3" descr="preencoded.png">    </p:cNvPr>
          <p:cNvPicPr>
            <a:picLocks noChangeAspect="1"/>
          </p:cNvPicPr>
          <p:nvPr/>
        </p:nvPicPr>
        <p:blipFill>
          <a:blip r:embed="rId4"/>
          <a:stretch>
            <a:fillRect/>
          </a:stretch>
        </p:blipFill>
        <p:spPr>
          <a:xfrm>
            <a:off x="4943246" y="4486046"/>
            <a:ext cx="263347" cy="263347"/>
          </a:xfrm>
          <a:prstGeom prst="rect">
            <a:avLst/>
          </a:prstGeom>
        </p:spPr>
      </p:pic>
      <p:sp>
        <p:nvSpPr>
          <p:cNvPr id="24" name="Text 18"/>
          <p:cNvSpPr txBox="1"/>
          <p:nvPr/>
        </p:nvSpPr>
        <p:spPr>
          <a:xfrm>
            <a:off x="5486400" y="4315968"/>
            <a:ext cx="2148840" cy="365760"/>
          </a:xfrm>
          <a:prstGeom prst="rect">
            <a:avLst/>
          </a:prstGeom>
          <a:noFill/>
          <a:ln/>
        </p:spPr>
        <p:txBody>
          <a:bodyPr wrap="square" lIns="0" tIns="0" rIns="0" bIns="0" rtlCol="0" anchor="ctr"/>
          <a:lstStyle/>
          <a:p>
            <a:pPr indent="0" marL="0">
              <a:buNone/>
            </a:pPr>
            <a:r>
              <a:rPr lang="en-US" sz="1600" b="1" dirty="0">
                <a:solidFill>
                  <a:srgbClr val="1F1A2E"/>
                </a:solidFill>
                <a:latin typeface="Calibri" pitchFamily="34" charset="0"/>
                <a:ea typeface="Calibri" pitchFamily="34" charset="-122"/>
                <a:cs typeface="Calibri" pitchFamily="34" charset="-120"/>
              </a:rPr>
              <a:t>Base d'empreintes</a:t>
            </a:r>
            <a:endParaRPr lang="en-US" sz="1600" dirty="0"/>
          </a:p>
        </p:txBody>
      </p:sp>
      <p:sp>
        <p:nvSpPr>
          <p:cNvPr id="25" name="Text 19"/>
          <p:cNvSpPr txBox="1"/>
          <p:nvPr/>
        </p:nvSpPr>
        <p:spPr>
          <a:xfrm>
            <a:off x="5486400" y="4663440"/>
            <a:ext cx="2148840" cy="731520"/>
          </a:xfrm>
          <a:prstGeom prst="rect">
            <a:avLst/>
          </a:prstGeom>
          <a:noFill/>
          <a:ln/>
        </p:spPr>
        <p:txBody>
          <a:bodyPr wrap="square" lIns="0" tIns="0" rIns="0" bIns="0" rtlCol="0" anchor="t"/>
          <a:lstStyle/>
          <a:p>
            <a:pPr indent="0" marL="0">
              <a:buNone/>
            </a:pPr>
            <a:r>
              <a:rPr lang="en-US" sz="1200" dirty="0">
                <a:solidFill>
                  <a:srgbClr val="6B6780"/>
                </a:solidFill>
                <a:latin typeface="Calibri" pitchFamily="34" charset="0"/>
                <a:ea typeface="Calibri" pitchFamily="34" charset="-122"/>
                <a:cs typeface="Calibri" pitchFamily="34" charset="-120"/>
              </a:rPr>
              <a:t>PostgreSQL : vecteurs 512D indexés par matricule.</a:t>
            </a:r>
            <a:endParaRPr lang="en-US" sz="1200" dirty="0"/>
          </a:p>
        </p:txBody>
      </p:sp>
      <p:sp>
        <p:nvSpPr>
          <p:cNvPr id="26" name="Shape 20"/>
          <p:cNvSpPr/>
          <p:nvPr/>
        </p:nvSpPr>
        <p:spPr>
          <a:xfrm>
            <a:off x="8595360" y="4114800"/>
            <a:ext cx="3044952"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38100" dir="5400000">
              <a:srgbClr val="1E0B4B">
                <a:alpha val="18000"/>
              </a:srgbClr>
            </a:outerShdw>
          </a:effectLst>
        </p:spPr>
      </p:sp>
      <p:sp>
        <p:nvSpPr>
          <p:cNvPr id="27" name="Shape 21"/>
          <p:cNvSpPr/>
          <p:nvPr/>
        </p:nvSpPr>
        <p:spPr>
          <a:xfrm>
            <a:off x="8823960" y="4343400"/>
            <a:ext cx="548640" cy="548640"/>
          </a:xfrm>
          <a:prstGeom prst="roundRect">
            <a:avLst>
              <a:gd name="adj" fmla="val 25000"/>
            </a:avLst>
          </a:prstGeom>
          <a:solidFill>
            <a:srgbClr val="6A2BD9"/>
          </a:solidFill>
          <a:ln w="12700">
            <a:solidFill>
              <a:srgbClr val="6A2BD9"/>
            </a:solidFill>
            <a:prstDash val="solid"/>
          </a:ln>
        </p:spPr>
      </p:sp>
      <p:pic>
        <p:nvPicPr>
          <p:cNvPr id="28" name="Image 4" descr="preencoded.png">    </p:cNvPr>
          <p:cNvPicPr>
            <a:picLocks noChangeAspect="1"/>
          </p:cNvPicPr>
          <p:nvPr/>
        </p:nvPicPr>
        <p:blipFill>
          <a:blip r:embed="rId5"/>
          <a:stretch>
            <a:fillRect/>
          </a:stretch>
        </p:blipFill>
        <p:spPr>
          <a:xfrm>
            <a:off x="8966606" y="4486046"/>
            <a:ext cx="263347" cy="263347"/>
          </a:xfrm>
          <a:prstGeom prst="rect">
            <a:avLst/>
          </a:prstGeom>
        </p:spPr>
      </p:pic>
      <p:sp>
        <p:nvSpPr>
          <p:cNvPr id="29" name="Text 22"/>
          <p:cNvSpPr txBox="1"/>
          <p:nvPr/>
        </p:nvSpPr>
        <p:spPr>
          <a:xfrm>
            <a:off x="9509760" y="4315968"/>
            <a:ext cx="1993392" cy="365760"/>
          </a:xfrm>
          <a:prstGeom prst="rect">
            <a:avLst/>
          </a:prstGeom>
          <a:noFill/>
          <a:ln/>
        </p:spPr>
        <p:txBody>
          <a:bodyPr wrap="square" lIns="0" tIns="0" rIns="0" bIns="0" rtlCol="0" anchor="ctr"/>
          <a:lstStyle/>
          <a:p>
            <a:pPr indent="0" marL="0">
              <a:buNone/>
            </a:pPr>
            <a:r>
              <a:rPr lang="en-US" sz="1600" b="1" dirty="0">
                <a:solidFill>
                  <a:srgbClr val="1F1A2E"/>
                </a:solidFill>
                <a:latin typeface="Calibri" pitchFamily="34" charset="0"/>
                <a:ea typeface="Calibri" pitchFamily="34" charset="-122"/>
                <a:cs typeface="Calibri" pitchFamily="34" charset="-120"/>
              </a:rPr>
              <a:t>Enrôlement auto.</a:t>
            </a:r>
            <a:endParaRPr lang="en-US" sz="1600" dirty="0"/>
          </a:p>
        </p:txBody>
      </p:sp>
      <p:sp>
        <p:nvSpPr>
          <p:cNvPr id="30" name="Text 23"/>
          <p:cNvSpPr txBox="1"/>
          <p:nvPr/>
        </p:nvSpPr>
        <p:spPr>
          <a:xfrm>
            <a:off x="9509760" y="4663440"/>
            <a:ext cx="1993392" cy="731520"/>
          </a:xfrm>
          <a:prstGeom prst="rect">
            <a:avLst/>
          </a:prstGeom>
          <a:noFill/>
          <a:ln/>
        </p:spPr>
        <p:txBody>
          <a:bodyPr wrap="square" lIns="0" tIns="0" rIns="0" bIns="0" rtlCol="0" anchor="t"/>
          <a:lstStyle/>
          <a:p>
            <a:pPr indent="0" marL="0">
              <a:buNone/>
            </a:pPr>
            <a:r>
              <a:rPr lang="en-US" sz="1200" dirty="0">
                <a:solidFill>
                  <a:srgbClr val="6B6780"/>
                </a:solidFill>
                <a:latin typeface="Calibri" pitchFamily="34" charset="0"/>
                <a:ea typeface="Calibri" pitchFamily="34" charset="-122"/>
                <a:cs typeface="Calibri" pitchFamily="34" charset="-120"/>
              </a:rPr>
              <a:t>Tâche planifiée : nouvelles fiches → empreintes.</a:t>
            </a:r>
            <a:endParaRPr lang="en-US" sz="1200" dirty="0"/>
          </a:p>
        </p:txBody>
      </p:sp>
      <p:sp>
        <p:nvSpPr>
          <p:cNvPr id="31" name="Shape 24"/>
          <p:cNvSpPr/>
          <p:nvPr/>
        </p:nvSpPr>
        <p:spPr>
          <a:xfrm>
            <a:off x="3794760" y="2423160"/>
            <a:ext cx="731520" cy="0"/>
          </a:xfrm>
          <a:prstGeom prst="line">
            <a:avLst/>
          </a:prstGeom>
          <a:noFill/>
          <a:ln w="25400">
            <a:solidFill>
              <a:srgbClr val="8B5CF6"/>
            </a:solidFill>
            <a:prstDash val="solid"/>
            <a:tailEnd type="triangle"/>
          </a:ln>
        </p:spPr>
      </p:sp>
      <p:sp>
        <p:nvSpPr>
          <p:cNvPr id="32" name="Text 25"/>
          <p:cNvSpPr txBox="1"/>
          <p:nvPr/>
        </p:nvSpPr>
        <p:spPr>
          <a:xfrm>
            <a:off x="3429000" y="2103120"/>
            <a:ext cx="1463040" cy="274320"/>
          </a:xfrm>
          <a:prstGeom prst="rect">
            <a:avLst/>
          </a:prstGeom>
          <a:noFill/>
          <a:ln/>
        </p:spPr>
        <p:txBody>
          <a:bodyPr wrap="square" lIns="0" tIns="0" rIns="0" bIns="0" rtlCol="0" anchor="ctr"/>
          <a:lstStyle/>
          <a:p>
            <a:pPr algn="ctr" indent="0" marL="0">
              <a:buNone/>
            </a:pPr>
            <a:r>
              <a:rPr lang="en-US" sz="1100" i="1" dirty="0">
                <a:solidFill>
                  <a:srgbClr val="6B6780"/>
                </a:solidFill>
                <a:latin typeface="Calibri" pitchFamily="34" charset="0"/>
                <a:ea typeface="Calibri" pitchFamily="34" charset="-122"/>
                <a:cs typeface="Calibri" pitchFamily="34" charset="-120"/>
              </a:rPr>
              <a:t>HTTPS</a:t>
            </a:r>
            <a:endParaRPr lang="en-US" sz="1100" dirty="0"/>
          </a:p>
        </p:txBody>
      </p:sp>
      <p:sp>
        <p:nvSpPr>
          <p:cNvPr id="33" name="Shape 26"/>
          <p:cNvSpPr/>
          <p:nvPr/>
        </p:nvSpPr>
        <p:spPr>
          <a:xfrm>
            <a:off x="7818120" y="2423160"/>
            <a:ext cx="731520" cy="0"/>
          </a:xfrm>
          <a:prstGeom prst="line">
            <a:avLst/>
          </a:prstGeom>
          <a:noFill/>
          <a:ln w="25400">
            <a:solidFill>
              <a:srgbClr val="8B5CF6"/>
            </a:solidFill>
            <a:prstDash val="solid"/>
            <a:tailEnd type="triangle"/>
          </a:ln>
        </p:spPr>
      </p:sp>
      <p:sp>
        <p:nvSpPr>
          <p:cNvPr id="34" name="Text 27"/>
          <p:cNvSpPr txBox="1"/>
          <p:nvPr/>
        </p:nvSpPr>
        <p:spPr>
          <a:xfrm>
            <a:off x="7452360" y="2103120"/>
            <a:ext cx="1463040" cy="274320"/>
          </a:xfrm>
          <a:prstGeom prst="rect">
            <a:avLst/>
          </a:prstGeom>
          <a:noFill/>
          <a:ln/>
        </p:spPr>
        <p:txBody>
          <a:bodyPr wrap="square" lIns="0" tIns="0" rIns="0" bIns="0" rtlCol="0" anchor="ctr"/>
          <a:lstStyle/>
          <a:p>
            <a:pPr algn="ctr" indent="0" marL="0">
              <a:buNone/>
            </a:pPr>
            <a:r>
              <a:rPr lang="en-US" sz="1100" i="1" dirty="0">
                <a:solidFill>
                  <a:srgbClr val="6B6780"/>
                </a:solidFill>
                <a:latin typeface="Calibri" pitchFamily="34" charset="0"/>
                <a:ea typeface="Calibri" pitchFamily="34" charset="-122"/>
                <a:cs typeface="Calibri" pitchFamily="34" charset="-120"/>
              </a:rPr>
              <a:t>VPN</a:t>
            </a:r>
            <a:endParaRPr lang="en-US" sz="1100" dirty="0"/>
          </a:p>
        </p:txBody>
      </p:sp>
      <p:sp>
        <p:nvSpPr>
          <p:cNvPr id="35" name="Shape 28"/>
          <p:cNvSpPr/>
          <p:nvPr/>
        </p:nvSpPr>
        <p:spPr>
          <a:xfrm>
            <a:off x="6172200" y="3154680"/>
            <a:ext cx="0" cy="914400"/>
          </a:xfrm>
          <a:prstGeom prst="line">
            <a:avLst/>
          </a:prstGeom>
          <a:noFill/>
          <a:ln w="25400">
            <a:solidFill>
              <a:srgbClr val="8B5CF6"/>
            </a:solidFill>
            <a:prstDash val="solid"/>
            <a:tailEnd type="triangle"/>
          </a:ln>
        </p:spPr>
      </p:sp>
      <p:sp>
        <p:nvSpPr>
          <p:cNvPr id="36" name="Text 29"/>
          <p:cNvSpPr txBox="1"/>
          <p:nvPr/>
        </p:nvSpPr>
        <p:spPr>
          <a:xfrm>
            <a:off x="6263640" y="3474720"/>
            <a:ext cx="1463040" cy="274320"/>
          </a:xfrm>
          <a:prstGeom prst="rect">
            <a:avLst/>
          </a:prstGeom>
          <a:noFill/>
          <a:ln/>
        </p:spPr>
        <p:txBody>
          <a:bodyPr wrap="square" lIns="0" tIns="0" rIns="0" bIns="0" rtlCol="0" anchor="ctr"/>
          <a:lstStyle/>
          <a:p>
            <a:pPr algn="ctr" indent="0" marL="0">
              <a:buNone/>
            </a:pPr>
            <a:r>
              <a:rPr lang="en-US" sz="1100" i="1" dirty="0">
                <a:solidFill>
                  <a:srgbClr val="6B6780"/>
                </a:solidFill>
                <a:latin typeface="Calibri" pitchFamily="34" charset="0"/>
                <a:ea typeface="Calibri" pitchFamily="34" charset="-122"/>
                <a:cs typeface="Calibri" pitchFamily="34" charset="-120"/>
              </a:rPr>
              <a:t>empreinte</a:t>
            </a:r>
            <a:endParaRPr lang="en-US" sz="1100" dirty="0"/>
          </a:p>
        </p:txBody>
      </p:sp>
      <p:sp>
        <p:nvSpPr>
          <p:cNvPr id="37" name="Shape 30"/>
          <p:cNvSpPr/>
          <p:nvPr/>
        </p:nvSpPr>
        <p:spPr>
          <a:xfrm>
            <a:off x="10104120" y="3154680"/>
            <a:ext cx="0" cy="914400"/>
          </a:xfrm>
          <a:prstGeom prst="line">
            <a:avLst/>
          </a:prstGeom>
          <a:noFill/>
          <a:ln w="25400">
            <a:solidFill>
              <a:srgbClr val="8B5CF6"/>
            </a:solidFill>
            <a:prstDash val="solid"/>
            <a:tailEnd type="triangle"/>
          </a:ln>
        </p:spPr>
      </p:sp>
      <p:sp>
        <p:nvSpPr>
          <p:cNvPr id="38" name="Text 31"/>
          <p:cNvSpPr txBox="1"/>
          <p:nvPr/>
        </p:nvSpPr>
        <p:spPr>
          <a:xfrm>
            <a:off x="10195560" y="3474720"/>
            <a:ext cx="1463040" cy="274320"/>
          </a:xfrm>
          <a:prstGeom prst="rect">
            <a:avLst/>
          </a:prstGeom>
          <a:noFill/>
          <a:ln/>
        </p:spPr>
        <p:txBody>
          <a:bodyPr wrap="square" lIns="0" tIns="0" rIns="0" bIns="0" rtlCol="0" anchor="ctr"/>
          <a:lstStyle/>
          <a:p>
            <a:pPr algn="ctr" indent="0" marL="0">
              <a:buNone/>
            </a:pPr>
            <a:r>
              <a:rPr lang="en-US" sz="1100" i="1" dirty="0">
                <a:solidFill>
                  <a:srgbClr val="6B6780"/>
                </a:solidFill>
                <a:latin typeface="Calibri" pitchFamily="34" charset="0"/>
                <a:ea typeface="Calibri" pitchFamily="34" charset="-122"/>
                <a:cs typeface="Calibri" pitchFamily="34" charset="-120"/>
              </a:rPr>
              <a:t>photo fiche</a:t>
            </a:r>
            <a:endParaRPr lang="en-US" sz="1100" dirty="0"/>
          </a:p>
        </p:txBody>
      </p:sp>
      <p:sp>
        <p:nvSpPr>
          <p:cNvPr id="39" name="Shape 32"/>
          <p:cNvSpPr/>
          <p:nvPr/>
        </p:nvSpPr>
        <p:spPr>
          <a:xfrm>
            <a:off x="8549640" y="4800600"/>
            <a:ext cx="-731520" cy="0"/>
          </a:xfrm>
          <a:prstGeom prst="line">
            <a:avLst/>
          </a:prstGeom>
          <a:noFill/>
          <a:ln w="25400">
            <a:solidFill>
              <a:srgbClr val="8B5CF6"/>
            </a:solidFill>
            <a:prstDash val="solid"/>
            <a:tailEnd type="triangle"/>
          </a:ln>
        </p:spPr>
      </p:sp>
      <p:sp>
        <p:nvSpPr>
          <p:cNvPr id="40" name="Shape 33"/>
          <p:cNvSpPr/>
          <p:nvPr/>
        </p:nvSpPr>
        <p:spPr>
          <a:xfrm>
            <a:off x="548640" y="4114800"/>
            <a:ext cx="3200400" cy="1371600"/>
          </a:xfrm>
          <a:prstGeom prst="roundRect">
            <a:avLst>
              <a:gd name="adj" fmla="val 8000"/>
            </a:avLst>
          </a:prstGeom>
          <a:solidFill>
            <a:srgbClr val="F3EEFE"/>
          </a:solidFill>
          <a:ln w="12700">
            <a:solidFill>
              <a:srgbClr val="E4DCF7"/>
            </a:solidFill>
            <a:prstDash val="solid"/>
          </a:ln>
        </p:spPr>
      </p:sp>
      <p:sp>
        <p:nvSpPr>
          <p:cNvPr id="41" name="Text 34"/>
          <p:cNvSpPr txBox="1"/>
          <p:nvPr/>
        </p:nvSpPr>
        <p:spPr>
          <a:xfrm>
            <a:off x="777240" y="4251960"/>
            <a:ext cx="2788920" cy="1143000"/>
          </a:xfrm>
          <a:prstGeom prst="rect">
            <a:avLst/>
          </a:prstGeom>
          <a:noFill/>
          <a:ln/>
        </p:spPr>
        <p:txBody>
          <a:bodyPr wrap="square" lIns="0" tIns="0" rIns="0" bIns="0" rtlCol="0" anchor="t"/>
          <a:lstStyle/>
          <a:p>
            <a:pPr indent="0" marL="0">
              <a:buNone/>
            </a:pPr>
            <a:r>
              <a:rPr lang="en-US" sz="1300" b="1" dirty="0">
                <a:solidFill>
                  <a:srgbClr val="6A2BD9"/>
                </a:solidFill>
                <a:latin typeface="Calibri" pitchFamily="34" charset="0"/>
                <a:ea typeface="Calibri" pitchFamily="34" charset="-122"/>
                <a:cs typeface="Calibri" pitchFamily="34" charset="-120"/>
              </a:rPr>
              <a:t>Principe clé</a:t>
            </a:r>
            <a:endParaRPr lang="en-US" sz="1300" dirty="0"/>
          </a:p>
          <a:p>
            <a:pPr indent="0" marL="0">
              <a:buNone/>
            </a:pPr>
            <a:r>
              <a:rPr lang="en-US" sz="1300" dirty="0">
                <a:solidFill>
                  <a:srgbClr val="1F1A2E"/>
                </a:solidFill>
                <a:latin typeface="Calibri" pitchFamily="34" charset="0"/>
                <a:ea typeface="Calibri" pitchFamily="34" charset="-122"/>
                <a:cs typeface="Calibri" pitchFamily="34" charset="-120"/>
              </a:rPr>
              <a:t>L'identité reste chez la CNASS, source unique de vérité. Aucune copie de votre base.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STRUCTURE DE L'APPLICATION</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Quatre couches, des responsabilités claires</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554480"/>
            <a:ext cx="2743200" cy="1005840"/>
          </a:xfrm>
          <a:prstGeom prst="roundRect">
            <a:avLst>
              <a:gd name="adj" fmla="val 10909"/>
            </a:avLst>
          </a:prstGeom>
          <a:solidFill>
            <a:srgbClr val="6A2BD9"/>
          </a:solidFill>
          <a:ln w="12700">
            <a:solidFill>
              <a:srgbClr val="6A2BD9"/>
            </a:solidFill>
            <a:prstDash val="solid"/>
          </a:ln>
        </p:spPr>
      </p:sp>
      <p:pic>
        <p:nvPicPr>
          <p:cNvPr id="7" name="Image 0" descr="preencoded.png">    </p:cNvPr>
          <p:cNvPicPr>
            <a:picLocks noChangeAspect="1"/>
          </p:cNvPicPr>
          <p:nvPr/>
        </p:nvPicPr>
        <p:blipFill>
          <a:blip r:embed="rId1"/>
          <a:stretch>
            <a:fillRect/>
          </a:stretch>
        </p:blipFill>
        <p:spPr>
          <a:xfrm>
            <a:off x="777240" y="1828800"/>
            <a:ext cx="457200" cy="457200"/>
          </a:xfrm>
          <a:prstGeom prst="rect">
            <a:avLst/>
          </a:prstGeom>
        </p:spPr>
      </p:pic>
      <p:sp>
        <p:nvSpPr>
          <p:cNvPr id="8" name="Text 5"/>
          <p:cNvSpPr txBox="1"/>
          <p:nvPr/>
        </p:nvSpPr>
        <p:spPr>
          <a:xfrm>
            <a:off x="1417320" y="1664208"/>
            <a:ext cx="1783080" cy="7863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Interface kiosque</a:t>
            </a:r>
            <a:endParaRPr lang="en-US" sz="1500" dirty="0"/>
          </a:p>
          <a:p>
            <a:pPr indent="0" marL="0">
              <a:buNone/>
            </a:pPr>
            <a:r>
              <a:rPr lang="en-US" sz="1100" dirty="0">
                <a:solidFill>
                  <a:srgbClr val="FFFFFF"/>
                </a:solidFill>
                <a:latin typeface="Calibri" pitchFamily="34" charset="0"/>
                <a:ea typeface="Calibri" pitchFamily="34" charset="-122"/>
                <a:cs typeface="Calibri" pitchFamily="34" charset="-120"/>
              </a:rPr>
              <a:t>React / TypeScript</a:t>
            </a:r>
            <a:endParaRPr lang="en-US" sz="1500" dirty="0"/>
          </a:p>
        </p:txBody>
      </p:sp>
      <p:sp>
        <p:nvSpPr>
          <p:cNvPr id="9" name="Shape 6"/>
          <p:cNvSpPr/>
          <p:nvPr/>
        </p:nvSpPr>
        <p:spPr>
          <a:xfrm>
            <a:off x="3474720" y="1554480"/>
            <a:ext cx="1920240" cy="1005840"/>
          </a:xfrm>
          <a:prstGeom prst="roundRect">
            <a:avLst>
              <a:gd name="adj" fmla="val 9091"/>
            </a:avLst>
          </a:prstGeom>
          <a:solidFill>
            <a:srgbClr val="FAF8FF"/>
          </a:solidFill>
          <a:ln w="12700">
            <a:solidFill>
              <a:srgbClr val="E4DCF7"/>
            </a:solidFill>
            <a:prstDash val="solid"/>
          </a:ln>
        </p:spPr>
      </p:sp>
      <p:sp>
        <p:nvSpPr>
          <p:cNvPr id="10" name="Text 7"/>
          <p:cNvSpPr txBox="1"/>
          <p:nvPr/>
        </p:nvSpPr>
        <p:spPr>
          <a:xfrm>
            <a:off x="3611880" y="1645920"/>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Écran Numéro</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Clavier, 13 chiffres</a:t>
            </a:r>
            <a:endParaRPr lang="en-US" sz="1300" dirty="0"/>
          </a:p>
        </p:txBody>
      </p:sp>
      <p:sp>
        <p:nvSpPr>
          <p:cNvPr id="11" name="Shape 8"/>
          <p:cNvSpPr/>
          <p:nvPr/>
        </p:nvSpPr>
        <p:spPr>
          <a:xfrm>
            <a:off x="5541264" y="1554480"/>
            <a:ext cx="1920240" cy="1005840"/>
          </a:xfrm>
          <a:prstGeom prst="roundRect">
            <a:avLst>
              <a:gd name="adj" fmla="val 9091"/>
            </a:avLst>
          </a:prstGeom>
          <a:solidFill>
            <a:srgbClr val="FAF8FF"/>
          </a:solidFill>
          <a:ln w="12700">
            <a:solidFill>
              <a:srgbClr val="E4DCF7"/>
            </a:solidFill>
            <a:prstDash val="solid"/>
          </a:ln>
        </p:spPr>
      </p:sp>
      <p:sp>
        <p:nvSpPr>
          <p:cNvPr id="12" name="Text 9"/>
          <p:cNvSpPr txBox="1"/>
          <p:nvPr/>
        </p:nvSpPr>
        <p:spPr>
          <a:xfrm>
            <a:off x="5678424" y="1645920"/>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Écran Caméra</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Cadrage, compte à rebours</a:t>
            </a:r>
            <a:endParaRPr lang="en-US" sz="1300" dirty="0"/>
          </a:p>
        </p:txBody>
      </p:sp>
      <p:sp>
        <p:nvSpPr>
          <p:cNvPr id="13" name="Shape 10"/>
          <p:cNvSpPr/>
          <p:nvPr/>
        </p:nvSpPr>
        <p:spPr>
          <a:xfrm>
            <a:off x="7607808" y="1554480"/>
            <a:ext cx="1920240" cy="1005840"/>
          </a:xfrm>
          <a:prstGeom prst="roundRect">
            <a:avLst>
              <a:gd name="adj" fmla="val 9091"/>
            </a:avLst>
          </a:prstGeom>
          <a:solidFill>
            <a:srgbClr val="FAF8FF"/>
          </a:solidFill>
          <a:ln w="12700">
            <a:solidFill>
              <a:srgbClr val="E4DCF7"/>
            </a:solidFill>
            <a:prstDash val="solid"/>
          </a:ln>
        </p:spPr>
      </p:sp>
      <p:sp>
        <p:nvSpPr>
          <p:cNvPr id="14" name="Text 11"/>
          <p:cNvSpPr txBox="1"/>
          <p:nvPr/>
        </p:nvSpPr>
        <p:spPr>
          <a:xfrm>
            <a:off x="7744968" y="1645920"/>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Écran Terminé</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Bienvenue, impression</a:t>
            </a:r>
            <a:endParaRPr lang="en-US" sz="1300" dirty="0"/>
          </a:p>
        </p:txBody>
      </p:sp>
      <p:sp>
        <p:nvSpPr>
          <p:cNvPr id="15" name="Shape 12"/>
          <p:cNvSpPr/>
          <p:nvPr/>
        </p:nvSpPr>
        <p:spPr>
          <a:xfrm>
            <a:off x="9674352" y="1554480"/>
            <a:ext cx="1920240" cy="1005840"/>
          </a:xfrm>
          <a:prstGeom prst="roundRect">
            <a:avLst>
              <a:gd name="adj" fmla="val 9091"/>
            </a:avLst>
          </a:prstGeom>
          <a:solidFill>
            <a:srgbClr val="FAF8FF"/>
          </a:solidFill>
          <a:ln w="12700">
            <a:solidFill>
              <a:srgbClr val="E4DCF7"/>
            </a:solidFill>
            <a:prstDash val="solid"/>
          </a:ln>
        </p:spPr>
      </p:sp>
      <p:sp>
        <p:nvSpPr>
          <p:cNvPr id="16" name="Text 13"/>
          <p:cNvSpPr txBox="1"/>
          <p:nvPr/>
        </p:nvSpPr>
        <p:spPr>
          <a:xfrm>
            <a:off x="9811512" y="1645920"/>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Accessibilité</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Arabe / français, audio</a:t>
            </a:r>
            <a:endParaRPr lang="en-US" sz="1300" dirty="0"/>
          </a:p>
        </p:txBody>
      </p:sp>
      <p:sp>
        <p:nvSpPr>
          <p:cNvPr id="17" name="Shape 14"/>
          <p:cNvSpPr/>
          <p:nvPr/>
        </p:nvSpPr>
        <p:spPr>
          <a:xfrm>
            <a:off x="548640" y="2724912"/>
            <a:ext cx="2743200" cy="1005840"/>
          </a:xfrm>
          <a:prstGeom prst="roundRect">
            <a:avLst>
              <a:gd name="adj" fmla="val 10909"/>
            </a:avLst>
          </a:prstGeom>
          <a:solidFill>
            <a:srgbClr val="1E0B4B"/>
          </a:solidFill>
          <a:ln w="12700">
            <a:solidFill>
              <a:srgbClr val="1E0B4B"/>
            </a:solidFill>
            <a:prstDash val="solid"/>
          </a:ln>
        </p:spPr>
      </p:sp>
      <p:pic>
        <p:nvPicPr>
          <p:cNvPr id="18" name="Image 1" descr="preencoded.png">    </p:cNvPr>
          <p:cNvPicPr>
            <a:picLocks noChangeAspect="1"/>
          </p:cNvPicPr>
          <p:nvPr/>
        </p:nvPicPr>
        <p:blipFill>
          <a:blip r:embed="rId2"/>
          <a:stretch>
            <a:fillRect/>
          </a:stretch>
        </p:blipFill>
        <p:spPr>
          <a:xfrm>
            <a:off x="777240" y="2999232"/>
            <a:ext cx="457200" cy="457200"/>
          </a:xfrm>
          <a:prstGeom prst="rect">
            <a:avLst/>
          </a:prstGeom>
        </p:spPr>
      </p:pic>
      <p:sp>
        <p:nvSpPr>
          <p:cNvPr id="19" name="Text 15"/>
          <p:cNvSpPr txBox="1"/>
          <p:nvPr/>
        </p:nvSpPr>
        <p:spPr>
          <a:xfrm>
            <a:off x="1417320" y="2834640"/>
            <a:ext cx="1783080" cy="7863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API backend</a:t>
            </a:r>
            <a:endParaRPr lang="en-US" sz="1500" dirty="0"/>
          </a:p>
          <a:p>
            <a:pPr indent="0" marL="0">
              <a:buNone/>
            </a:pPr>
            <a:r>
              <a:rPr lang="en-US" sz="1100" dirty="0">
                <a:solidFill>
                  <a:srgbClr val="FFFFFF"/>
                </a:solidFill>
                <a:latin typeface="Calibri" pitchFamily="34" charset="0"/>
                <a:ea typeface="Calibri" pitchFamily="34" charset="-122"/>
                <a:cs typeface="Calibri" pitchFamily="34" charset="-120"/>
              </a:rPr>
              <a:t>FastAPI (Python)</a:t>
            </a:r>
            <a:endParaRPr lang="en-US" sz="1500" dirty="0"/>
          </a:p>
        </p:txBody>
      </p:sp>
      <p:sp>
        <p:nvSpPr>
          <p:cNvPr id="20" name="Shape 16"/>
          <p:cNvSpPr/>
          <p:nvPr/>
        </p:nvSpPr>
        <p:spPr>
          <a:xfrm>
            <a:off x="3474720" y="2724912"/>
            <a:ext cx="1920240" cy="1005840"/>
          </a:xfrm>
          <a:prstGeom prst="roundRect">
            <a:avLst>
              <a:gd name="adj" fmla="val 9091"/>
            </a:avLst>
          </a:prstGeom>
          <a:solidFill>
            <a:srgbClr val="FAF8FF"/>
          </a:solidFill>
          <a:ln w="12700">
            <a:solidFill>
              <a:srgbClr val="E4DCF7"/>
            </a:solidFill>
            <a:prstDash val="solid"/>
          </a:ln>
        </p:spPr>
      </p:sp>
      <p:sp>
        <p:nvSpPr>
          <p:cNvPr id="21" name="Text 17"/>
          <p:cNvSpPr txBox="1"/>
          <p:nvPr/>
        </p:nvSpPr>
        <p:spPr>
          <a:xfrm>
            <a:off x="3611880" y="2816352"/>
            <a:ext cx="1691640" cy="822960"/>
          </a:xfrm>
          <a:prstGeom prst="rect">
            <a:avLst/>
          </a:prstGeom>
          <a:noFill/>
          <a:ln/>
        </p:spPr>
        <p:txBody>
          <a:bodyPr wrap="square" lIns="0" tIns="0" rIns="0" bIns="0" rtlCol="0" anchor="ctr"/>
          <a:lstStyle/>
          <a:p>
            <a:pPr indent="0" marL="0">
              <a:buNone/>
            </a:pPr>
            <a:r>
              <a:rPr lang="en-US" sz="1200" b="1" dirty="0">
                <a:solidFill>
                  <a:srgbClr val="1F1A2E"/>
                </a:solidFill>
                <a:latin typeface="Courier New" pitchFamily="34" charset="0"/>
                <a:ea typeface="Courier New" pitchFamily="34" charset="-122"/>
                <a:cs typeface="Courier New" pitchFamily="34" charset="-120"/>
              </a:rPr>
              <a:t>POST /api/verify</a:t>
            </a:r>
            <a:endParaRPr lang="en-US" sz="1200" dirty="0"/>
          </a:p>
          <a:p>
            <a:pPr indent="0" marL="0">
              <a:buNone/>
            </a:pPr>
            <a:r>
              <a:rPr lang="en-US" sz="1100" dirty="0">
                <a:solidFill>
                  <a:srgbClr val="6B6780"/>
                </a:solidFill>
                <a:latin typeface="Calibri" pitchFamily="34" charset="0"/>
                <a:ea typeface="Calibri" pitchFamily="34" charset="-122"/>
                <a:cs typeface="Calibri" pitchFamily="34" charset="-120"/>
              </a:rPr>
              <a:t>Point d'entrée du kiosque</a:t>
            </a:r>
            <a:endParaRPr lang="en-US" sz="1200" dirty="0"/>
          </a:p>
        </p:txBody>
      </p:sp>
      <p:sp>
        <p:nvSpPr>
          <p:cNvPr id="22" name="Shape 18"/>
          <p:cNvSpPr/>
          <p:nvPr/>
        </p:nvSpPr>
        <p:spPr>
          <a:xfrm>
            <a:off x="5541264" y="2724912"/>
            <a:ext cx="1920240" cy="1005840"/>
          </a:xfrm>
          <a:prstGeom prst="roundRect">
            <a:avLst>
              <a:gd name="adj" fmla="val 9091"/>
            </a:avLst>
          </a:prstGeom>
          <a:solidFill>
            <a:srgbClr val="FAF8FF"/>
          </a:solidFill>
          <a:ln w="12700">
            <a:solidFill>
              <a:srgbClr val="E4DCF7"/>
            </a:solidFill>
            <a:prstDash val="solid"/>
          </a:ln>
        </p:spPr>
      </p:sp>
      <p:sp>
        <p:nvSpPr>
          <p:cNvPr id="23" name="Text 19"/>
          <p:cNvSpPr txBox="1"/>
          <p:nvPr/>
        </p:nvSpPr>
        <p:spPr>
          <a:xfrm>
            <a:off x="5678424" y="2816352"/>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Identité assuré</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Lecture par matricule</a:t>
            </a:r>
            <a:endParaRPr lang="en-US" sz="1300" dirty="0"/>
          </a:p>
        </p:txBody>
      </p:sp>
      <p:sp>
        <p:nvSpPr>
          <p:cNvPr id="24" name="Shape 20"/>
          <p:cNvSpPr/>
          <p:nvPr/>
        </p:nvSpPr>
        <p:spPr>
          <a:xfrm>
            <a:off x="7607808" y="2724912"/>
            <a:ext cx="1920240" cy="1005840"/>
          </a:xfrm>
          <a:prstGeom prst="roundRect">
            <a:avLst>
              <a:gd name="adj" fmla="val 9091"/>
            </a:avLst>
          </a:prstGeom>
          <a:solidFill>
            <a:srgbClr val="FAF8FF"/>
          </a:solidFill>
          <a:ln w="12700">
            <a:solidFill>
              <a:srgbClr val="E4DCF7"/>
            </a:solidFill>
            <a:prstDash val="solid"/>
          </a:ln>
        </p:spPr>
      </p:sp>
      <p:sp>
        <p:nvSpPr>
          <p:cNvPr id="25" name="Text 21"/>
          <p:cNvSpPr txBox="1"/>
          <p:nvPr/>
        </p:nvSpPr>
        <p:spPr>
          <a:xfrm>
            <a:off x="7744968" y="2816352"/>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Feuille de soins</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Génération et impression</a:t>
            </a:r>
            <a:endParaRPr lang="en-US" sz="1300" dirty="0"/>
          </a:p>
        </p:txBody>
      </p:sp>
      <p:sp>
        <p:nvSpPr>
          <p:cNvPr id="26" name="Shape 22"/>
          <p:cNvSpPr/>
          <p:nvPr/>
        </p:nvSpPr>
        <p:spPr>
          <a:xfrm>
            <a:off x="9674352" y="2724912"/>
            <a:ext cx="1920240" cy="1005840"/>
          </a:xfrm>
          <a:prstGeom prst="roundRect">
            <a:avLst>
              <a:gd name="adj" fmla="val 9091"/>
            </a:avLst>
          </a:prstGeom>
          <a:solidFill>
            <a:srgbClr val="FAF8FF"/>
          </a:solidFill>
          <a:ln w="12700">
            <a:solidFill>
              <a:srgbClr val="E4DCF7"/>
            </a:solidFill>
            <a:prstDash val="solid"/>
          </a:ln>
        </p:spPr>
      </p:sp>
      <p:sp>
        <p:nvSpPr>
          <p:cNvPr id="27" name="Text 23"/>
          <p:cNvSpPr txBox="1"/>
          <p:nvPr/>
        </p:nvSpPr>
        <p:spPr>
          <a:xfrm>
            <a:off x="9811512" y="2816352"/>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Authentification</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Jeton d'accès API</a:t>
            </a:r>
            <a:endParaRPr lang="en-US" sz="1300" dirty="0"/>
          </a:p>
        </p:txBody>
      </p:sp>
      <p:sp>
        <p:nvSpPr>
          <p:cNvPr id="28" name="Shape 24"/>
          <p:cNvSpPr/>
          <p:nvPr/>
        </p:nvSpPr>
        <p:spPr>
          <a:xfrm>
            <a:off x="548640" y="3895344"/>
            <a:ext cx="2743200" cy="1005840"/>
          </a:xfrm>
          <a:prstGeom prst="roundRect">
            <a:avLst>
              <a:gd name="adj" fmla="val 10909"/>
            </a:avLst>
          </a:prstGeom>
          <a:solidFill>
            <a:srgbClr val="F28C28"/>
          </a:solidFill>
          <a:ln w="12700">
            <a:solidFill>
              <a:srgbClr val="F28C28"/>
            </a:solidFill>
            <a:prstDash val="solid"/>
          </a:ln>
        </p:spPr>
      </p:sp>
      <p:pic>
        <p:nvPicPr>
          <p:cNvPr id="29" name="Image 2" descr="preencoded.png">    </p:cNvPr>
          <p:cNvPicPr>
            <a:picLocks noChangeAspect="1"/>
          </p:cNvPicPr>
          <p:nvPr/>
        </p:nvPicPr>
        <p:blipFill>
          <a:blip r:embed="rId3"/>
          <a:stretch>
            <a:fillRect/>
          </a:stretch>
        </p:blipFill>
        <p:spPr>
          <a:xfrm>
            <a:off x="777240" y="4169664"/>
            <a:ext cx="457200" cy="457200"/>
          </a:xfrm>
          <a:prstGeom prst="rect">
            <a:avLst/>
          </a:prstGeom>
        </p:spPr>
      </p:pic>
      <p:sp>
        <p:nvSpPr>
          <p:cNvPr id="30" name="Text 25"/>
          <p:cNvSpPr txBox="1"/>
          <p:nvPr/>
        </p:nvSpPr>
        <p:spPr>
          <a:xfrm>
            <a:off x="1417320" y="4005072"/>
            <a:ext cx="1783080" cy="7863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Services métier</a:t>
            </a:r>
            <a:endParaRPr lang="en-US" sz="1500" dirty="0"/>
          </a:p>
          <a:p>
            <a:pPr indent="0" marL="0">
              <a:buNone/>
            </a:pPr>
            <a:r>
              <a:rPr lang="en-US" sz="1100" dirty="0">
                <a:solidFill>
                  <a:srgbClr val="FFFFFF"/>
                </a:solidFill>
                <a:latin typeface="Calibri" pitchFamily="34" charset="0"/>
                <a:ea typeface="Calibri" pitchFamily="34" charset="-122"/>
                <a:cs typeface="Calibri" pitchFamily="34" charset="-120"/>
              </a:rPr>
              <a:t>Python</a:t>
            </a:r>
            <a:endParaRPr lang="en-US" sz="1500" dirty="0"/>
          </a:p>
        </p:txBody>
      </p:sp>
      <p:sp>
        <p:nvSpPr>
          <p:cNvPr id="31" name="Shape 26"/>
          <p:cNvSpPr/>
          <p:nvPr/>
        </p:nvSpPr>
        <p:spPr>
          <a:xfrm>
            <a:off x="3474720" y="3895344"/>
            <a:ext cx="1920240" cy="1005840"/>
          </a:xfrm>
          <a:prstGeom prst="roundRect">
            <a:avLst>
              <a:gd name="adj" fmla="val 9091"/>
            </a:avLst>
          </a:prstGeom>
          <a:solidFill>
            <a:srgbClr val="FAF8FF"/>
          </a:solidFill>
          <a:ln w="12700">
            <a:solidFill>
              <a:srgbClr val="E4DCF7"/>
            </a:solidFill>
            <a:prstDash val="solid"/>
          </a:ln>
        </p:spPr>
      </p:sp>
      <p:sp>
        <p:nvSpPr>
          <p:cNvPr id="32" name="Text 27"/>
          <p:cNvSpPr txBox="1"/>
          <p:nvPr/>
        </p:nvSpPr>
        <p:spPr>
          <a:xfrm>
            <a:off x="3611880" y="3986784"/>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Moteur facial</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InsightFace buffalo_l</a:t>
            </a:r>
            <a:endParaRPr lang="en-US" sz="1300" dirty="0"/>
          </a:p>
        </p:txBody>
      </p:sp>
      <p:sp>
        <p:nvSpPr>
          <p:cNvPr id="33" name="Shape 28"/>
          <p:cNvSpPr/>
          <p:nvPr/>
        </p:nvSpPr>
        <p:spPr>
          <a:xfrm>
            <a:off x="5541264" y="3895344"/>
            <a:ext cx="1920240" cy="1005840"/>
          </a:xfrm>
          <a:prstGeom prst="roundRect">
            <a:avLst>
              <a:gd name="adj" fmla="val 9091"/>
            </a:avLst>
          </a:prstGeom>
          <a:solidFill>
            <a:srgbClr val="FAF8FF"/>
          </a:solidFill>
          <a:ln w="12700">
            <a:solidFill>
              <a:srgbClr val="E4DCF7"/>
            </a:solidFill>
            <a:prstDash val="solid"/>
          </a:ln>
        </p:spPr>
      </p:sp>
      <p:sp>
        <p:nvSpPr>
          <p:cNvPr id="34" name="Text 29"/>
          <p:cNvSpPr txBox="1"/>
          <p:nvPr/>
        </p:nvSpPr>
        <p:spPr>
          <a:xfrm>
            <a:off x="5678424" y="3986784"/>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Similarité</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Cosinus, seuil 0,40</a:t>
            </a:r>
            <a:endParaRPr lang="en-US" sz="1300" dirty="0"/>
          </a:p>
        </p:txBody>
      </p:sp>
      <p:sp>
        <p:nvSpPr>
          <p:cNvPr id="35" name="Shape 30"/>
          <p:cNvSpPr/>
          <p:nvPr/>
        </p:nvSpPr>
        <p:spPr>
          <a:xfrm>
            <a:off x="7607808" y="3895344"/>
            <a:ext cx="1920240" cy="1005840"/>
          </a:xfrm>
          <a:prstGeom prst="roundRect">
            <a:avLst>
              <a:gd name="adj" fmla="val 9091"/>
            </a:avLst>
          </a:prstGeom>
          <a:solidFill>
            <a:srgbClr val="FAF8FF"/>
          </a:solidFill>
          <a:ln w="12700">
            <a:solidFill>
              <a:srgbClr val="E4DCF7"/>
            </a:solidFill>
            <a:prstDash val="solid"/>
          </a:ln>
        </p:spPr>
      </p:sp>
      <p:sp>
        <p:nvSpPr>
          <p:cNvPr id="36" name="Text 31"/>
          <p:cNvSpPr txBox="1"/>
          <p:nvPr/>
        </p:nvSpPr>
        <p:spPr>
          <a:xfrm>
            <a:off x="7744968" y="3986784"/>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Client API CNASS</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Appels via VPN</a:t>
            </a:r>
            <a:endParaRPr lang="en-US" sz="1300" dirty="0"/>
          </a:p>
        </p:txBody>
      </p:sp>
      <p:sp>
        <p:nvSpPr>
          <p:cNvPr id="37" name="Shape 32"/>
          <p:cNvSpPr/>
          <p:nvPr/>
        </p:nvSpPr>
        <p:spPr>
          <a:xfrm>
            <a:off x="9674352" y="3895344"/>
            <a:ext cx="1920240" cy="1005840"/>
          </a:xfrm>
          <a:prstGeom prst="roundRect">
            <a:avLst>
              <a:gd name="adj" fmla="val 9091"/>
            </a:avLst>
          </a:prstGeom>
          <a:solidFill>
            <a:srgbClr val="FAF8FF"/>
          </a:solidFill>
          <a:ln w="12700">
            <a:solidFill>
              <a:srgbClr val="E4DCF7"/>
            </a:solidFill>
            <a:prstDash val="solid"/>
          </a:ln>
        </p:spPr>
      </p:sp>
      <p:sp>
        <p:nvSpPr>
          <p:cNvPr id="38" name="Text 33"/>
          <p:cNvSpPr txBox="1"/>
          <p:nvPr/>
        </p:nvSpPr>
        <p:spPr>
          <a:xfrm>
            <a:off x="9811512" y="3986784"/>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Enrôlement auto.</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Tâche planifiée (cron)</a:t>
            </a:r>
            <a:endParaRPr lang="en-US" sz="1300" dirty="0"/>
          </a:p>
        </p:txBody>
      </p:sp>
      <p:sp>
        <p:nvSpPr>
          <p:cNvPr id="39" name="Shape 34"/>
          <p:cNvSpPr/>
          <p:nvPr/>
        </p:nvSpPr>
        <p:spPr>
          <a:xfrm>
            <a:off x="548640" y="5065776"/>
            <a:ext cx="2743200" cy="1005840"/>
          </a:xfrm>
          <a:prstGeom prst="roundRect">
            <a:avLst>
              <a:gd name="adj" fmla="val 10909"/>
            </a:avLst>
          </a:prstGeom>
          <a:solidFill>
            <a:srgbClr val="2EA35A"/>
          </a:solidFill>
          <a:ln w="12700">
            <a:solidFill>
              <a:srgbClr val="2EA35A"/>
            </a:solidFill>
            <a:prstDash val="solid"/>
          </a:ln>
        </p:spPr>
      </p:sp>
      <p:pic>
        <p:nvPicPr>
          <p:cNvPr id="40" name="Image 3" descr="preencoded.png">    </p:cNvPr>
          <p:cNvPicPr>
            <a:picLocks noChangeAspect="1"/>
          </p:cNvPicPr>
          <p:nvPr/>
        </p:nvPicPr>
        <p:blipFill>
          <a:blip r:embed="rId4"/>
          <a:stretch>
            <a:fillRect/>
          </a:stretch>
        </p:blipFill>
        <p:spPr>
          <a:xfrm>
            <a:off x="777240" y="5340096"/>
            <a:ext cx="457200" cy="457200"/>
          </a:xfrm>
          <a:prstGeom prst="rect">
            <a:avLst/>
          </a:prstGeom>
        </p:spPr>
      </p:pic>
      <p:sp>
        <p:nvSpPr>
          <p:cNvPr id="41" name="Text 35"/>
          <p:cNvSpPr txBox="1"/>
          <p:nvPr/>
        </p:nvSpPr>
        <p:spPr>
          <a:xfrm>
            <a:off x="1417320" y="5175504"/>
            <a:ext cx="1783080" cy="7863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Données</a:t>
            </a:r>
            <a:endParaRPr lang="en-US" sz="1500" dirty="0"/>
          </a:p>
          <a:p>
            <a:pPr indent="0" marL="0">
              <a:buNone/>
            </a:pPr>
            <a:r>
              <a:rPr lang="en-US" sz="1100" dirty="0">
                <a:solidFill>
                  <a:srgbClr val="FFFFFF"/>
                </a:solidFill>
                <a:latin typeface="Calibri" pitchFamily="34" charset="0"/>
                <a:ea typeface="Calibri" pitchFamily="34" charset="-122"/>
                <a:cs typeface="Calibri" pitchFamily="34" charset="-120"/>
              </a:rPr>
              <a:t>PostgreSQL + SI CNASS</a:t>
            </a:r>
            <a:endParaRPr lang="en-US" sz="1500" dirty="0"/>
          </a:p>
        </p:txBody>
      </p:sp>
      <p:sp>
        <p:nvSpPr>
          <p:cNvPr id="42" name="Shape 36"/>
          <p:cNvSpPr/>
          <p:nvPr/>
        </p:nvSpPr>
        <p:spPr>
          <a:xfrm>
            <a:off x="3474720" y="5065776"/>
            <a:ext cx="1920240" cy="1005840"/>
          </a:xfrm>
          <a:prstGeom prst="roundRect">
            <a:avLst>
              <a:gd name="adj" fmla="val 9091"/>
            </a:avLst>
          </a:prstGeom>
          <a:solidFill>
            <a:srgbClr val="FAF8FF"/>
          </a:solidFill>
          <a:ln w="12700">
            <a:solidFill>
              <a:srgbClr val="E4DCF7"/>
            </a:solidFill>
            <a:prstDash val="solid"/>
          </a:ln>
        </p:spPr>
      </p:sp>
      <p:sp>
        <p:nvSpPr>
          <p:cNvPr id="43" name="Text 37"/>
          <p:cNvSpPr txBox="1"/>
          <p:nvPr/>
        </p:nvSpPr>
        <p:spPr>
          <a:xfrm>
            <a:off x="3611880" y="5157216"/>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Base d'empreintes</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Vecteurs 512D par matricule</a:t>
            </a:r>
            <a:endParaRPr lang="en-US" sz="1300" dirty="0"/>
          </a:p>
        </p:txBody>
      </p:sp>
      <p:sp>
        <p:nvSpPr>
          <p:cNvPr id="44" name="Shape 38"/>
          <p:cNvSpPr/>
          <p:nvPr/>
        </p:nvSpPr>
        <p:spPr>
          <a:xfrm>
            <a:off x="5541264" y="5065776"/>
            <a:ext cx="1920240" cy="1005840"/>
          </a:xfrm>
          <a:prstGeom prst="roundRect">
            <a:avLst>
              <a:gd name="adj" fmla="val 9091"/>
            </a:avLst>
          </a:prstGeom>
          <a:solidFill>
            <a:srgbClr val="FAF8FF"/>
          </a:solidFill>
          <a:ln w="12700">
            <a:solidFill>
              <a:srgbClr val="E4DCF7"/>
            </a:solidFill>
            <a:prstDash val="solid"/>
          </a:ln>
        </p:spPr>
      </p:sp>
      <p:sp>
        <p:nvSpPr>
          <p:cNvPr id="45" name="Text 39"/>
          <p:cNvSpPr txBox="1"/>
          <p:nvPr/>
        </p:nvSpPr>
        <p:spPr>
          <a:xfrm>
            <a:off x="5678424" y="5157216"/>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SI CNASS</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Source de vérité (MySQL)</a:t>
            </a:r>
            <a:endParaRPr lang="en-US" sz="1300" dirty="0"/>
          </a:p>
        </p:txBody>
      </p:sp>
      <p:sp>
        <p:nvSpPr>
          <p:cNvPr id="46" name="Shape 40"/>
          <p:cNvSpPr/>
          <p:nvPr/>
        </p:nvSpPr>
        <p:spPr>
          <a:xfrm>
            <a:off x="7607808" y="5065776"/>
            <a:ext cx="1920240" cy="1005840"/>
          </a:xfrm>
          <a:prstGeom prst="roundRect">
            <a:avLst>
              <a:gd name="adj" fmla="val 9091"/>
            </a:avLst>
          </a:prstGeom>
          <a:solidFill>
            <a:srgbClr val="FAF8FF"/>
          </a:solidFill>
          <a:ln w="12700">
            <a:solidFill>
              <a:srgbClr val="E4DCF7"/>
            </a:solidFill>
            <a:prstDash val="solid"/>
          </a:ln>
        </p:spPr>
      </p:sp>
      <p:sp>
        <p:nvSpPr>
          <p:cNvPr id="47" name="Text 41"/>
          <p:cNvSpPr txBox="1"/>
          <p:nvPr/>
        </p:nvSpPr>
        <p:spPr>
          <a:xfrm>
            <a:off x="7744968" y="5157216"/>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Journal</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Traces des vérifications</a:t>
            </a:r>
            <a:endParaRPr lang="en-US" sz="1300" dirty="0"/>
          </a:p>
        </p:txBody>
      </p:sp>
      <p:sp>
        <p:nvSpPr>
          <p:cNvPr id="48" name="Shape 42"/>
          <p:cNvSpPr/>
          <p:nvPr/>
        </p:nvSpPr>
        <p:spPr>
          <a:xfrm>
            <a:off x="9674352" y="5065776"/>
            <a:ext cx="1920240" cy="1005840"/>
          </a:xfrm>
          <a:prstGeom prst="roundRect">
            <a:avLst>
              <a:gd name="adj" fmla="val 9091"/>
            </a:avLst>
          </a:prstGeom>
          <a:solidFill>
            <a:srgbClr val="FAF8FF"/>
          </a:solidFill>
          <a:ln w="12700">
            <a:solidFill>
              <a:srgbClr val="E4DCF7"/>
            </a:solidFill>
            <a:prstDash val="solid"/>
          </a:ln>
        </p:spPr>
      </p:sp>
      <p:sp>
        <p:nvSpPr>
          <p:cNvPr id="49" name="Text 43"/>
          <p:cNvSpPr txBox="1"/>
          <p:nvPr/>
        </p:nvSpPr>
        <p:spPr>
          <a:xfrm>
            <a:off x="9811512" y="5157216"/>
            <a:ext cx="1691640" cy="822960"/>
          </a:xfrm>
          <a:prstGeom prst="rect">
            <a:avLst/>
          </a:prstGeom>
          <a:noFill/>
          <a:ln/>
        </p:spPr>
        <p:txBody>
          <a:bodyPr wrap="square" lIns="0" tIns="0" rIns="0" bIns="0" rtlCol="0" anchor="ctr"/>
          <a:lstStyle/>
          <a:p>
            <a:pPr indent="0" marL="0">
              <a:buNone/>
            </a:pPr>
            <a:r>
              <a:rPr lang="en-US" sz="1300" b="1" dirty="0">
                <a:solidFill>
                  <a:srgbClr val="1F1A2E"/>
                </a:solidFill>
                <a:latin typeface="Calibri" pitchFamily="34" charset="0"/>
                <a:ea typeface="Calibri" pitchFamily="34" charset="-122"/>
                <a:cs typeface="Calibri" pitchFamily="34" charset="-120"/>
              </a:rPr>
              <a:t>Photos adhérents</a:t>
            </a:r>
            <a:endParaRPr lang="en-US" sz="1300" dirty="0"/>
          </a:p>
          <a:p>
            <a:pPr indent="0" marL="0">
              <a:buNone/>
            </a:pPr>
            <a:r>
              <a:rPr lang="en-US" sz="1100" dirty="0">
                <a:solidFill>
                  <a:srgbClr val="6B6780"/>
                </a:solidFill>
                <a:latin typeface="Calibri" pitchFamily="34" charset="0"/>
                <a:ea typeface="Calibri" pitchFamily="34" charset="-122"/>
                <a:cs typeface="Calibri" pitchFamily="34" charset="-120"/>
              </a:rPr>
              <a:t>Lues à l'enrôlement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FONCTIONNEMENT INTERNE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Le parcours d'une vérification, étape par étape</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94360" y="1508760"/>
            <a:ext cx="2286000" cy="548640"/>
          </a:xfrm>
          <a:prstGeom prst="roundRect">
            <a:avLst>
              <a:gd name="adj" fmla="val 16667"/>
            </a:avLst>
          </a:prstGeom>
          <a:solidFill>
            <a:srgbClr val="6A2BD9"/>
          </a:solidFill>
          <a:ln w="12700">
            <a:solidFill>
              <a:srgbClr val="6A2BD9"/>
            </a:solidFill>
            <a:prstDash val="solid"/>
          </a:ln>
        </p:spPr>
      </p:sp>
      <p:pic>
        <p:nvPicPr>
          <p:cNvPr id="7" name="Image 0" descr="preencoded.png">    </p:cNvPr>
          <p:cNvPicPr>
            <a:picLocks noChangeAspect="1"/>
          </p:cNvPicPr>
          <p:nvPr/>
        </p:nvPicPr>
        <p:blipFill>
          <a:blip r:embed="rId1"/>
          <a:stretch>
            <a:fillRect/>
          </a:stretch>
        </p:blipFill>
        <p:spPr>
          <a:xfrm>
            <a:off x="777240" y="1618488"/>
            <a:ext cx="329184" cy="329184"/>
          </a:xfrm>
          <a:prstGeom prst="rect">
            <a:avLst/>
          </a:prstGeom>
        </p:spPr>
      </p:pic>
      <p:sp>
        <p:nvSpPr>
          <p:cNvPr id="8" name="Text 5"/>
          <p:cNvSpPr txBox="1"/>
          <p:nvPr/>
        </p:nvSpPr>
        <p:spPr>
          <a:xfrm>
            <a:off x="1188720" y="1508760"/>
            <a:ext cx="164592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Kiosque</a:t>
            </a:r>
            <a:endParaRPr lang="en-US" sz="1300" dirty="0"/>
          </a:p>
        </p:txBody>
      </p:sp>
      <p:sp>
        <p:nvSpPr>
          <p:cNvPr id="9" name="Shape 6"/>
          <p:cNvSpPr/>
          <p:nvPr/>
        </p:nvSpPr>
        <p:spPr>
          <a:xfrm>
            <a:off x="1737360" y="2057400"/>
            <a:ext cx="0" cy="4114800"/>
          </a:xfrm>
          <a:prstGeom prst="line">
            <a:avLst/>
          </a:prstGeom>
          <a:noFill/>
          <a:ln w="19050">
            <a:solidFill>
              <a:srgbClr val="E4DCF7"/>
            </a:solidFill>
            <a:prstDash val="dash"/>
          </a:ln>
        </p:spPr>
      </p:sp>
      <p:sp>
        <p:nvSpPr>
          <p:cNvPr id="10" name="Shape 7"/>
          <p:cNvSpPr/>
          <p:nvPr/>
        </p:nvSpPr>
        <p:spPr>
          <a:xfrm>
            <a:off x="3611880" y="1508760"/>
            <a:ext cx="2286000" cy="548640"/>
          </a:xfrm>
          <a:prstGeom prst="roundRect">
            <a:avLst>
              <a:gd name="adj" fmla="val 16667"/>
            </a:avLst>
          </a:prstGeom>
          <a:solidFill>
            <a:srgbClr val="1E0B4B"/>
          </a:solidFill>
          <a:ln w="12700">
            <a:solidFill>
              <a:srgbClr val="1E0B4B"/>
            </a:solidFill>
            <a:prstDash val="solid"/>
          </a:ln>
        </p:spPr>
      </p:sp>
      <p:pic>
        <p:nvPicPr>
          <p:cNvPr id="11" name="Image 1" descr="preencoded.png">    </p:cNvPr>
          <p:cNvPicPr>
            <a:picLocks noChangeAspect="1"/>
          </p:cNvPicPr>
          <p:nvPr/>
        </p:nvPicPr>
        <p:blipFill>
          <a:blip r:embed="rId2"/>
          <a:stretch>
            <a:fillRect/>
          </a:stretch>
        </p:blipFill>
        <p:spPr>
          <a:xfrm>
            <a:off x="3794760" y="1618488"/>
            <a:ext cx="329184" cy="329184"/>
          </a:xfrm>
          <a:prstGeom prst="rect">
            <a:avLst/>
          </a:prstGeom>
        </p:spPr>
      </p:pic>
      <p:sp>
        <p:nvSpPr>
          <p:cNvPr id="12" name="Text 8"/>
          <p:cNvSpPr txBox="1"/>
          <p:nvPr/>
        </p:nvSpPr>
        <p:spPr>
          <a:xfrm>
            <a:off x="4206240" y="1508760"/>
            <a:ext cx="164592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Backend FastAPI</a:t>
            </a:r>
            <a:endParaRPr lang="en-US" sz="1300" dirty="0"/>
          </a:p>
        </p:txBody>
      </p:sp>
      <p:sp>
        <p:nvSpPr>
          <p:cNvPr id="13" name="Shape 9"/>
          <p:cNvSpPr/>
          <p:nvPr/>
        </p:nvSpPr>
        <p:spPr>
          <a:xfrm>
            <a:off x="4754880" y="2057400"/>
            <a:ext cx="0" cy="4114800"/>
          </a:xfrm>
          <a:prstGeom prst="line">
            <a:avLst/>
          </a:prstGeom>
          <a:noFill/>
          <a:ln w="19050">
            <a:solidFill>
              <a:srgbClr val="E4DCF7"/>
            </a:solidFill>
            <a:prstDash val="dash"/>
          </a:ln>
        </p:spPr>
      </p:sp>
      <p:sp>
        <p:nvSpPr>
          <p:cNvPr id="14" name="Shape 10"/>
          <p:cNvSpPr/>
          <p:nvPr/>
        </p:nvSpPr>
        <p:spPr>
          <a:xfrm>
            <a:off x="6629400" y="1508760"/>
            <a:ext cx="2286000" cy="548640"/>
          </a:xfrm>
          <a:prstGeom prst="roundRect">
            <a:avLst>
              <a:gd name="adj" fmla="val 16667"/>
            </a:avLst>
          </a:prstGeom>
          <a:solidFill>
            <a:srgbClr val="F28C28"/>
          </a:solidFill>
          <a:ln w="12700">
            <a:solidFill>
              <a:srgbClr val="F28C28"/>
            </a:solidFill>
            <a:prstDash val="solid"/>
          </a:ln>
        </p:spPr>
      </p:sp>
      <p:pic>
        <p:nvPicPr>
          <p:cNvPr id="15" name="Image 2" descr="preencoded.png">    </p:cNvPr>
          <p:cNvPicPr>
            <a:picLocks noChangeAspect="1"/>
          </p:cNvPicPr>
          <p:nvPr/>
        </p:nvPicPr>
        <p:blipFill>
          <a:blip r:embed="rId3"/>
          <a:stretch>
            <a:fillRect/>
          </a:stretch>
        </p:blipFill>
        <p:spPr>
          <a:xfrm>
            <a:off x="6812280" y="1618488"/>
            <a:ext cx="329184" cy="329184"/>
          </a:xfrm>
          <a:prstGeom prst="rect">
            <a:avLst/>
          </a:prstGeom>
        </p:spPr>
      </p:pic>
      <p:sp>
        <p:nvSpPr>
          <p:cNvPr id="16" name="Text 11"/>
          <p:cNvSpPr txBox="1"/>
          <p:nvPr/>
        </p:nvSpPr>
        <p:spPr>
          <a:xfrm>
            <a:off x="7223760" y="1508760"/>
            <a:ext cx="164592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API CNASS</a:t>
            </a:r>
            <a:endParaRPr lang="en-US" sz="1300" dirty="0"/>
          </a:p>
        </p:txBody>
      </p:sp>
      <p:sp>
        <p:nvSpPr>
          <p:cNvPr id="17" name="Shape 12"/>
          <p:cNvSpPr/>
          <p:nvPr/>
        </p:nvSpPr>
        <p:spPr>
          <a:xfrm>
            <a:off x="7772400" y="2057400"/>
            <a:ext cx="0" cy="4114800"/>
          </a:xfrm>
          <a:prstGeom prst="line">
            <a:avLst/>
          </a:prstGeom>
          <a:noFill/>
          <a:ln w="19050">
            <a:solidFill>
              <a:srgbClr val="E4DCF7"/>
            </a:solidFill>
            <a:prstDash val="dash"/>
          </a:ln>
        </p:spPr>
      </p:sp>
      <p:sp>
        <p:nvSpPr>
          <p:cNvPr id="18" name="Shape 13"/>
          <p:cNvSpPr/>
          <p:nvPr/>
        </p:nvSpPr>
        <p:spPr>
          <a:xfrm>
            <a:off x="9326880" y="1508760"/>
            <a:ext cx="2286000" cy="548640"/>
          </a:xfrm>
          <a:prstGeom prst="roundRect">
            <a:avLst>
              <a:gd name="adj" fmla="val 16667"/>
            </a:avLst>
          </a:prstGeom>
          <a:solidFill>
            <a:srgbClr val="2EA35A"/>
          </a:solidFill>
          <a:ln w="12700">
            <a:solidFill>
              <a:srgbClr val="2EA35A"/>
            </a:solidFill>
            <a:prstDash val="solid"/>
          </a:ln>
        </p:spPr>
      </p:sp>
      <p:pic>
        <p:nvPicPr>
          <p:cNvPr id="19" name="Image 3" descr="preencoded.png">    </p:cNvPr>
          <p:cNvPicPr>
            <a:picLocks noChangeAspect="1"/>
          </p:cNvPicPr>
          <p:nvPr/>
        </p:nvPicPr>
        <p:blipFill>
          <a:blip r:embed="rId4"/>
          <a:stretch>
            <a:fillRect/>
          </a:stretch>
        </p:blipFill>
        <p:spPr>
          <a:xfrm>
            <a:off x="9509760" y="1618488"/>
            <a:ext cx="329184" cy="329184"/>
          </a:xfrm>
          <a:prstGeom prst="rect">
            <a:avLst/>
          </a:prstGeom>
        </p:spPr>
      </p:pic>
      <p:sp>
        <p:nvSpPr>
          <p:cNvPr id="20" name="Text 14"/>
          <p:cNvSpPr txBox="1"/>
          <p:nvPr/>
        </p:nvSpPr>
        <p:spPr>
          <a:xfrm>
            <a:off x="9921240" y="1508760"/>
            <a:ext cx="164592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Base d'empreintes</a:t>
            </a:r>
            <a:endParaRPr lang="en-US" sz="1300" dirty="0"/>
          </a:p>
        </p:txBody>
      </p:sp>
      <p:sp>
        <p:nvSpPr>
          <p:cNvPr id="21" name="Shape 15"/>
          <p:cNvSpPr/>
          <p:nvPr/>
        </p:nvSpPr>
        <p:spPr>
          <a:xfrm>
            <a:off x="10469880" y="2057400"/>
            <a:ext cx="0" cy="4114800"/>
          </a:xfrm>
          <a:prstGeom prst="line">
            <a:avLst/>
          </a:prstGeom>
          <a:noFill/>
          <a:ln w="19050">
            <a:solidFill>
              <a:srgbClr val="E4DCF7"/>
            </a:solidFill>
            <a:prstDash val="dash"/>
          </a:ln>
        </p:spPr>
      </p:sp>
      <p:sp>
        <p:nvSpPr>
          <p:cNvPr id="22" name="Shape 16"/>
          <p:cNvSpPr/>
          <p:nvPr/>
        </p:nvSpPr>
        <p:spPr>
          <a:xfrm>
            <a:off x="320040" y="2139696"/>
            <a:ext cx="292608" cy="292608"/>
          </a:xfrm>
          <a:prstGeom prst="ellipse">
            <a:avLst/>
          </a:prstGeom>
          <a:solidFill>
            <a:srgbClr val="6A2BD9"/>
          </a:solidFill>
          <a:ln w="12700">
            <a:solidFill>
              <a:srgbClr val="6A2BD9"/>
            </a:solidFill>
            <a:prstDash val="solid"/>
          </a:ln>
        </p:spPr>
      </p:sp>
      <p:sp>
        <p:nvSpPr>
          <p:cNvPr id="23" name="Text 17"/>
          <p:cNvSpPr txBox="1"/>
          <p:nvPr/>
        </p:nvSpPr>
        <p:spPr>
          <a:xfrm>
            <a:off x="320040" y="21396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4" name="Shape 18"/>
          <p:cNvSpPr/>
          <p:nvPr/>
        </p:nvSpPr>
        <p:spPr>
          <a:xfrm>
            <a:off x="1783080" y="2377440"/>
            <a:ext cx="2926080" cy="0"/>
          </a:xfrm>
          <a:prstGeom prst="line">
            <a:avLst/>
          </a:prstGeom>
          <a:noFill/>
          <a:ln w="22225">
            <a:solidFill>
              <a:srgbClr val="8B5CF6"/>
            </a:solidFill>
            <a:prstDash val="solid"/>
            <a:tailEnd type="triangle"/>
          </a:ln>
        </p:spPr>
      </p:sp>
      <p:sp>
        <p:nvSpPr>
          <p:cNvPr id="25" name="Text 19"/>
          <p:cNvSpPr txBox="1"/>
          <p:nvPr/>
        </p:nvSpPr>
        <p:spPr>
          <a:xfrm>
            <a:off x="1737360" y="2103120"/>
            <a:ext cx="3017520" cy="237744"/>
          </a:xfrm>
          <a:prstGeom prst="rect">
            <a:avLst/>
          </a:prstGeom>
          <a:noFill/>
          <a:ln/>
        </p:spPr>
        <p:txBody>
          <a:bodyPr wrap="square" lIns="0" tIns="0" rIns="0" bIns="0" rtlCol="0" anchor="ctr"/>
          <a:lstStyle/>
          <a:p>
            <a:pPr algn="ctr" indent="0" marL="0">
              <a:buNone/>
            </a:pPr>
            <a:r>
              <a:rPr lang="en-US" sz="1100" dirty="0">
                <a:solidFill>
                  <a:srgbClr val="1F1A2E"/>
                </a:solidFill>
                <a:latin typeface="Calibri" pitchFamily="34" charset="0"/>
                <a:ea typeface="Calibri" pitchFamily="34" charset="-122"/>
                <a:cs typeface="Calibri" pitchFamily="34" charset="-120"/>
              </a:rPr>
              <a:t>Matricule saisi (13 chiffres)</a:t>
            </a:r>
            <a:endParaRPr lang="en-US" sz="1100" dirty="0"/>
          </a:p>
        </p:txBody>
      </p:sp>
      <p:sp>
        <p:nvSpPr>
          <p:cNvPr id="26" name="Shape 20"/>
          <p:cNvSpPr/>
          <p:nvPr/>
        </p:nvSpPr>
        <p:spPr>
          <a:xfrm>
            <a:off x="320040" y="2615184"/>
            <a:ext cx="292608" cy="292608"/>
          </a:xfrm>
          <a:prstGeom prst="ellipse">
            <a:avLst/>
          </a:prstGeom>
          <a:solidFill>
            <a:srgbClr val="6A2BD9"/>
          </a:solidFill>
          <a:ln w="12700">
            <a:solidFill>
              <a:srgbClr val="6A2BD9"/>
            </a:solidFill>
            <a:prstDash val="solid"/>
          </a:ln>
        </p:spPr>
      </p:sp>
      <p:sp>
        <p:nvSpPr>
          <p:cNvPr id="27" name="Text 21"/>
          <p:cNvSpPr txBox="1"/>
          <p:nvPr/>
        </p:nvSpPr>
        <p:spPr>
          <a:xfrm>
            <a:off x="320040" y="26151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8" name="Shape 22"/>
          <p:cNvSpPr/>
          <p:nvPr/>
        </p:nvSpPr>
        <p:spPr>
          <a:xfrm>
            <a:off x="4800600" y="2852928"/>
            <a:ext cx="2926080" cy="0"/>
          </a:xfrm>
          <a:prstGeom prst="line">
            <a:avLst/>
          </a:prstGeom>
          <a:noFill/>
          <a:ln w="22225">
            <a:solidFill>
              <a:srgbClr val="8B5CF6"/>
            </a:solidFill>
            <a:prstDash val="solid"/>
            <a:tailEnd type="triangle"/>
          </a:ln>
        </p:spPr>
      </p:sp>
      <p:sp>
        <p:nvSpPr>
          <p:cNvPr id="29" name="Text 23"/>
          <p:cNvSpPr txBox="1"/>
          <p:nvPr/>
        </p:nvSpPr>
        <p:spPr>
          <a:xfrm>
            <a:off x="4754880" y="2578608"/>
            <a:ext cx="3017520" cy="237744"/>
          </a:xfrm>
          <a:prstGeom prst="rect">
            <a:avLst/>
          </a:prstGeom>
          <a:noFill/>
          <a:ln/>
        </p:spPr>
        <p:txBody>
          <a:bodyPr wrap="square" lIns="0" tIns="0" rIns="0" bIns="0" rtlCol="0" anchor="ctr"/>
          <a:lstStyle/>
          <a:p>
            <a:pPr algn="ctr" indent="0" marL="0">
              <a:buNone/>
            </a:pPr>
            <a:r>
              <a:rPr lang="en-US" sz="1100" dirty="0">
                <a:solidFill>
                  <a:srgbClr val="1F1A2E"/>
                </a:solidFill>
                <a:latin typeface="Courier New" pitchFamily="34" charset="0"/>
                <a:ea typeface="Courier New" pitchFamily="34" charset="-122"/>
                <a:cs typeface="Courier New" pitchFamily="34" charset="-120"/>
              </a:rPr>
              <a:t>getAssureByMatricule</a:t>
            </a:r>
            <a:endParaRPr lang="en-US" sz="1100" dirty="0"/>
          </a:p>
        </p:txBody>
      </p:sp>
      <p:sp>
        <p:nvSpPr>
          <p:cNvPr id="30" name="Shape 24"/>
          <p:cNvSpPr/>
          <p:nvPr/>
        </p:nvSpPr>
        <p:spPr>
          <a:xfrm>
            <a:off x="320040" y="3090672"/>
            <a:ext cx="292608" cy="292608"/>
          </a:xfrm>
          <a:prstGeom prst="ellipse">
            <a:avLst/>
          </a:prstGeom>
          <a:solidFill>
            <a:srgbClr val="6A2BD9"/>
          </a:solidFill>
          <a:ln w="12700">
            <a:solidFill>
              <a:srgbClr val="6A2BD9"/>
            </a:solidFill>
            <a:prstDash val="solid"/>
          </a:ln>
        </p:spPr>
      </p:sp>
      <p:sp>
        <p:nvSpPr>
          <p:cNvPr id="31" name="Text 25"/>
          <p:cNvSpPr txBox="1"/>
          <p:nvPr/>
        </p:nvSpPr>
        <p:spPr>
          <a:xfrm>
            <a:off x="320040" y="30906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2" name="Shape 26"/>
          <p:cNvSpPr/>
          <p:nvPr/>
        </p:nvSpPr>
        <p:spPr>
          <a:xfrm flipH="1">
            <a:off x="4800600" y="3328416"/>
            <a:ext cx="2926080" cy="0"/>
          </a:xfrm>
          <a:prstGeom prst="line">
            <a:avLst/>
          </a:prstGeom>
          <a:noFill/>
          <a:ln w="22225">
            <a:solidFill>
              <a:srgbClr val="2EA35A"/>
            </a:solidFill>
            <a:prstDash val="dash"/>
            <a:tailEnd type="triangle"/>
          </a:ln>
        </p:spPr>
      </p:sp>
      <p:sp>
        <p:nvSpPr>
          <p:cNvPr id="33" name="Text 27"/>
          <p:cNvSpPr txBox="1"/>
          <p:nvPr/>
        </p:nvSpPr>
        <p:spPr>
          <a:xfrm>
            <a:off x="4754880" y="3054096"/>
            <a:ext cx="3017520" cy="237744"/>
          </a:xfrm>
          <a:prstGeom prst="rect">
            <a:avLst/>
          </a:prstGeom>
          <a:noFill/>
          <a:ln/>
        </p:spPr>
        <p:txBody>
          <a:bodyPr wrap="square" lIns="0" tIns="0" rIns="0" bIns="0" rtlCol="0" anchor="ctr"/>
          <a:lstStyle/>
          <a:p>
            <a:pPr algn="ctr" indent="0" marL="0">
              <a:buNone/>
            </a:pPr>
            <a:r>
              <a:rPr lang="en-US" sz="1100" dirty="0">
                <a:solidFill>
                  <a:srgbClr val="1F1A2E"/>
                </a:solidFill>
                <a:latin typeface="Calibri" pitchFamily="34" charset="0"/>
                <a:ea typeface="Calibri" pitchFamily="34" charset="-122"/>
                <a:cs typeface="Calibri" pitchFamily="34" charset="-120"/>
              </a:rPr>
              <a:t>Identité : nom, matricule</a:t>
            </a:r>
            <a:endParaRPr lang="en-US" sz="1100" dirty="0"/>
          </a:p>
        </p:txBody>
      </p:sp>
      <p:sp>
        <p:nvSpPr>
          <p:cNvPr id="34" name="Shape 28"/>
          <p:cNvSpPr/>
          <p:nvPr/>
        </p:nvSpPr>
        <p:spPr>
          <a:xfrm>
            <a:off x="320040" y="3566160"/>
            <a:ext cx="292608" cy="292608"/>
          </a:xfrm>
          <a:prstGeom prst="ellipse">
            <a:avLst/>
          </a:prstGeom>
          <a:solidFill>
            <a:srgbClr val="6A2BD9"/>
          </a:solidFill>
          <a:ln w="12700">
            <a:solidFill>
              <a:srgbClr val="6A2BD9"/>
            </a:solidFill>
            <a:prstDash val="solid"/>
          </a:ln>
        </p:spPr>
      </p:sp>
      <p:sp>
        <p:nvSpPr>
          <p:cNvPr id="35" name="Text 29"/>
          <p:cNvSpPr txBox="1"/>
          <p:nvPr/>
        </p:nvSpPr>
        <p:spPr>
          <a:xfrm>
            <a:off x="320040" y="35661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Shape 30"/>
          <p:cNvSpPr/>
          <p:nvPr/>
        </p:nvSpPr>
        <p:spPr>
          <a:xfrm>
            <a:off x="1783080" y="3803904"/>
            <a:ext cx="2926080" cy="0"/>
          </a:xfrm>
          <a:prstGeom prst="line">
            <a:avLst/>
          </a:prstGeom>
          <a:noFill/>
          <a:ln w="22225">
            <a:solidFill>
              <a:srgbClr val="8B5CF6"/>
            </a:solidFill>
            <a:prstDash val="solid"/>
            <a:tailEnd type="triangle"/>
          </a:ln>
        </p:spPr>
      </p:sp>
      <p:sp>
        <p:nvSpPr>
          <p:cNvPr id="37" name="Text 31"/>
          <p:cNvSpPr txBox="1"/>
          <p:nvPr/>
        </p:nvSpPr>
        <p:spPr>
          <a:xfrm>
            <a:off x="1737360" y="3529584"/>
            <a:ext cx="3017520" cy="237744"/>
          </a:xfrm>
          <a:prstGeom prst="rect">
            <a:avLst/>
          </a:prstGeom>
          <a:noFill/>
          <a:ln/>
        </p:spPr>
        <p:txBody>
          <a:bodyPr wrap="square" lIns="0" tIns="0" rIns="0" bIns="0" rtlCol="0" anchor="ctr"/>
          <a:lstStyle/>
          <a:p>
            <a:pPr algn="ctr" indent="0" marL="0">
              <a:buNone/>
            </a:pPr>
            <a:r>
              <a:rPr lang="en-US" sz="1100" dirty="0">
                <a:solidFill>
                  <a:srgbClr val="1F1A2E"/>
                </a:solidFill>
                <a:latin typeface="Calibri" pitchFamily="34" charset="0"/>
                <a:ea typeface="Calibri" pitchFamily="34" charset="-122"/>
                <a:cs typeface="Calibri" pitchFamily="34" charset="-120"/>
              </a:rPr>
              <a:t>Image du visage  →  POST /api/verify</a:t>
            </a:r>
            <a:endParaRPr lang="en-US" sz="1100" dirty="0"/>
          </a:p>
        </p:txBody>
      </p:sp>
      <p:sp>
        <p:nvSpPr>
          <p:cNvPr id="38" name="Shape 32"/>
          <p:cNvSpPr/>
          <p:nvPr/>
        </p:nvSpPr>
        <p:spPr>
          <a:xfrm>
            <a:off x="320040" y="4041648"/>
            <a:ext cx="292608" cy="292608"/>
          </a:xfrm>
          <a:prstGeom prst="ellipse">
            <a:avLst/>
          </a:prstGeom>
          <a:solidFill>
            <a:srgbClr val="6A2BD9"/>
          </a:solidFill>
          <a:ln w="12700">
            <a:solidFill>
              <a:srgbClr val="6A2BD9"/>
            </a:solidFill>
            <a:prstDash val="solid"/>
          </a:ln>
        </p:spPr>
      </p:sp>
      <p:sp>
        <p:nvSpPr>
          <p:cNvPr id="39" name="Text 33"/>
          <p:cNvSpPr txBox="1"/>
          <p:nvPr/>
        </p:nvSpPr>
        <p:spPr>
          <a:xfrm>
            <a:off x="320040" y="404164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0" name="Shape 34"/>
          <p:cNvSpPr/>
          <p:nvPr/>
        </p:nvSpPr>
        <p:spPr>
          <a:xfrm>
            <a:off x="4800600" y="4279392"/>
            <a:ext cx="5623560" cy="0"/>
          </a:xfrm>
          <a:prstGeom prst="line">
            <a:avLst/>
          </a:prstGeom>
          <a:noFill/>
          <a:ln w="22225">
            <a:solidFill>
              <a:srgbClr val="8B5CF6"/>
            </a:solidFill>
            <a:prstDash val="solid"/>
            <a:tailEnd type="triangle"/>
          </a:ln>
        </p:spPr>
      </p:sp>
      <p:sp>
        <p:nvSpPr>
          <p:cNvPr id="41" name="Text 35"/>
          <p:cNvSpPr txBox="1"/>
          <p:nvPr/>
        </p:nvSpPr>
        <p:spPr>
          <a:xfrm>
            <a:off x="4754880" y="4005072"/>
            <a:ext cx="5715000" cy="237744"/>
          </a:xfrm>
          <a:prstGeom prst="rect">
            <a:avLst/>
          </a:prstGeom>
          <a:noFill/>
          <a:ln/>
        </p:spPr>
        <p:txBody>
          <a:bodyPr wrap="square" lIns="0" tIns="0" rIns="0" bIns="0" rtlCol="0" anchor="ctr"/>
          <a:lstStyle/>
          <a:p>
            <a:pPr algn="ctr" indent="0" marL="0">
              <a:buNone/>
            </a:pPr>
            <a:r>
              <a:rPr lang="en-US" sz="1100" dirty="0">
                <a:solidFill>
                  <a:srgbClr val="1F1A2E"/>
                </a:solidFill>
                <a:latin typeface="Calibri" pitchFamily="34" charset="0"/>
                <a:ea typeface="Calibri" pitchFamily="34" charset="-122"/>
                <a:cs typeface="Calibri" pitchFamily="34" charset="-120"/>
              </a:rPr>
              <a:t>Lecture de l'empreinte de référence</a:t>
            </a:r>
            <a:endParaRPr lang="en-US" sz="1100" dirty="0"/>
          </a:p>
        </p:txBody>
      </p:sp>
      <p:sp>
        <p:nvSpPr>
          <p:cNvPr id="42" name="Shape 36"/>
          <p:cNvSpPr/>
          <p:nvPr/>
        </p:nvSpPr>
        <p:spPr>
          <a:xfrm>
            <a:off x="320040" y="4517136"/>
            <a:ext cx="292608" cy="292608"/>
          </a:xfrm>
          <a:prstGeom prst="ellipse">
            <a:avLst/>
          </a:prstGeom>
          <a:solidFill>
            <a:srgbClr val="6A2BD9"/>
          </a:solidFill>
          <a:ln w="12700">
            <a:solidFill>
              <a:srgbClr val="6A2BD9"/>
            </a:solidFill>
            <a:prstDash val="solid"/>
          </a:ln>
        </p:spPr>
      </p:sp>
      <p:sp>
        <p:nvSpPr>
          <p:cNvPr id="43" name="Text 37"/>
          <p:cNvSpPr txBox="1"/>
          <p:nvPr/>
        </p:nvSpPr>
        <p:spPr>
          <a:xfrm>
            <a:off x="320040" y="45171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4" name="Shape 38"/>
          <p:cNvSpPr/>
          <p:nvPr/>
        </p:nvSpPr>
        <p:spPr>
          <a:xfrm>
            <a:off x="3337560" y="4572000"/>
            <a:ext cx="2834640" cy="365760"/>
          </a:xfrm>
          <a:prstGeom prst="roundRect">
            <a:avLst>
              <a:gd name="adj" fmla="val 20000"/>
            </a:avLst>
          </a:prstGeom>
          <a:solidFill>
            <a:srgbClr val="F3EEFE"/>
          </a:solidFill>
          <a:ln w="12700">
            <a:solidFill>
              <a:srgbClr val="8B5CF6"/>
            </a:solidFill>
            <a:prstDash val="solid"/>
          </a:ln>
        </p:spPr>
      </p:sp>
      <p:sp>
        <p:nvSpPr>
          <p:cNvPr id="45" name="Text 39"/>
          <p:cNvSpPr txBox="1"/>
          <p:nvPr/>
        </p:nvSpPr>
        <p:spPr>
          <a:xfrm>
            <a:off x="3383280" y="4572000"/>
            <a:ext cx="2743200" cy="365760"/>
          </a:xfrm>
          <a:prstGeom prst="rect">
            <a:avLst/>
          </a:prstGeom>
          <a:noFill/>
          <a:ln/>
        </p:spPr>
        <p:txBody>
          <a:bodyPr wrap="square" lIns="0" tIns="0" rIns="0" bIns="0" rtlCol="0" anchor="ctr"/>
          <a:lstStyle/>
          <a:p>
            <a:pPr algn="ctr" indent="0" marL="0">
              <a:buNone/>
            </a:pPr>
            <a:r>
              <a:rPr lang="en-US" sz="1100" b="1" dirty="0">
                <a:solidFill>
                  <a:srgbClr val="1E0B4B"/>
                </a:solidFill>
                <a:latin typeface="Calibri" pitchFamily="34" charset="0"/>
                <a:ea typeface="Calibri" pitchFamily="34" charset="-122"/>
                <a:cs typeface="Calibri" pitchFamily="34" charset="-120"/>
              </a:rPr>
              <a:t>Empreinte 512D + similarité ≥ 0,40 ?</a:t>
            </a:r>
            <a:endParaRPr lang="en-US" sz="1100" dirty="0"/>
          </a:p>
        </p:txBody>
      </p:sp>
      <p:sp>
        <p:nvSpPr>
          <p:cNvPr id="46" name="Shape 40"/>
          <p:cNvSpPr/>
          <p:nvPr/>
        </p:nvSpPr>
        <p:spPr>
          <a:xfrm>
            <a:off x="320040" y="4992624"/>
            <a:ext cx="292608" cy="292608"/>
          </a:xfrm>
          <a:prstGeom prst="ellipse">
            <a:avLst/>
          </a:prstGeom>
          <a:solidFill>
            <a:srgbClr val="6A2BD9"/>
          </a:solidFill>
          <a:ln w="12700">
            <a:solidFill>
              <a:srgbClr val="6A2BD9"/>
            </a:solidFill>
            <a:prstDash val="solid"/>
          </a:ln>
        </p:spPr>
      </p:sp>
      <p:sp>
        <p:nvSpPr>
          <p:cNvPr id="47" name="Text 41"/>
          <p:cNvSpPr txBox="1"/>
          <p:nvPr/>
        </p:nvSpPr>
        <p:spPr>
          <a:xfrm>
            <a:off x="320040" y="499262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8" name="Shape 42"/>
          <p:cNvSpPr/>
          <p:nvPr/>
        </p:nvSpPr>
        <p:spPr>
          <a:xfrm flipH="1">
            <a:off x="1783080" y="5230368"/>
            <a:ext cx="2926080" cy="0"/>
          </a:xfrm>
          <a:prstGeom prst="line">
            <a:avLst/>
          </a:prstGeom>
          <a:noFill/>
          <a:ln w="22225">
            <a:solidFill>
              <a:srgbClr val="2EA35A"/>
            </a:solidFill>
            <a:prstDash val="dash"/>
            <a:tailEnd type="triangle"/>
          </a:ln>
        </p:spPr>
      </p:sp>
      <p:sp>
        <p:nvSpPr>
          <p:cNvPr id="49" name="Text 43"/>
          <p:cNvSpPr txBox="1"/>
          <p:nvPr/>
        </p:nvSpPr>
        <p:spPr>
          <a:xfrm>
            <a:off x="1737360" y="4956048"/>
            <a:ext cx="3017520" cy="237744"/>
          </a:xfrm>
          <a:prstGeom prst="rect">
            <a:avLst/>
          </a:prstGeom>
          <a:noFill/>
          <a:ln/>
        </p:spPr>
        <p:txBody>
          <a:bodyPr wrap="square" lIns="0" tIns="0" rIns="0" bIns="0" rtlCol="0" anchor="ctr"/>
          <a:lstStyle/>
          <a:p>
            <a:pPr algn="ctr" indent="0" marL="0">
              <a:buNone/>
            </a:pPr>
            <a:r>
              <a:rPr lang="en-US" sz="1100" dirty="0">
                <a:solidFill>
                  <a:srgbClr val="1F1A2E"/>
                </a:solidFill>
                <a:latin typeface="Calibri" pitchFamily="34" charset="0"/>
                <a:ea typeface="Calibri" pitchFamily="34" charset="-122"/>
                <a:cs typeface="Calibri" pitchFamily="34" charset="-120"/>
              </a:rPr>
              <a:t>Décision + nom de l'assuré</a:t>
            </a:r>
            <a:endParaRPr lang="en-US" sz="1100" dirty="0"/>
          </a:p>
        </p:txBody>
      </p:sp>
      <p:sp>
        <p:nvSpPr>
          <p:cNvPr id="50" name="Shape 44"/>
          <p:cNvSpPr/>
          <p:nvPr/>
        </p:nvSpPr>
        <p:spPr>
          <a:xfrm>
            <a:off x="320040" y="5468112"/>
            <a:ext cx="292608" cy="292608"/>
          </a:xfrm>
          <a:prstGeom prst="ellipse">
            <a:avLst/>
          </a:prstGeom>
          <a:solidFill>
            <a:srgbClr val="6A2BD9"/>
          </a:solidFill>
          <a:ln w="12700">
            <a:solidFill>
              <a:srgbClr val="6A2BD9"/>
            </a:solidFill>
            <a:prstDash val="solid"/>
          </a:ln>
        </p:spPr>
      </p:sp>
      <p:sp>
        <p:nvSpPr>
          <p:cNvPr id="51" name="Text 45"/>
          <p:cNvSpPr txBox="1"/>
          <p:nvPr/>
        </p:nvSpPr>
        <p:spPr>
          <a:xfrm>
            <a:off x="320040" y="54681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52" name="Shape 46"/>
          <p:cNvSpPr/>
          <p:nvPr/>
        </p:nvSpPr>
        <p:spPr>
          <a:xfrm>
            <a:off x="4800600" y="5705856"/>
            <a:ext cx="2926080" cy="0"/>
          </a:xfrm>
          <a:prstGeom prst="line">
            <a:avLst/>
          </a:prstGeom>
          <a:noFill/>
          <a:ln w="22225">
            <a:solidFill>
              <a:srgbClr val="8B5CF6"/>
            </a:solidFill>
            <a:prstDash val="solid"/>
            <a:tailEnd type="triangle"/>
          </a:ln>
        </p:spPr>
      </p:sp>
      <p:sp>
        <p:nvSpPr>
          <p:cNvPr id="53" name="Text 47"/>
          <p:cNvSpPr txBox="1"/>
          <p:nvPr/>
        </p:nvSpPr>
        <p:spPr>
          <a:xfrm>
            <a:off x="4754880" y="5431536"/>
            <a:ext cx="3017520" cy="237744"/>
          </a:xfrm>
          <a:prstGeom prst="rect">
            <a:avLst/>
          </a:prstGeom>
          <a:noFill/>
          <a:ln/>
        </p:spPr>
        <p:txBody>
          <a:bodyPr wrap="square" lIns="0" tIns="0" rIns="0" bIns="0" rtlCol="0" anchor="ctr"/>
          <a:lstStyle/>
          <a:p>
            <a:pPr algn="ctr" indent="0" marL="0">
              <a:buNone/>
            </a:pPr>
            <a:r>
              <a:rPr lang="en-US" sz="1100" dirty="0">
                <a:solidFill>
                  <a:srgbClr val="1F1A2E"/>
                </a:solidFill>
                <a:latin typeface="Courier New" pitchFamily="34" charset="0"/>
                <a:ea typeface="Courier New" pitchFamily="34" charset="-122"/>
                <a:cs typeface="Courier New" pitchFamily="34" charset="-120"/>
              </a:rPr>
              <a:t>createFeuilleSoins  →  PDF imprimé</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LE CŒUR TECHNOLOGIQUE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Du visage à une empreinte mathématique</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1325880" y="1691640"/>
            <a:ext cx="868680" cy="868680"/>
          </a:xfrm>
          <a:prstGeom prst="roundRect">
            <a:avLst>
              <a:gd name="adj" fmla="val 15789"/>
            </a:avLst>
          </a:prstGeom>
          <a:solidFill>
            <a:srgbClr val="6A2BD9"/>
          </a:solidFill>
          <a:ln w="12700">
            <a:solidFill>
              <a:srgbClr val="6A2BD9"/>
            </a:solidFill>
            <a:prstDash val="solid"/>
          </a:ln>
        </p:spPr>
      </p:sp>
      <p:pic>
        <p:nvPicPr>
          <p:cNvPr id="7" name="Image 0" descr="preencoded.png">    </p:cNvPr>
          <p:cNvPicPr>
            <a:picLocks noChangeAspect="1"/>
          </p:cNvPicPr>
          <p:nvPr/>
        </p:nvPicPr>
        <p:blipFill>
          <a:blip r:embed="rId1"/>
          <a:stretch>
            <a:fillRect/>
          </a:stretch>
        </p:blipFill>
        <p:spPr>
          <a:xfrm>
            <a:off x="1551737" y="1917497"/>
            <a:ext cx="416966" cy="416966"/>
          </a:xfrm>
          <a:prstGeom prst="rect">
            <a:avLst/>
          </a:prstGeom>
        </p:spPr>
      </p:pic>
      <p:sp>
        <p:nvSpPr>
          <p:cNvPr id="8" name="Text 5"/>
          <p:cNvSpPr txBox="1"/>
          <p:nvPr/>
        </p:nvSpPr>
        <p:spPr>
          <a:xfrm>
            <a:off x="548640" y="2651760"/>
            <a:ext cx="2423160" cy="365760"/>
          </a:xfrm>
          <a:prstGeom prst="rect">
            <a:avLst/>
          </a:prstGeom>
          <a:noFill/>
          <a:ln/>
        </p:spPr>
        <p:txBody>
          <a:bodyPr wrap="square" lIns="0" tIns="0" rIns="0" bIns="0" rtlCol="0" anchor="ctr"/>
          <a:lstStyle/>
          <a:p>
            <a:pPr algn="ctr" indent="0" marL="0">
              <a:buNone/>
            </a:pPr>
            <a:r>
              <a:rPr lang="en-US" sz="1500" b="1" dirty="0">
                <a:solidFill>
                  <a:srgbClr val="1F1A2E"/>
                </a:solidFill>
                <a:latin typeface="Calibri" pitchFamily="34" charset="0"/>
                <a:ea typeface="Calibri" pitchFamily="34" charset="-122"/>
                <a:cs typeface="Calibri" pitchFamily="34" charset="-120"/>
              </a:rPr>
              <a:t>Visage capté</a:t>
            </a:r>
            <a:endParaRPr lang="en-US" sz="1500" dirty="0"/>
          </a:p>
        </p:txBody>
      </p:sp>
      <p:sp>
        <p:nvSpPr>
          <p:cNvPr id="9" name="Text 6"/>
          <p:cNvSpPr txBox="1"/>
          <p:nvPr/>
        </p:nvSpPr>
        <p:spPr>
          <a:xfrm>
            <a:off x="2697480" y="1783080"/>
            <a:ext cx="731520" cy="640080"/>
          </a:xfrm>
          <a:prstGeom prst="rect">
            <a:avLst/>
          </a:prstGeom>
          <a:noFill/>
          <a:ln/>
        </p:spPr>
        <p:txBody>
          <a:bodyPr wrap="square" lIns="0" tIns="0" rIns="0" bIns="0" rtlCol="0" anchor="ctr"/>
          <a:lstStyle/>
          <a:p>
            <a:pPr algn="ctr" indent="0" marL="0">
              <a:buNone/>
            </a:pPr>
            <a:r>
              <a:rPr lang="en-US" sz="2800" dirty="0">
                <a:solidFill>
                  <a:srgbClr val="8B5CF6"/>
                </a:solidFill>
                <a:latin typeface="Calibri" pitchFamily="34" charset="0"/>
                <a:ea typeface="Calibri" pitchFamily="34" charset="-122"/>
                <a:cs typeface="Calibri" pitchFamily="34" charset="-120"/>
              </a:rPr>
              <a:t>→</a:t>
            </a:r>
            <a:endParaRPr lang="en-US" sz="2800" dirty="0"/>
          </a:p>
        </p:txBody>
      </p:sp>
      <p:sp>
        <p:nvSpPr>
          <p:cNvPr id="10" name="Shape 7"/>
          <p:cNvSpPr/>
          <p:nvPr/>
        </p:nvSpPr>
        <p:spPr>
          <a:xfrm>
            <a:off x="4160520" y="1691640"/>
            <a:ext cx="868680" cy="868680"/>
          </a:xfrm>
          <a:prstGeom prst="roundRect">
            <a:avLst>
              <a:gd name="adj" fmla="val 15789"/>
            </a:avLst>
          </a:prstGeom>
          <a:solidFill>
            <a:srgbClr val="6A2BD9"/>
          </a:solidFill>
          <a:ln w="12700">
            <a:solidFill>
              <a:srgbClr val="6A2BD9"/>
            </a:solidFill>
            <a:prstDash val="solid"/>
          </a:ln>
        </p:spPr>
      </p:sp>
      <p:pic>
        <p:nvPicPr>
          <p:cNvPr id="11" name="Image 1" descr="preencoded.png">    </p:cNvPr>
          <p:cNvPicPr>
            <a:picLocks noChangeAspect="1"/>
          </p:cNvPicPr>
          <p:nvPr/>
        </p:nvPicPr>
        <p:blipFill>
          <a:blip r:embed="rId2"/>
          <a:stretch>
            <a:fillRect/>
          </a:stretch>
        </p:blipFill>
        <p:spPr>
          <a:xfrm>
            <a:off x="4386377" y="1917497"/>
            <a:ext cx="416966" cy="416966"/>
          </a:xfrm>
          <a:prstGeom prst="rect">
            <a:avLst/>
          </a:prstGeom>
        </p:spPr>
      </p:pic>
      <p:sp>
        <p:nvSpPr>
          <p:cNvPr id="12" name="Text 8"/>
          <p:cNvSpPr txBox="1"/>
          <p:nvPr/>
        </p:nvSpPr>
        <p:spPr>
          <a:xfrm>
            <a:off x="3383280" y="2651760"/>
            <a:ext cx="2423160" cy="365760"/>
          </a:xfrm>
          <a:prstGeom prst="rect">
            <a:avLst/>
          </a:prstGeom>
          <a:noFill/>
          <a:ln/>
        </p:spPr>
        <p:txBody>
          <a:bodyPr wrap="square" lIns="0" tIns="0" rIns="0" bIns="0" rtlCol="0" anchor="ctr"/>
          <a:lstStyle/>
          <a:p>
            <a:pPr algn="ctr" indent="0" marL="0">
              <a:buNone/>
            </a:pPr>
            <a:r>
              <a:rPr lang="en-US" sz="1500" b="1" dirty="0">
                <a:solidFill>
                  <a:srgbClr val="1F1A2E"/>
                </a:solidFill>
                <a:latin typeface="Calibri" pitchFamily="34" charset="0"/>
                <a:ea typeface="Calibri" pitchFamily="34" charset="-122"/>
                <a:cs typeface="Calibri" pitchFamily="34" charset="-120"/>
              </a:rPr>
              <a:t>Détection et alignement</a:t>
            </a:r>
            <a:endParaRPr lang="en-US" sz="1500" dirty="0"/>
          </a:p>
        </p:txBody>
      </p:sp>
      <p:sp>
        <p:nvSpPr>
          <p:cNvPr id="13" name="Text 9"/>
          <p:cNvSpPr txBox="1"/>
          <p:nvPr/>
        </p:nvSpPr>
        <p:spPr>
          <a:xfrm>
            <a:off x="5532120" y="1783080"/>
            <a:ext cx="731520" cy="640080"/>
          </a:xfrm>
          <a:prstGeom prst="rect">
            <a:avLst/>
          </a:prstGeom>
          <a:noFill/>
          <a:ln/>
        </p:spPr>
        <p:txBody>
          <a:bodyPr wrap="square" lIns="0" tIns="0" rIns="0" bIns="0" rtlCol="0" anchor="ctr"/>
          <a:lstStyle/>
          <a:p>
            <a:pPr algn="ctr" indent="0" marL="0">
              <a:buNone/>
            </a:pPr>
            <a:r>
              <a:rPr lang="en-US" sz="2800" dirty="0">
                <a:solidFill>
                  <a:srgbClr val="8B5CF6"/>
                </a:solidFill>
                <a:latin typeface="Calibri" pitchFamily="34" charset="0"/>
                <a:ea typeface="Calibri" pitchFamily="34" charset="-122"/>
                <a:cs typeface="Calibri" pitchFamily="34" charset="-120"/>
              </a:rPr>
              <a:t>→</a:t>
            </a:r>
            <a:endParaRPr lang="en-US" sz="2800" dirty="0"/>
          </a:p>
        </p:txBody>
      </p:sp>
      <p:sp>
        <p:nvSpPr>
          <p:cNvPr id="14" name="Shape 10"/>
          <p:cNvSpPr/>
          <p:nvPr/>
        </p:nvSpPr>
        <p:spPr>
          <a:xfrm>
            <a:off x="6995160" y="1691640"/>
            <a:ext cx="868680" cy="868680"/>
          </a:xfrm>
          <a:prstGeom prst="roundRect">
            <a:avLst>
              <a:gd name="adj" fmla="val 15789"/>
            </a:avLst>
          </a:prstGeom>
          <a:solidFill>
            <a:srgbClr val="6A2BD9"/>
          </a:solidFill>
          <a:ln w="12700">
            <a:solidFill>
              <a:srgbClr val="6A2BD9"/>
            </a:solidFill>
            <a:prstDash val="solid"/>
          </a:ln>
        </p:spPr>
      </p:sp>
      <p:pic>
        <p:nvPicPr>
          <p:cNvPr id="15" name="Image 2" descr="preencoded.png">    </p:cNvPr>
          <p:cNvPicPr>
            <a:picLocks noChangeAspect="1"/>
          </p:cNvPicPr>
          <p:nvPr/>
        </p:nvPicPr>
        <p:blipFill>
          <a:blip r:embed="rId3"/>
          <a:stretch>
            <a:fillRect/>
          </a:stretch>
        </p:blipFill>
        <p:spPr>
          <a:xfrm>
            <a:off x="7221017" y="1917497"/>
            <a:ext cx="416966" cy="416966"/>
          </a:xfrm>
          <a:prstGeom prst="rect">
            <a:avLst/>
          </a:prstGeom>
        </p:spPr>
      </p:pic>
      <p:sp>
        <p:nvSpPr>
          <p:cNvPr id="16" name="Text 11"/>
          <p:cNvSpPr txBox="1"/>
          <p:nvPr/>
        </p:nvSpPr>
        <p:spPr>
          <a:xfrm>
            <a:off x="6217920" y="2651760"/>
            <a:ext cx="2423160" cy="365760"/>
          </a:xfrm>
          <a:prstGeom prst="rect">
            <a:avLst/>
          </a:prstGeom>
          <a:noFill/>
          <a:ln/>
        </p:spPr>
        <p:txBody>
          <a:bodyPr wrap="square" lIns="0" tIns="0" rIns="0" bIns="0" rtlCol="0" anchor="ctr"/>
          <a:lstStyle/>
          <a:p>
            <a:pPr algn="ctr" indent="0" marL="0">
              <a:buNone/>
            </a:pPr>
            <a:r>
              <a:rPr lang="en-US" sz="1500" b="1" dirty="0">
                <a:solidFill>
                  <a:srgbClr val="1F1A2E"/>
                </a:solidFill>
                <a:latin typeface="Calibri" pitchFamily="34" charset="0"/>
                <a:ea typeface="Calibri" pitchFamily="34" charset="-122"/>
                <a:cs typeface="Calibri" pitchFamily="34" charset="-120"/>
              </a:rPr>
              <a:t>Vecteur de 512 nombres</a:t>
            </a:r>
            <a:endParaRPr lang="en-US" sz="1500" dirty="0"/>
          </a:p>
        </p:txBody>
      </p:sp>
      <p:sp>
        <p:nvSpPr>
          <p:cNvPr id="17" name="Text 12"/>
          <p:cNvSpPr txBox="1"/>
          <p:nvPr/>
        </p:nvSpPr>
        <p:spPr>
          <a:xfrm>
            <a:off x="8366760" y="1783080"/>
            <a:ext cx="731520" cy="640080"/>
          </a:xfrm>
          <a:prstGeom prst="rect">
            <a:avLst/>
          </a:prstGeom>
          <a:noFill/>
          <a:ln/>
        </p:spPr>
        <p:txBody>
          <a:bodyPr wrap="square" lIns="0" tIns="0" rIns="0" bIns="0" rtlCol="0" anchor="ctr"/>
          <a:lstStyle/>
          <a:p>
            <a:pPr algn="ctr" indent="0" marL="0">
              <a:buNone/>
            </a:pPr>
            <a:r>
              <a:rPr lang="en-US" sz="2800" dirty="0">
                <a:solidFill>
                  <a:srgbClr val="8B5CF6"/>
                </a:solidFill>
                <a:latin typeface="Calibri" pitchFamily="34" charset="0"/>
                <a:ea typeface="Calibri" pitchFamily="34" charset="-122"/>
                <a:cs typeface="Calibri" pitchFamily="34" charset="-120"/>
              </a:rPr>
              <a:t>→</a:t>
            </a:r>
            <a:endParaRPr lang="en-US" sz="2800" dirty="0"/>
          </a:p>
        </p:txBody>
      </p:sp>
      <p:sp>
        <p:nvSpPr>
          <p:cNvPr id="18" name="Shape 13"/>
          <p:cNvSpPr/>
          <p:nvPr/>
        </p:nvSpPr>
        <p:spPr>
          <a:xfrm>
            <a:off x="9829800" y="1691640"/>
            <a:ext cx="868680" cy="868680"/>
          </a:xfrm>
          <a:prstGeom prst="roundRect">
            <a:avLst>
              <a:gd name="adj" fmla="val 15789"/>
            </a:avLst>
          </a:prstGeom>
          <a:solidFill>
            <a:srgbClr val="F28C28"/>
          </a:solidFill>
          <a:ln w="12700">
            <a:solidFill>
              <a:srgbClr val="F28C28"/>
            </a:solidFill>
            <a:prstDash val="solid"/>
          </a:ln>
        </p:spPr>
      </p:sp>
      <p:pic>
        <p:nvPicPr>
          <p:cNvPr id="19" name="Image 3" descr="preencoded.png">    </p:cNvPr>
          <p:cNvPicPr>
            <a:picLocks noChangeAspect="1"/>
          </p:cNvPicPr>
          <p:nvPr/>
        </p:nvPicPr>
        <p:blipFill>
          <a:blip r:embed="rId4"/>
          <a:stretch>
            <a:fillRect/>
          </a:stretch>
        </p:blipFill>
        <p:spPr>
          <a:xfrm>
            <a:off x="10055657" y="1917497"/>
            <a:ext cx="416966" cy="416966"/>
          </a:xfrm>
          <a:prstGeom prst="rect">
            <a:avLst/>
          </a:prstGeom>
        </p:spPr>
      </p:pic>
      <p:sp>
        <p:nvSpPr>
          <p:cNvPr id="20" name="Text 14"/>
          <p:cNvSpPr txBox="1"/>
          <p:nvPr/>
        </p:nvSpPr>
        <p:spPr>
          <a:xfrm>
            <a:off x="9052560" y="2651760"/>
            <a:ext cx="2423160" cy="365760"/>
          </a:xfrm>
          <a:prstGeom prst="rect">
            <a:avLst/>
          </a:prstGeom>
          <a:noFill/>
          <a:ln/>
        </p:spPr>
        <p:txBody>
          <a:bodyPr wrap="square" lIns="0" tIns="0" rIns="0" bIns="0" rtlCol="0" anchor="ctr"/>
          <a:lstStyle/>
          <a:p>
            <a:pPr algn="ctr" indent="0" marL="0">
              <a:buNone/>
            </a:pPr>
            <a:r>
              <a:rPr lang="en-US" sz="1500" b="1" dirty="0">
                <a:solidFill>
                  <a:srgbClr val="1F1A2E"/>
                </a:solidFill>
                <a:latin typeface="Calibri" pitchFamily="34" charset="0"/>
                <a:ea typeface="Calibri" pitchFamily="34" charset="-122"/>
                <a:cs typeface="Calibri" pitchFamily="34" charset="-120"/>
              </a:rPr>
              <a:t>Similarité cosinus</a:t>
            </a:r>
            <a:endParaRPr lang="en-US" sz="1500" dirty="0"/>
          </a:p>
        </p:txBody>
      </p:sp>
      <p:sp>
        <p:nvSpPr>
          <p:cNvPr id="21" name="Shape 15"/>
          <p:cNvSpPr/>
          <p:nvPr/>
        </p:nvSpPr>
        <p:spPr>
          <a:xfrm>
            <a:off x="548640" y="3474720"/>
            <a:ext cx="3520440" cy="1645920"/>
          </a:xfrm>
          <a:prstGeom prst="roundRect">
            <a:avLst>
              <a:gd name="adj" fmla="val 6667"/>
            </a:avLst>
          </a:prstGeom>
          <a:solidFill>
            <a:srgbClr val="FAF8FF"/>
          </a:solidFill>
          <a:ln w="12700">
            <a:solidFill>
              <a:srgbClr val="E4DCF7"/>
            </a:solidFill>
            <a:prstDash val="solid"/>
          </a:ln>
        </p:spPr>
      </p:sp>
      <p:sp>
        <p:nvSpPr>
          <p:cNvPr id="22" name="Text 16"/>
          <p:cNvSpPr txBox="1"/>
          <p:nvPr/>
        </p:nvSpPr>
        <p:spPr>
          <a:xfrm>
            <a:off x="822960" y="3611880"/>
            <a:ext cx="3017520" cy="868680"/>
          </a:xfrm>
          <a:prstGeom prst="rect">
            <a:avLst/>
          </a:prstGeom>
          <a:noFill/>
          <a:ln/>
        </p:spPr>
        <p:txBody>
          <a:bodyPr wrap="square" lIns="0" tIns="0" rIns="0" bIns="0" rtlCol="0" anchor="ctr"/>
          <a:lstStyle/>
          <a:p>
            <a:pPr indent="0" marL="0">
              <a:buNone/>
            </a:pPr>
            <a:r>
              <a:rPr lang="en-US" sz="4800" b="1" dirty="0">
                <a:solidFill>
                  <a:srgbClr val="6A2BD9"/>
                </a:solidFill>
                <a:latin typeface="Arial" pitchFamily="34" charset="0"/>
                <a:ea typeface="Arial" pitchFamily="34" charset="-122"/>
                <a:cs typeface="Arial" pitchFamily="34" charset="-120"/>
              </a:rPr>
              <a:t>512</a:t>
            </a:r>
            <a:endParaRPr lang="en-US" sz="4800" dirty="0"/>
          </a:p>
        </p:txBody>
      </p:sp>
      <p:sp>
        <p:nvSpPr>
          <p:cNvPr id="23" name="Text 17"/>
          <p:cNvSpPr txBox="1"/>
          <p:nvPr/>
        </p:nvSpPr>
        <p:spPr>
          <a:xfrm>
            <a:off x="822960" y="4526280"/>
            <a:ext cx="3017520" cy="457200"/>
          </a:xfrm>
          <a:prstGeom prst="rect">
            <a:avLst/>
          </a:prstGeom>
          <a:noFill/>
          <a:ln/>
        </p:spPr>
        <p:txBody>
          <a:bodyPr wrap="square" lIns="0" tIns="0" rIns="0" bIns="0" rtlCol="0" anchor="ctr"/>
          <a:lstStyle/>
          <a:p>
            <a:pPr indent="0" marL="0">
              <a:buNone/>
            </a:pPr>
            <a:r>
              <a:rPr lang="en-US" sz="1400" dirty="0">
                <a:solidFill>
                  <a:srgbClr val="6B6780"/>
                </a:solidFill>
                <a:latin typeface="Calibri" pitchFamily="34" charset="0"/>
                <a:ea typeface="Calibri" pitchFamily="34" charset="-122"/>
                <a:cs typeface="Calibri" pitchFamily="34" charset="-120"/>
              </a:rPr>
              <a:t>dimensions par empreinte faciale</a:t>
            </a:r>
            <a:endParaRPr lang="en-US" sz="1400" dirty="0"/>
          </a:p>
        </p:txBody>
      </p:sp>
      <p:sp>
        <p:nvSpPr>
          <p:cNvPr id="24" name="Shape 18"/>
          <p:cNvSpPr/>
          <p:nvPr/>
        </p:nvSpPr>
        <p:spPr>
          <a:xfrm>
            <a:off x="4297680" y="3474720"/>
            <a:ext cx="3520440" cy="1645920"/>
          </a:xfrm>
          <a:prstGeom prst="roundRect">
            <a:avLst>
              <a:gd name="adj" fmla="val 6667"/>
            </a:avLst>
          </a:prstGeom>
          <a:solidFill>
            <a:srgbClr val="FAF8FF"/>
          </a:solidFill>
          <a:ln w="12700">
            <a:solidFill>
              <a:srgbClr val="E4DCF7"/>
            </a:solidFill>
            <a:prstDash val="solid"/>
          </a:ln>
        </p:spPr>
      </p:sp>
      <p:sp>
        <p:nvSpPr>
          <p:cNvPr id="25" name="Text 19"/>
          <p:cNvSpPr txBox="1"/>
          <p:nvPr/>
        </p:nvSpPr>
        <p:spPr>
          <a:xfrm>
            <a:off x="4572000" y="3611880"/>
            <a:ext cx="3017520" cy="868680"/>
          </a:xfrm>
          <a:prstGeom prst="rect">
            <a:avLst/>
          </a:prstGeom>
          <a:noFill/>
          <a:ln/>
        </p:spPr>
        <p:txBody>
          <a:bodyPr wrap="square" lIns="0" tIns="0" rIns="0" bIns="0" rtlCol="0" anchor="ctr"/>
          <a:lstStyle/>
          <a:p>
            <a:pPr indent="0" marL="0">
              <a:buNone/>
            </a:pPr>
            <a:r>
              <a:rPr lang="en-US" sz="4800" b="1" dirty="0">
                <a:solidFill>
                  <a:srgbClr val="6A2BD9"/>
                </a:solidFill>
                <a:latin typeface="Arial" pitchFamily="34" charset="0"/>
                <a:ea typeface="Arial" pitchFamily="34" charset="-122"/>
                <a:cs typeface="Arial" pitchFamily="34" charset="-120"/>
              </a:rPr>
              <a:t>0,40</a:t>
            </a:r>
            <a:endParaRPr lang="en-US" sz="4800" dirty="0"/>
          </a:p>
        </p:txBody>
      </p:sp>
      <p:sp>
        <p:nvSpPr>
          <p:cNvPr id="26" name="Text 20"/>
          <p:cNvSpPr txBox="1"/>
          <p:nvPr/>
        </p:nvSpPr>
        <p:spPr>
          <a:xfrm>
            <a:off x="4572000" y="4526280"/>
            <a:ext cx="3017520" cy="457200"/>
          </a:xfrm>
          <a:prstGeom prst="rect">
            <a:avLst/>
          </a:prstGeom>
          <a:noFill/>
          <a:ln/>
        </p:spPr>
        <p:txBody>
          <a:bodyPr wrap="square" lIns="0" tIns="0" rIns="0" bIns="0" rtlCol="0" anchor="ctr"/>
          <a:lstStyle/>
          <a:p>
            <a:pPr indent="0" marL="0">
              <a:buNone/>
            </a:pPr>
            <a:r>
              <a:rPr lang="en-US" sz="1400" dirty="0">
                <a:solidFill>
                  <a:srgbClr val="6B6780"/>
                </a:solidFill>
                <a:latin typeface="Calibri" pitchFamily="34" charset="0"/>
                <a:ea typeface="Calibri" pitchFamily="34" charset="-122"/>
                <a:cs typeface="Calibri" pitchFamily="34" charset="-120"/>
              </a:rPr>
              <a:t>seuil de décision retenu</a:t>
            </a:r>
            <a:endParaRPr lang="en-US" sz="1400" dirty="0"/>
          </a:p>
        </p:txBody>
      </p:sp>
      <p:sp>
        <p:nvSpPr>
          <p:cNvPr id="27" name="Shape 21"/>
          <p:cNvSpPr/>
          <p:nvPr/>
        </p:nvSpPr>
        <p:spPr>
          <a:xfrm>
            <a:off x="8046720" y="3474720"/>
            <a:ext cx="3520440" cy="1645920"/>
          </a:xfrm>
          <a:prstGeom prst="roundRect">
            <a:avLst>
              <a:gd name="adj" fmla="val 6667"/>
            </a:avLst>
          </a:prstGeom>
          <a:solidFill>
            <a:srgbClr val="FAF8FF"/>
          </a:solidFill>
          <a:ln w="12700">
            <a:solidFill>
              <a:srgbClr val="E4DCF7"/>
            </a:solidFill>
            <a:prstDash val="solid"/>
          </a:ln>
        </p:spPr>
      </p:sp>
      <p:sp>
        <p:nvSpPr>
          <p:cNvPr id="28" name="Text 22"/>
          <p:cNvSpPr txBox="1"/>
          <p:nvPr/>
        </p:nvSpPr>
        <p:spPr>
          <a:xfrm>
            <a:off x="8321040" y="3611880"/>
            <a:ext cx="3017520" cy="868680"/>
          </a:xfrm>
          <a:prstGeom prst="rect">
            <a:avLst/>
          </a:prstGeom>
          <a:noFill/>
          <a:ln/>
        </p:spPr>
        <p:txBody>
          <a:bodyPr wrap="square" lIns="0" tIns="0" rIns="0" bIns="0" rtlCol="0" anchor="ctr"/>
          <a:lstStyle/>
          <a:p>
            <a:pPr indent="0" marL="0">
              <a:buNone/>
            </a:pPr>
            <a:r>
              <a:rPr lang="en-US" sz="4800" b="1" dirty="0">
                <a:solidFill>
                  <a:srgbClr val="6A2BD9"/>
                </a:solidFill>
                <a:latin typeface="Arial" pitchFamily="34" charset="0"/>
                <a:ea typeface="Arial" pitchFamily="34" charset="-122"/>
                <a:cs typeface="Arial" pitchFamily="34" charset="-120"/>
              </a:rPr>
              <a:t>&lt; 1 min</a:t>
            </a:r>
            <a:endParaRPr lang="en-US" sz="4800" dirty="0"/>
          </a:p>
        </p:txBody>
      </p:sp>
      <p:sp>
        <p:nvSpPr>
          <p:cNvPr id="29" name="Text 23"/>
          <p:cNvSpPr txBox="1"/>
          <p:nvPr/>
        </p:nvSpPr>
        <p:spPr>
          <a:xfrm>
            <a:off x="8321040" y="4526280"/>
            <a:ext cx="3017520" cy="457200"/>
          </a:xfrm>
          <a:prstGeom prst="rect">
            <a:avLst/>
          </a:prstGeom>
          <a:noFill/>
          <a:ln/>
        </p:spPr>
        <p:txBody>
          <a:bodyPr wrap="square" lIns="0" tIns="0" rIns="0" bIns="0" rtlCol="0" anchor="ctr"/>
          <a:lstStyle/>
          <a:p>
            <a:pPr indent="0" marL="0">
              <a:buNone/>
            </a:pPr>
            <a:r>
              <a:rPr lang="en-US" sz="1400" dirty="0">
                <a:solidFill>
                  <a:srgbClr val="6B6780"/>
                </a:solidFill>
                <a:latin typeface="Calibri" pitchFamily="34" charset="0"/>
                <a:ea typeface="Calibri" pitchFamily="34" charset="-122"/>
                <a:cs typeface="Calibri" pitchFamily="34" charset="-120"/>
              </a:rPr>
              <a:t>pour qu'un nouvel adhérent soit vérifiable</a:t>
            </a:r>
            <a:endParaRPr lang="en-US" sz="1400" dirty="0"/>
          </a:p>
        </p:txBody>
      </p:sp>
      <p:sp>
        <p:nvSpPr>
          <p:cNvPr id="30" name="Text 24"/>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400" i="1" dirty="0">
                <a:solidFill>
                  <a:srgbClr val="1F1A2E"/>
                </a:solidFill>
                <a:latin typeface="Calibri" pitchFamily="34" charset="0"/>
                <a:ea typeface="Calibri" pitchFamily="34" charset="-122"/>
                <a:cs typeface="Calibri" pitchFamily="34" charset="-120"/>
              </a:rPr>
              <a:t>La photo n'est jamais utilisée dans la décision : seule l'empreinte est comparée. Elle reste une donnée biométrique, protégée comme une donnée sensible.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DEUX NIVEAUX DE SOLUTION</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Version Light et Version Avancée</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600200"/>
            <a:ext cx="5440680" cy="4526280"/>
          </a:xfrm>
          <a:prstGeom prst="roundRect">
            <a:avLst>
              <a:gd name="adj" fmla="val 3030"/>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7" name="Text 5"/>
          <p:cNvSpPr txBox="1"/>
          <p:nvPr/>
        </p:nvSpPr>
        <p:spPr>
          <a:xfrm>
            <a:off x="914400" y="1828800"/>
            <a:ext cx="45720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DISPONIBLE</a:t>
            </a:r>
            <a:endParaRPr lang="en-US" sz="1200" dirty="0"/>
          </a:p>
        </p:txBody>
      </p:sp>
      <p:sp>
        <p:nvSpPr>
          <p:cNvPr id="8" name="Text 6"/>
          <p:cNvSpPr txBox="1"/>
          <p:nvPr/>
        </p:nvSpPr>
        <p:spPr>
          <a:xfrm>
            <a:off x="914400" y="2103120"/>
            <a:ext cx="4754880" cy="548640"/>
          </a:xfrm>
          <a:prstGeom prst="rect">
            <a:avLst/>
          </a:prstGeom>
          <a:noFill/>
          <a:ln/>
        </p:spPr>
        <p:txBody>
          <a:bodyPr wrap="square" lIns="0" tIns="0" rIns="0" bIns="0" rtlCol="0" anchor="ctr"/>
          <a:lstStyle/>
          <a:p>
            <a:pPr indent="0" marL="0">
              <a:buNone/>
            </a:pPr>
            <a:r>
              <a:rPr lang="en-US" sz="2600" b="1" dirty="0">
                <a:solidFill>
                  <a:srgbClr val="1F1A2E"/>
                </a:solidFill>
                <a:latin typeface="Arial" pitchFamily="34" charset="0"/>
                <a:ea typeface="Arial" pitchFamily="34" charset="-122"/>
                <a:cs typeface="Arial" pitchFamily="34" charset="-120"/>
              </a:rPr>
              <a:t>Version Light</a:t>
            </a:r>
            <a:endParaRPr lang="en-US" sz="2600" dirty="0"/>
          </a:p>
        </p:txBody>
      </p:sp>
      <p:sp>
        <p:nvSpPr>
          <p:cNvPr id="9" name="Text 7"/>
          <p:cNvSpPr txBox="1"/>
          <p:nvPr/>
        </p:nvSpPr>
        <p:spPr>
          <a:xfrm>
            <a:off x="914400" y="2651760"/>
            <a:ext cx="4754880" cy="411480"/>
          </a:xfrm>
          <a:prstGeom prst="rect">
            <a:avLst/>
          </a:prstGeom>
          <a:noFill/>
          <a:ln/>
        </p:spPr>
        <p:txBody>
          <a:bodyPr wrap="square" lIns="0" tIns="0" rIns="0" bIns="0" rtlCol="0" anchor="ctr"/>
          <a:lstStyle/>
          <a:p>
            <a:pPr indent="0" marL="0">
              <a:buNone/>
            </a:pPr>
            <a:r>
              <a:rPr lang="en-US" sz="1400" i="1" dirty="0">
                <a:solidFill>
                  <a:srgbClr val="6B6780"/>
                </a:solidFill>
                <a:latin typeface="Calibri" pitchFamily="34" charset="0"/>
                <a:ea typeface="Calibri" pitchFamily="34" charset="-122"/>
                <a:cs typeface="Calibri" pitchFamily="34" charset="-120"/>
              </a:rPr>
              <a:t>Vérification 1:1 — « Êtes-vous bien ce titulaire ? »</a:t>
            </a:r>
            <a:endParaRPr lang="en-US" sz="1400" dirty="0"/>
          </a:p>
        </p:txBody>
      </p:sp>
      <p:sp>
        <p:nvSpPr>
          <p:cNvPr id="10" name="Shape 8"/>
          <p:cNvSpPr/>
          <p:nvPr/>
        </p:nvSpPr>
        <p:spPr>
          <a:xfrm>
            <a:off x="914400" y="3246120"/>
            <a:ext cx="457200" cy="457200"/>
          </a:xfrm>
          <a:prstGeom prst="roundRect">
            <a:avLst>
              <a:gd name="adj" fmla="val 30000"/>
            </a:avLst>
          </a:prstGeom>
          <a:solidFill>
            <a:srgbClr val="6A2BD9"/>
          </a:solidFill>
          <a:ln w="12700">
            <a:solidFill>
              <a:srgbClr val="6A2BD9"/>
            </a:solidFill>
            <a:prstDash val="solid"/>
          </a:ln>
        </p:spPr>
      </p:sp>
      <p:pic>
        <p:nvPicPr>
          <p:cNvPr id="11" name="Image 0" descr="preencoded.png">    </p:cNvPr>
          <p:cNvPicPr>
            <a:picLocks noChangeAspect="1"/>
          </p:cNvPicPr>
          <p:nvPr/>
        </p:nvPicPr>
        <p:blipFill>
          <a:blip r:embed="rId1"/>
          <a:stretch>
            <a:fillRect/>
          </a:stretch>
        </p:blipFill>
        <p:spPr>
          <a:xfrm>
            <a:off x="1033272" y="3364992"/>
            <a:ext cx="219456" cy="219456"/>
          </a:xfrm>
          <a:prstGeom prst="rect">
            <a:avLst/>
          </a:prstGeom>
        </p:spPr>
      </p:pic>
      <p:sp>
        <p:nvSpPr>
          <p:cNvPr id="12" name="Text 9"/>
          <p:cNvSpPr txBox="1"/>
          <p:nvPr/>
        </p:nvSpPr>
        <p:spPr>
          <a:xfrm>
            <a:off x="1554480" y="3227832"/>
            <a:ext cx="4206240" cy="502920"/>
          </a:xfrm>
          <a:prstGeom prst="rect">
            <a:avLst/>
          </a:prstGeom>
          <a:noFill/>
          <a:ln/>
        </p:spPr>
        <p:txBody>
          <a:bodyPr wrap="square" lIns="0" tIns="0" rIns="0" bIns="0" rtlCol="0" anchor="ctr"/>
          <a:lstStyle/>
          <a:p>
            <a:pPr indent="0" marL="0">
              <a:buNone/>
            </a:pPr>
            <a:r>
              <a:rPr lang="en-US" sz="1400" dirty="0">
                <a:solidFill>
                  <a:srgbClr val="1F1A2E"/>
                </a:solidFill>
                <a:latin typeface="Calibri" pitchFamily="34" charset="0"/>
                <a:ea typeface="Calibri" pitchFamily="34" charset="-122"/>
                <a:cs typeface="Calibri" pitchFamily="34" charset="-120"/>
              </a:rPr>
              <a:t>Lecture de l'empreinte par matricule</a:t>
            </a:r>
            <a:endParaRPr lang="en-US" sz="1400" dirty="0"/>
          </a:p>
        </p:txBody>
      </p:sp>
      <p:sp>
        <p:nvSpPr>
          <p:cNvPr id="13" name="Shape 10"/>
          <p:cNvSpPr/>
          <p:nvPr/>
        </p:nvSpPr>
        <p:spPr>
          <a:xfrm>
            <a:off x="914400" y="3931920"/>
            <a:ext cx="457200" cy="457200"/>
          </a:xfrm>
          <a:prstGeom prst="roundRect">
            <a:avLst>
              <a:gd name="adj" fmla="val 30000"/>
            </a:avLst>
          </a:prstGeom>
          <a:solidFill>
            <a:srgbClr val="6A2BD9"/>
          </a:solidFill>
          <a:ln w="12700">
            <a:solidFill>
              <a:srgbClr val="6A2BD9"/>
            </a:solidFill>
            <a:prstDash val="solid"/>
          </a:ln>
        </p:spPr>
      </p:sp>
      <p:pic>
        <p:nvPicPr>
          <p:cNvPr id="14" name="Image 1" descr="preencoded.png">    </p:cNvPr>
          <p:cNvPicPr>
            <a:picLocks noChangeAspect="1"/>
          </p:cNvPicPr>
          <p:nvPr/>
        </p:nvPicPr>
        <p:blipFill>
          <a:blip r:embed="rId2"/>
          <a:stretch>
            <a:fillRect/>
          </a:stretch>
        </p:blipFill>
        <p:spPr>
          <a:xfrm>
            <a:off x="1033272" y="4050792"/>
            <a:ext cx="219456" cy="219456"/>
          </a:xfrm>
          <a:prstGeom prst="rect">
            <a:avLst/>
          </a:prstGeom>
        </p:spPr>
      </p:pic>
      <p:sp>
        <p:nvSpPr>
          <p:cNvPr id="15" name="Text 11"/>
          <p:cNvSpPr txBox="1"/>
          <p:nvPr/>
        </p:nvSpPr>
        <p:spPr>
          <a:xfrm>
            <a:off x="1554480" y="3913632"/>
            <a:ext cx="4206240" cy="502920"/>
          </a:xfrm>
          <a:prstGeom prst="rect">
            <a:avLst/>
          </a:prstGeom>
          <a:noFill/>
          <a:ln/>
        </p:spPr>
        <p:txBody>
          <a:bodyPr wrap="square" lIns="0" tIns="0" rIns="0" bIns="0" rtlCol="0" anchor="ctr"/>
          <a:lstStyle/>
          <a:p>
            <a:pPr indent="0" marL="0">
              <a:buNone/>
            </a:pPr>
            <a:r>
              <a:rPr lang="en-US" sz="1400" dirty="0">
                <a:solidFill>
                  <a:srgbClr val="1F1A2E"/>
                </a:solidFill>
                <a:latin typeface="Calibri" pitchFamily="34" charset="0"/>
                <a:ea typeface="Calibri" pitchFamily="34" charset="-122"/>
                <a:cs typeface="Calibri" pitchFamily="34" charset="-120"/>
              </a:rPr>
              <a:t>Comparaison directe avec le visage capté</a:t>
            </a:r>
            <a:endParaRPr lang="en-US" sz="1400" dirty="0"/>
          </a:p>
        </p:txBody>
      </p:sp>
      <p:sp>
        <p:nvSpPr>
          <p:cNvPr id="16" name="Shape 12"/>
          <p:cNvSpPr/>
          <p:nvPr/>
        </p:nvSpPr>
        <p:spPr>
          <a:xfrm>
            <a:off x="914400" y="4617720"/>
            <a:ext cx="457200" cy="457200"/>
          </a:xfrm>
          <a:prstGeom prst="roundRect">
            <a:avLst>
              <a:gd name="adj" fmla="val 30000"/>
            </a:avLst>
          </a:prstGeom>
          <a:solidFill>
            <a:srgbClr val="6A2BD9"/>
          </a:solidFill>
          <a:ln w="12700">
            <a:solidFill>
              <a:srgbClr val="6A2BD9"/>
            </a:solidFill>
            <a:prstDash val="solid"/>
          </a:ln>
        </p:spPr>
      </p:sp>
      <p:pic>
        <p:nvPicPr>
          <p:cNvPr id="17" name="Image 2" descr="preencoded.png">    </p:cNvPr>
          <p:cNvPicPr>
            <a:picLocks noChangeAspect="1"/>
          </p:cNvPicPr>
          <p:nvPr/>
        </p:nvPicPr>
        <p:blipFill>
          <a:blip r:embed="rId3"/>
          <a:stretch>
            <a:fillRect/>
          </a:stretch>
        </p:blipFill>
        <p:spPr>
          <a:xfrm>
            <a:off x="1033272" y="4736592"/>
            <a:ext cx="219456" cy="219456"/>
          </a:xfrm>
          <a:prstGeom prst="rect">
            <a:avLst/>
          </a:prstGeom>
        </p:spPr>
      </p:pic>
      <p:sp>
        <p:nvSpPr>
          <p:cNvPr id="18" name="Text 13"/>
          <p:cNvSpPr txBox="1"/>
          <p:nvPr/>
        </p:nvSpPr>
        <p:spPr>
          <a:xfrm>
            <a:off x="1554480" y="4599432"/>
            <a:ext cx="4206240" cy="502920"/>
          </a:xfrm>
          <a:prstGeom prst="rect">
            <a:avLst/>
          </a:prstGeom>
          <a:noFill/>
          <a:ln/>
        </p:spPr>
        <p:txBody>
          <a:bodyPr wrap="square" lIns="0" tIns="0" rIns="0" bIns="0" rtlCol="0" anchor="ctr"/>
          <a:lstStyle/>
          <a:p>
            <a:pPr indent="0" marL="0">
              <a:buNone/>
            </a:pPr>
            <a:r>
              <a:rPr lang="en-US" sz="1400" dirty="0">
                <a:solidFill>
                  <a:srgbClr val="1F1A2E"/>
                </a:solidFill>
                <a:latin typeface="Calibri" pitchFamily="34" charset="0"/>
                <a:ea typeface="Calibri" pitchFamily="34" charset="-122"/>
                <a:cs typeface="Calibri" pitchFamily="34" charset="-120"/>
              </a:rPr>
              <a:t>Léger, rapide, déployable immédiatement</a:t>
            </a:r>
            <a:endParaRPr lang="en-US" sz="1400" dirty="0"/>
          </a:p>
        </p:txBody>
      </p:sp>
      <p:sp>
        <p:nvSpPr>
          <p:cNvPr id="19" name="Shape 14"/>
          <p:cNvSpPr/>
          <p:nvPr/>
        </p:nvSpPr>
        <p:spPr>
          <a:xfrm>
            <a:off x="914400" y="5303520"/>
            <a:ext cx="457200" cy="457200"/>
          </a:xfrm>
          <a:prstGeom prst="roundRect">
            <a:avLst>
              <a:gd name="adj" fmla="val 30000"/>
            </a:avLst>
          </a:prstGeom>
          <a:solidFill>
            <a:srgbClr val="6A2BD9"/>
          </a:solidFill>
          <a:ln w="12700">
            <a:solidFill>
              <a:srgbClr val="6A2BD9"/>
            </a:solidFill>
            <a:prstDash val="solid"/>
          </a:ln>
        </p:spPr>
      </p:sp>
      <p:pic>
        <p:nvPicPr>
          <p:cNvPr id="20" name="Image 3" descr="preencoded.png">    </p:cNvPr>
          <p:cNvPicPr>
            <a:picLocks noChangeAspect="1"/>
          </p:cNvPicPr>
          <p:nvPr/>
        </p:nvPicPr>
        <p:blipFill>
          <a:blip r:embed="rId4"/>
          <a:stretch>
            <a:fillRect/>
          </a:stretch>
        </p:blipFill>
        <p:spPr>
          <a:xfrm>
            <a:off x="1033272" y="5422392"/>
            <a:ext cx="219456" cy="219456"/>
          </a:xfrm>
          <a:prstGeom prst="rect">
            <a:avLst/>
          </a:prstGeom>
        </p:spPr>
      </p:pic>
      <p:sp>
        <p:nvSpPr>
          <p:cNvPr id="21" name="Text 15"/>
          <p:cNvSpPr txBox="1"/>
          <p:nvPr/>
        </p:nvSpPr>
        <p:spPr>
          <a:xfrm>
            <a:off x="1554480" y="5285232"/>
            <a:ext cx="4206240" cy="502920"/>
          </a:xfrm>
          <a:prstGeom prst="rect">
            <a:avLst/>
          </a:prstGeom>
          <a:noFill/>
          <a:ln/>
        </p:spPr>
        <p:txBody>
          <a:bodyPr wrap="square" lIns="0" tIns="0" rIns="0" bIns="0" rtlCol="0" anchor="ctr"/>
          <a:lstStyle/>
          <a:p>
            <a:pPr indent="0" marL="0">
              <a:buNone/>
            </a:pPr>
            <a:r>
              <a:rPr lang="en-US" sz="1400" dirty="0">
                <a:solidFill>
                  <a:srgbClr val="1F1A2E"/>
                </a:solidFill>
                <a:latin typeface="Calibri" pitchFamily="34" charset="0"/>
                <a:ea typeface="Calibri" pitchFamily="34" charset="-122"/>
                <a:cs typeface="Calibri" pitchFamily="34" charset="-120"/>
              </a:rPr>
              <a:t>Idéal pour les points de soins</a:t>
            </a:r>
            <a:endParaRPr lang="en-US" sz="1400" dirty="0"/>
          </a:p>
        </p:txBody>
      </p:sp>
      <p:sp>
        <p:nvSpPr>
          <p:cNvPr id="22" name="Shape 16"/>
          <p:cNvSpPr/>
          <p:nvPr/>
        </p:nvSpPr>
        <p:spPr>
          <a:xfrm>
            <a:off x="6199632" y="1600200"/>
            <a:ext cx="5440680" cy="4526280"/>
          </a:xfrm>
          <a:prstGeom prst="roundRect">
            <a:avLst>
              <a:gd name="adj" fmla="val 3030"/>
            </a:avLst>
          </a:prstGeom>
          <a:solidFill>
            <a:srgbClr val="1E0B4B"/>
          </a:solidFill>
          <a:ln w="12700">
            <a:solidFill>
              <a:srgbClr val="1E0B4B"/>
            </a:solidFill>
            <a:prstDash val="solid"/>
          </a:ln>
          <a:effectLst>
            <a:outerShdw sx="100000" sy="100000" kx="0" ky="0" algn="bl" rotWithShape="0" blurRad="127000" dist="38100" dir="5400000">
              <a:srgbClr val="1E0B4B">
                <a:alpha val="18000"/>
              </a:srgbClr>
            </a:outerShdw>
          </a:effectLst>
        </p:spPr>
      </p:sp>
      <p:sp>
        <p:nvSpPr>
          <p:cNvPr id="23" name="Text 17"/>
          <p:cNvSpPr txBox="1"/>
          <p:nvPr/>
        </p:nvSpPr>
        <p:spPr>
          <a:xfrm>
            <a:off x="6565392" y="1828800"/>
            <a:ext cx="45720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ÉVOLUTION</a:t>
            </a:r>
            <a:endParaRPr lang="en-US" sz="1200" dirty="0"/>
          </a:p>
        </p:txBody>
      </p:sp>
      <p:sp>
        <p:nvSpPr>
          <p:cNvPr id="24" name="Text 18"/>
          <p:cNvSpPr txBox="1"/>
          <p:nvPr/>
        </p:nvSpPr>
        <p:spPr>
          <a:xfrm>
            <a:off x="6565392" y="2103120"/>
            <a:ext cx="475488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Version Avancée</a:t>
            </a:r>
            <a:endParaRPr lang="en-US" sz="2600" dirty="0"/>
          </a:p>
        </p:txBody>
      </p:sp>
      <p:sp>
        <p:nvSpPr>
          <p:cNvPr id="25" name="Text 19"/>
          <p:cNvSpPr txBox="1"/>
          <p:nvPr/>
        </p:nvSpPr>
        <p:spPr>
          <a:xfrm>
            <a:off x="6565392" y="2651760"/>
            <a:ext cx="4754880" cy="411480"/>
          </a:xfrm>
          <a:prstGeom prst="rect">
            <a:avLst/>
          </a:prstGeom>
          <a:noFill/>
          <a:ln/>
        </p:spPr>
        <p:txBody>
          <a:bodyPr wrap="square" lIns="0" tIns="0" rIns="0" bIns="0" rtlCol="0" anchor="ctr"/>
          <a:lstStyle/>
          <a:p>
            <a:pPr indent="0" marL="0">
              <a:buNone/>
            </a:pPr>
            <a:r>
              <a:rPr lang="en-US" sz="1400" i="1" dirty="0">
                <a:solidFill>
                  <a:srgbClr val="D9CCFB"/>
                </a:solidFill>
                <a:latin typeface="Calibri" pitchFamily="34" charset="0"/>
                <a:ea typeface="Calibri" pitchFamily="34" charset="-122"/>
                <a:cs typeface="Calibri" pitchFamily="34" charset="-120"/>
              </a:rPr>
              <a:t>Pipeline vectoriel — identification 1:N</a:t>
            </a:r>
            <a:endParaRPr lang="en-US" sz="1400" dirty="0"/>
          </a:p>
        </p:txBody>
      </p:sp>
      <p:sp>
        <p:nvSpPr>
          <p:cNvPr id="26" name="Shape 20"/>
          <p:cNvSpPr/>
          <p:nvPr/>
        </p:nvSpPr>
        <p:spPr>
          <a:xfrm>
            <a:off x="6565392" y="3246120"/>
            <a:ext cx="457200" cy="457200"/>
          </a:xfrm>
          <a:prstGeom prst="roundRect">
            <a:avLst>
              <a:gd name="adj" fmla="val 30000"/>
            </a:avLst>
          </a:prstGeom>
          <a:solidFill>
            <a:srgbClr val="6A2BD9"/>
          </a:solidFill>
          <a:ln w="12700">
            <a:solidFill>
              <a:srgbClr val="6A2BD9"/>
            </a:solidFill>
            <a:prstDash val="solid"/>
          </a:ln>
        </p:spPr>
      </p:sp>
      <p:pic>
        <p:nvPicPr>
          <p:cNvPr id="27" name="Image 4" descr="preencoded.png">    </p:cNvPr>
          <p:cNvPicPr>
            <a:picLocks noChangeAspect="1"/>
          </p:cNvPicPr>
          <p:nvPr/>
        </p:nvPicPr>
        <p:blipFill>
          <a:blip r:embed="rId5"/>
          <a:stretch>
            <a:fillRect/>
          </a:stretch>
        </p:blipFill>
        <p:spPr>
          <a:xfrm>
            <a:off x="6684264" y="3364992"/>
            <a:ext cx="219456" cy="219456"/>
          </a:xfrm>
          <a:prstGeom prst="rect">
            <a:avLst/>
          </a:prstGeom>
        </p:spPr>
      </p:pic>
      <p:sp>
        <p:nvSpPr>
          <p:cNvPr id="28" name="Text 21"/>
          <p:cNvSpPr txBox="1"/>
          <p:nvPr/>
        </p:nvSpPr>
        <p:spPr>
          <a:xfrm>
            <a:off x="7205472" y="3227832"/>
            <a:ext cx="420624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Contrôle qualité et alignement des visages</a:t>
            </a:r>
            <a:endParaRPr lang="en-US" sz="1400" dirty="0"/>
          </a:p>
        </p:txBody>
      </p:sp>
      <p:sp>
        <p:nvSpPr>
          <p:cNvPr id="29" name="Shape 22"/>
          <p:cNvSpPr/>
          <p:nvPr/>
        </p:nvSpPr>
        <p:spPr>
          <a:xfrm>
            <a:off x="6565392" y="3931920"/>
            <a:ext cx="457200" cy="457200"/>
          </a:xfrm>
          <a:prstGeom prst="roundRect">
            <a:avLst>
              <a:gd name="adj" fmla="val 30000"/>
            </a:avLst>
          </a:prstGeom>
          <a:solidFill>
            <a:srgbClr val="6A2BD9"/>
          </a:solidFill>
          <a:ln w="12700">
            <a:solidFill>
              <a:srgbClr val="6A2BD9"/>
            </a:solidFill>
            <a:prstDash val="solid"/>
          </a:ln>
        </p:spPr>
      </p:sp>
      <p:pic>
        <p:nvPicPr>
          <p:cNvPr id="30" name="Image 5" descr="preencoded.png">    </p:cNvPr>
          <p:cNvPicPr>
            <a:picLocks noChangeAspect="1"/>
          </p:cNvPicPr>
          <p:nvPr/>
        </p:nvPicPr>
        <p:blipFill>
          <a:blip r:embed="rId6"/>
          <a:stretch>
            <a:fillRect/>
          </a:stretch>
        </p:blipFill>
        <p:spPr>
          <a:xfrm>
            <a:off x="6684264" y="4050792"/>
            <a:ext cx="219456" cy="219456"/>
          </a:xfrm>
          <a:prstGeom prst="rect">
            <a:avLst/>
          </a:prstGeom>
        </p:spPr>
      </p:pic>
      <p:sp>
        <p:nvSpPr>
          <p:cNvPr id="31" name="Text 23"/>
          <p:cNvSpPr txBox="1"/>
          <p:nvPr/>
        </p:nvSpPr>
        <p:spPr>
          <a:xfrm>
            <a:off x="7205472" y="3913632"/>
            <a:ext cx="420624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Indexation vectorielle (ANN / HNSW)</a:t>
            </a:r>
            <a:endParaRPr lang="en-US" sz="1400" dirty="0"/>
          </a:p>
        </p:txBody>
      </p:sp>
      <p:sp>
        <p:nvSpPr>
          <p:cNvPr id="32" name="Shape 24"/>
          <p:cNvSpPr/>
          <p:nvPr/>
        </p:nvSpPr>
        <p:spPr>
          <a:xfrm>
            <a:off x="6565392" y="4617720"/>
            <a:ext cx="457200" cy="457200"/>
          </a:xfrm>
          <a:prstGeom prst="roundRect">
            <a:avLst>
              <a:gd name="adj" fmla="val 30000"/>
            </a:avLst>
          </a:prstGeom>
          <a:solidFill>
            <a:srgbClr val="6A2BD9"/>
          </a:solidFill>
          <a:ln w="12700">
            <a:solidFill>
              <a:srgbClr val="6A2BD9"/>
            </a:solidFill>
            <a:prstDash val="solid"/>
          </a:ln>
        </p:spPr>
      </p:sp>
      <p:pic>
        <p:nvPicPr>
          <p:cNvPr id="33" name="Image 6" descr="preencoded.png">    </p:cNvPr>
          <p:cNvPicPr>
            <a:picLocks noChangeAspect="1"/>
          </p:cNvPicPr>
          <p:nvPr/>
        </p:nvPicPr>
        <p:blipFill>
          <a:blip r:embed="rId7"/>
          <a:stretch>
            <a:fillRect/>
          </a:stretch>
        </p:blipFill>
        <p:spPr>
          <a:xfrm>
            <a:off x="6684264" y="4736592"/>
            <a:ext cx="219456" cy="219456"/>
          </a:xfrm>
          <a:prstGeom prst="rect">
            <a:avLst/>
          </a:prstGeom>
        </p:spPr>
      </p:pic>
      <p:sp>
        <p:nvSpPr>
          <p:cNvPr id="34" name="Text 25"/>
          <p:cNvSpPr txBox="1"/>
          <p:nvPr/>
        </p:nvSpPr>
        <p:spPr>
          <a:xfrm>
            <a:off x="7205472" y="4599432"/>
            <a:ext cx="420624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Détection de doubles affiliations</a:t>
            </a:r>
            <a:endParaRPr lang="en-US" sz="1400" dirty="0"/>
          </a:p>
        </p:txBody>
      </p:sp>
      <p:sp>
        <p:nvSpPr>
          <p:cNvPr id="35" name="Shape 26"/>
          <p:cNvSpPr/>
          <p:nvPr/>
        </p:nvSpPr>
        <p:spPr>
          <a:xfrm>
            <a:off x="6565392" y="5303520"/>
            <a:ext cx="457200" cy="457200"/>
          </a:xfrm>
          <a:prstGeom prst="roundRect">
            <a:avLst>
              <a:gd name="adj" fmla="val 30000"/>
            </a:avLst>
          </a:prstGeom>
          <a:solidFill>
            <a:srgbClr val="6A2BD9"/>
          </a:solidFill>
          <a:ln w="12700">
            <a:solidFill>
              <a:srgbClr val="6A2BD9"/>
            </a:solidFill>
            <a:prstDash val="solid"/>
          </a:ln>
        </p:spPr>
      </p:sp>
      <p:pic>
        <p:nvPicPr>
          <p:cNvPr id="36" name="Image 7" descr="preencoded.png">    </p:cNvPr>
          <p:cNvPicPr>
            <a:picLocks noChangeAspect="1"/>
          </p:cNvPicPr>
          <p:nvPr/>
        </p:nvPicPr>
        <p:blipFill>
          <a:blip r:embed="rId8"/>
          <a:stretch>
            <a:fillRect/>
          </a:stretch>
        </p:blipFill>
        <p:spPr>
          <a:xfrm>
            <a:off x="6684264" y="5422392"/>
            <a:ext cx="219456" cy="219456"/>
          </a:xfrm>
          <a:prstGeom prst="rect">
            <a:avLst/>
          </a:prstGeom>
        </p:spPr>
      </p:pic>
      <p:sp>
        <p:nvSpPr>
          <p:cNvPr id="37" name="Text 27"/>
          <p:cNvSpPr txBox="1"/>
          <p:nvPr/>
        </p:nvSpPr>
        <p:spPr>
          <a:xfrm>
            <a:off x="7205472" y="5285232"/>
            <a:ext cx="420624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Journal d'audit et mise à jour des références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VERSION AVANCÉE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Le pipeline vectoriel en six étapes</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937260" y="1783080"/>
            <a:ext cx="914400" cy="914400"/>
          </a:xfrm>
          <a:prstGeom prst="ellipse">
            <a:avLst/>
          </a:prstGeom>
          <a:solidFill>
            <a:srgbClr val="6A2BD9"/>
          </a:solidFill>
          <a:ln w="381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1165860" y="2011680"/>
            <a:ext cx="457200" cy="457200"/>
          </a:xfrm>
          <a:prstGeom prst="rect">
            <a:avLst/>
          </a:prstGeom>
        </p:spPr>
      </p:pic>
      <p:sp>
        <p:nvSpPr>
          <p:cNvPr id="8" name="Shape 5"/>
          <p:cNvSpPr/>
          <p:nvPr/>
        </p:nvSpPr>
        <p:spPr>
          <a:xfrm>
            <a:off x="1897380" y="2240280"/>
            <a:ext cx="868680" cy="0"/>
          </a:xfrm>
          <a:prstGeom prst="line">
            <a:avLst/>
          </a:prstGeom>
          <a:noFill/>
          <a:ln w="25400">
            <a:solidFill>
              <a:srgbClr val="8B5CF6"/>
            </a:solidFill>
            <a:prstDash val="solid"/>
            <a:tailEnd type="triangle"/>
          </a:ln>
        </p:spPr>
      </p:sp>
      <p:sp>
        <p:nvSpPr>
          <p:cNvPr id="9" name="Text 6"/>
          <p:cNvSpPr txBox="1"/>
          <p:nvPr/>
        </p:nvSpPr>
        <p:spPr>
          <a:xfrm>
            <a:off x="548640" y="2834640"/>
            <a:ext cx="1691640" cy="274320"/>
          </a:xfrm>
          <a:prstGeom prst="rect">
            <a:avLst/>
          </a:prstGeom>
          <a:noFill/>
          <a:ln/>
        </p:spPr>
        <p:txBody>
          <a:bodyPr wrap="square" lIns="0" tIns="0" rIns="0" bIns="0" rtlCol="0" anchor="ctr"/>
          <a:lstStyle/>
          <a:p>
            <a:pPr algn="ctr" indent="0" marL="0">
              <a:buNone/>
            </a:pPr>
            <a:r>
              <a:rPr lang="en-US" sz="1200" b="1" dirty="0">
                <a:solidFill>
                  <a:srgbClr val="F28C28"/>
                </a:solidFill>
                <a:latin typeface="Calibri" pitchFamily="34" charset="0"/>
                <a:ea typeface="Calibri" pitchFamily="34" charset="-122"/>
                <a:cs typeface="Calibri" pitchFamily="34" charset="-120"/>
              </a:rPr>
              <a:t>01</a:t>
            </a:r>
            <a:endParaRPr lang="en-US" sz="1200" dirty="0"/>
          </a:p>
        </p:txBody>
      </p:sp>
      <p:sp>
        <p:nvSpPr>
          <p:cNvPr id="10" name="Text 7"/>
          <p:cNvSpPr txBox="1"/>
          <p:nvPr/>
        </p:nvSpPr>
        <p:spPr>
          <a:xfrm>
            <a:off x="548640" y="3108960"/>
            <a:ext cx="1691640" cy="365760"/>
          </a:xfrm>
          <a:prstGeom prst="rect">
            <a:avLst/>
          </a:prstGeom>
          <a:noFill/>
          <a:ln/>
        </p:spPr>
        <p:txBody>
          <a:bodyPr wrap="square" lIns="0" tIns="0" rIns="0" bIns="0" rtlCol="0" anchor="ctr"/>
          <a:lstStyle/>
          <a:p>
            <a:pPr algn="ctr" indent="0" marL="0">
              <a:buNone/>
            </a:pPr>
            <a:r>
              <a:rPr lang="en-US" sz="1600" b="1" dirty="0">
                <a:solidFill>
                  <a:srgbClr val="1F1A2E"/>
                </a:solidFill>
                <a:latin typeface="Calibri" pitchFamily="34" charset="0"/>
                <a:ea typeface="Calibri" pitchFamily="34" charset="-122"/>
                <a:cs typeface="Calibri" pitchFamily="34" charset="-120"/>
              </a:rPr>
              <a:t>Acquisition</a:t>
            </a:r>
            <a:endParaRPr lang="en-US" sz="1600" dirty="0"/>
          </a:p>
        </p:txBody>
      </p:sp>
      <p:sp>
        <p:nvSpPr>
          <p:cNvPr id="11" name="Text 8"/>
          <p:cNvSpPr txBox="1"/>
          <p:nvPr/>
        </p:nvSpPr>
        <p:spPr>
          <a:xfrm>
            <a:off x="594360" y="3474720"/>
            <a:ext cx="1600200" cy="685800"/>
          </a:xfrm>
          <a:prstGeom prst="rect">
            <a:avLst/>
          </a:prstGeom>
          <a:noFill/>
          <a:ln/>
        </p:spPr>
        <p:txBody>
          <a:bodyPr wrap="square" lIns="0" tIns="0" rIns="0" bIns="0" rtlCol="0" anchor="t"/>
          <a:lstStyle/>
          <a:p>
            <a:pPr algn="ctr" indent="0" marL="0">
              <a:buNone/>
            </a:pPr>
            <a:r>
              <a:rPr lang="en-US" sz="1200" dirty="0">
                <a:solidFill>
                  <a:srgbClr val="6B6780"/>
                </a:solidFill>
                <a:latin typeface="Calibri" pitchFamily="34" charset="0"/>
                <a:ea typeface="Calibri" pitchFamily="34" charset="-122"/>
                <a:cs typeface="Calibri" pitchFamily="34" charset="-120"/>
              </a:rPr>
              <a:t>Photo fiche ou capture kiosque</a:t>
            </a:r>
            <a:endParaRPr lang="en-US" sz="1200" dirty="0"/>
          </a:p>
        </p:txBody>
      </p:sp>
      <p:sp>
        <p:nvSpPr>
          <p:cNvPr id="12" name="Shape 9"/>
          <p:cNvSpPr/>
          <p:nvPr/>
        </p:nvSpPr>
        <p:spPr>
          <a:xfrm>
            <a:off x="2811780" y="1783080"/>
            <a:ext cx="914400" cy="914400"/>
          </a:xfrm>
          <a:prstGeom prst="ellipse">
            <a:avLst/>
          </a:prstGeom>
          <a:solidFill>
            <a:srgbClr val="6A2BD9"/>
          </a:solidFill>
          <a:ln w="38100">
            <a:solidFill>
              <a:srgbClr val="FFFFFF"/>
            </a:solidFill>
            <a:prstDash val="solid"/>
          </a:ln>
        </p:spPr>
      </p:sp>
      <p:pic>
        <p:nvPicPr>
          <p:cNvPr id="13" name="Image 1" descr="preencoded.png">    </p:cNvPr>
          <p:cNvPicPr>
            <a:picLocks noChangeAspect="1"/>
          </p:cNvPicPr>
          <p:nvPr/>
        </p:nvPicPr>
        <p:blipFill>
          <a:blip r:embed="rId2"/>
          <a:stretch>
            <a:fillRect/>
          </a:stretch>
        </p:blipFill>
        <p:spPr>
          <a:xfrm>
            <a:off x="3040380" y="2011680"/>
            <a:ext cx="457200" cy="457200"/>
          </a:xfrm>
          <a:prstGeom prst="rect">
            <a:avLst/>
          </a:prstGeom>
        </p:spPr>
      </p:pic>
      <p:sp>
        <p:nvSpPr>
          <p:cNvPr id="14" name="Shape 10"/>
          <p:cNvSpPr/>
          <p:nvPr/>
        </p:nvSpPr>
        <p:spPr>
          <a:xfrm>
            <a:off x="3771900" y="2240280"/>
            <a:ext cx="868680" cy="0"/>
          </a:xfrm>
          <a:prstGeom prst="line">
            <a:avLst/>
          </a:prstGeom>
          <a:noFill/>
          <a:ln w="25400">
            <a:solidFill>
              <a:srgbClr val="8B5CF6"/>
            </a:solidFill>
            <a:prstDash val="solid"/>
            <a:tailEnd type="triangle"/>
          </a:ln>
        </p:spPr>
      </p:sp>
      <p:sp>
        <p:nvSpPr>
          <p:cNvPr id="15" name="Text 11"/>
          <p:cNvSpPr txBox="1"/>
          <p:nvPr/>
        </p:nvSpPr>
        <p:spPr>
          <a:xfrm>
            <a:off x="2423160" y="2834640"/>
            <a:ext cx="1691640" cy="274320"/>
          </a:xfrm>
          <a:prstGeom prst="rect">
            <a:avLst/>
          </a:prstGeom>
          <a:noFill/>
          <a:ln/>
        </p:spPr>
        <p:txBody>
          <a:bodyPr wrap="square" lIns="0" tIns="0" rIns="0" bIns="0" rtlCol="0" anchor="ctr"/>
          <a:lstStyle/>
          <a:p>
            <a:pPr algn="ctr" indent="0" marL="0">
              <a:buNone/>
            </a:pPr>
            <a:r>
              <a:rPr lang="en-US" sz="1200" b="1" dirty="0">
                <a:solidFill>
                  <a:srgbClr val="F28C28"/>
                </a:solidFill>
                <a:latin typeface="Calibri" pitchFamily="34" charset="0"/>
                <a:ea typeface="Calibri" pitchFamily="34" charset="-122"/>
                <a:cs typeface="Calibri" pitchFamily="34" charset="-120"/>
              </a:rPr>
              <a:t>02</a:t>
            </a:r>
            <a:endParaRPr lang="en-US" sz="1200" dirty="0"/>
          </a:p>
        </p:txBody>
      </p:sp>
      <p:sp>
        <p:nvSpPr>
          <p:cNvPr id="16" name="Text 12"/>
          <p:cNvSpPr txBox="1"/>
          <p:nvPr/>
        </p:nvSpPr>
        <p:spPr>
          <a:xfrm>
            <a:off x="2423160" y="3108960"/>
            <a:ext cx="1691640" cy="365760"/>
          </a:xfrm>
          <a:prstGeom prst="rect">
            <a:avLst/>
          </a:prstGeom>
          <a:noFill/>
          <a:ln/>
        </p:spPr>
        <p:txBody>
          <a:bodyPr wrap="square" lIns="0" tIns="0" rIns="0" bIns="0" rtlCol="0" anchor="ctr"/>
          <a:lstStyle/>
          <a:p>
            <a:pPr algn="ctr" indent="0" marL="0">
              <a:buNone/>
            </a:pPr>
            <a:r>
              <a:rPr lang="en-US" sz="1600" b="1" dirty="0">
                <a:solidFill>
                  <a:srgbClr val="1F1A2E"/>
                </a:solidFill>
                <a:latin typeface="Calibri" pitchFamily="34" charset="0"/>
                <a:ea typeface="Calibri" pitchFamily="34" charset="-122"/>
                <a:cs typeface="Calibri" pitchFamily="34" charset="-120"/>
              </a:rPr>
              <a:t>Qualité</a:t>
            </a:r>
            <a:endParaRPr lang="en-US" sz="1600" dirty="0"/>
          </a:p>
        </p:txBody>
      </p:sp>
      <p:sp>
        <p:nvSpPr>
          <p:cNvPr id="17" name="Text 13"/>
          <p:cNvSpPr txBox="1"/>
          <p:nvPr/>
        </p:nvSpPr>
        <p:spPr>
          <a:xfrm>
            <a:off x="2468880" y="3474720"/>
            <a:ext cx="1600200" cy="685800"/>
          </a:xfrm>
          <a:prstGeom prst="rect">
            <a:avLst/>
          </a:prstGeom>
          <a:noFill/>
          <a:ln/>
        </p:spPr>
        <p:txBody>
          <a:bodyPr wrap="square" lIns="0" tIns="0" rIns="0" bIns="0" rtlCol="0" anchor="t"/>
          <a:lstStyle/>
          <a:p>
            <a:pPr algn="ctr" indent="0" marL="0">
              <a:buNone/>
            </a:pPr>
            <a:r>
              <a:rPr lang="en-US" sz="1200" dirty="0">
                <a:solidFill>
                  <a:srgbClr val="6B6780"/>
                </a:solidFill>
                <a:latin typeface="Calibri" pitchFamily="34" charset="0"/>
                <a:ea typeface="Calibri" pitchFamily="34" charset="-122"/>
                <a:cs typeface="Calibri" pitchFamily="34" charset="-120"/>
              </a:rPr>
              <a:t>Netteté, pose, éclairage, taille</a:t>
            </a:r>
            <a:endParaRPr lang="en-US" sz="1200" dirty="0"/>
          </a:p>
        </p:txBody>
      </p:sp>
      <p:sp>
        <p:nvSpPr>
          <p:cNvPr id="18" name="Shape 14"/>
          <p:cNvSpPr/>
          <p:nvPr/>
        </p:nvSpPr>
        <p:spPr>
          <a:xfrm>
            <a:off x="4686300" y="1783080"/>
            <a:ext cx="914400" cy="914400"/>
          </a:xfrm>
          <a:prstGeom prst="ellipse">
            <a:avLst/>
          </a:prstGeom>
          <a:solidFill>
            <a:srgbClr val="6A2BD9"/>
          </a:solidFill>
          <a:ln w="38100">
            <a:solidFill>
              <a:srgbClr val="FFFFFF"/>
            </a:solidFill>
            <a:prstDash val="solid"/>
          </a:ln>
        </p:spPr>
      </p:sp>
      <p:pic>
        <p:nvPicPr>
          <p:cNvPr id="19" name="Image 2" descr="preencoded.png">    </p:cNvPr>
          <p:cNvPicPr>
            <a:picLocks noChangeAspect="1"/>
          </p:cNvPicPr>
          <p:nvPr/>
        </p:nvPicPr>
        <p:blipFill>
          <a:blip r:embed="rId3"/>
          <a:stretch>
            <a:fillRect/>
          </a:stretch>
        </p:blipFill>
        <p:spPr>
          <a:xfrm>
            <a:off x="4914900" y="2011680"/>
            <a:ext cx="457200" cy="457200"/>
          </a:xfrm>
          <a:prstGeom prst="rect">
            <a:avLst/>
          </a:prstGeom>
        </p:spPr>
      </p:pic>
      <p:sp>
        <p:nvSpPr>
          <p:cNvPr id="20" name="Shape 15"/>
          <p:cNvSpPr/>
          <p:nvPr/>
        </p:nvSpPr>
        <p:spPr>
          <a:xfrm>
            <a:off x="5646420" y="2240280"/>
            <a:ext cx="868680" cy="0"/>
          </a:xfrm>
          <a:prstGeom prst="line">
            <a:avLst/>
          </a:prstGeom>
          <a:noFill/>
          <a:ln w="25400">
            <a:solidFill>
              <a:srgbClr val="8B5CF6"/>
            </a:solidFill>
            <a:prstDash val="solid"/>
            <a:tailEnd type="triangle"/>
          </a:ln>
        </p:spPr>
      </p:sp>
      <p:sp>
        <p:nvSpPr>
          <p:cNvPr id="21" name="Text 16"/>
          <p:cNvSpPr txBox="1"/>
          <p:nvPr/>
        </p:nvSpPr>
        <p:spPr>
          <a:xfrm>
            <a:off x="4297680" y="2834640"/>
            <a:ext cx="1691640" cy="274320"/>
          </a:xfrm>
          <a:prstGeom prst="rect">
            <a:avLst/>
          </a:prstGeom>
          <a:noFill/>
          <a:ln/>
        </p:spPr>
        <p:txBody>
          <a:bodyPr wrap="square" lIns="0" tIns="0" rIns="0" bIns="0" rtlCol="0" anchor="ctr"/>
          <a:lstStyle/>
          <a:p>
            <a:pPr algn="ctr" indent="0" marL="0">
              <a:buNone/>
            </a:pPr>
            <a:r>
              <a:rPr lang="en-US" sz="1200" b="1" dirty="0">
                <a:solidFill>
                  <a:srgbClr val="F28C28"/>
                </a:solidFill>
                <a:latin typeface="Calibri" pitchFamily="34" charset="0"/>
                <a:ea typeface="Calibri" pitchFamily="34" charset="-122"/>
                <a:cs typeface="Calibri" pitchFamily="34" charset="-120"/>
              </a:rPr>
              <a:t>03</a:t>
            </a:r>
            <a:endParaRPr lang="en-US" sz="1200" dirty="0"/>
          </a:p>
        </p:txBody>
      </p:sp>
      <p:sp>
        <p:nvSpPr>
          <p:cNvPr id="22" name="Text 17"/>
          <p:cNvSpPr txBox="1"/>
          <p:nvPr/>
        </p:nvSpPr>
        <p:spPr>
          <a:xfrm>
            <a:off x="4297680" y="3108960"/>
            <a:ext cx="1691640" cy="365760"/>
          </a:xfrm>
          <a:prstGeom prst="rect">
            <a:avLst/>
          </a:prstGeom>
          <a:noFill/>
          <a:ln/>
        </p:spPr>
        <p:txBody>
          <a:bodyPr wrap="square" lIns="0" tIns="0" rIns="0" bIns="0" rtlCol="0" anchor="ctr"/>
          <a:lstStyle/>
          <a:p>
            <a:pPr algn="ctr" indent="0" marL="0">
              <a:buNone/>
            </a:pPr>
            <a:r>
              <a:rPr lang="en-US" sz="1600" b="1" dirty="0">
                <a:solidFill>
                  <a:srgbClr val="1F1A2E"/>
                </a:solidFill>
                <a:latin typeface="Calibri" pitchFamily="34" charset="0"/>
                <a:ea typeface="Calibri" pitchFamily="34" charset="-122"/>
                <a:cs typeface="Calibri" pitchFamily="34" charset="-120"/>
              </a:rPr>
              <a:t>Alignement</a:t>
            </a:r>
            <a:endParaRPr lang="en-US" sz="1600" dirty="0"/>
          </a:p>
        </p:txBody>
      </p:sp>
      <p:sp>
        <p:nvSpPr>
          <p:cNvPr id="23" name="Text 18"/>
          <p:cNvSpPr txBox="1"/>
          <p:nvPr/>
        </p:nvSpPr>
        <p:spPr>
          <a:xfrm>
            <a:off x="4343400" y="3474720"/>
            <a:ext cx="1600200" cy="685800"/>
          </a:xfrm>
          <a:prstGeom prst="rect">
            <a:avLst/>
          </a:prstGeom>
          <a:noFill/>
          <a:ln/>
        </p:spPr>
        <p:txBody>
          <a:bodyPr wrap="square" lIns="0" tIns="0" rIns="0" bIns="0" rtlCol="0" anchor="t"/>
          <a:lstStyle/>
          <a:p>
            <a:pPr algn="ctr" indent="0" marL="0">
              <a:buNone/>
            </a:pPr>
            <a:r>
              <a:rPr lang="en-US" sz="1200" dirty="0">
                <a:solidFill>
                  <a:srgbClr val="6B6780"/>
                </a:solidFill>
                <a:latin typeface="Calibri" pitchFamily="34" charset="0"/>
                <a:ea typeface="Calibri" pitchFamily="34" charset="-122"/>
                <a:cs typeface="Calibri" pitchFamily="34" charset="-120"/>
              </a:rPr>
              <a:t>Détection et recadrage du visage</a:t>
            </a:r>
            <a:endParaRPr lang="en-US" sz="1200" dirty="0"/>
          </a:p>
        </p:txBody>
      </p:sp>
      <p:sp>
        <p:nvSpPr>
          <p:cNvPr id="24" name="Shape 19"/>
          <p:cNvSpPr/>
          <p:nvPr/>
        </p:nvSpPr>
        <p:spPr>
          <a:xfrm>
            <a:off x="6560820" y="1783080"/>
            <a:ext cx="914400" cy="914400"/>
          </a:xfrm>
          <a:prstGeom prst="ellipse">
            <a:avLst/>
          </a:prstGeom>
          <a:solidFill>
            <a:srgbClr val="6A2BD9"/>
          </a:solidFill>
          <a:ln w="38100">
            <a:solidFill>
              <a:srgbClr val="FFFFFF"/>
            </a:solidFill>
            <a:prstDash val="solid"/>
          </a:ln>
        </p:spPr>
      </p:sp>
      <p:pic>
        <p:nvPicPr>
          <p:cNvPr id="25" name="Image 3" descr="preencoded.png">    </p:cNvPr>
          <p:cNvPicPr>
            <a:picLocks noChangeAspect="1"/>
          </p:cNvPicPr>
          <p:nvPr/>
        </p:nvPicPr>
        <p:blipFill>
          <a:blip r:embed="rId4"/>
          <a:stretch>
            <a:fillRect/>
          </a:stretch>
        </p:blipFill>
        <p:spPr>
          <a:xfrm>
            <a:off x="6789420" y="2011680"/>
            <a:ext cx="457200" cy="457200"/>
          </a:xfrm>
          <a:prstGeom prst="rect">
            <a:avLst/>
          </a:prstGeom>
        </p:spPr>
      </p:pic>
      <p:sp>
        <p:nvSpPr>
          <p:cNvPr id="26" name="Shape 20"/>
          <p:cNvSpPr/>
          <p:nvPr/>
        </p:nvSpPr>
        <p:spPr>
          <a:xfrm>
            <a:off x="7520940" y="2240280"/>
            <a:ext cx="868680" cy="0"/>
          </a:xfrm>
          <a:prstGeom prst="line">
            <a:avLst/>
          </a:prstGeom>
          <a:noFill/>
          <a:ln w="25400">
            <a:solidFill>
              <a:srgbClr val="8B5CF6"/>
            </a:solidFill>
            <a:prstDash val="solid"/>
            <a:tailEnd type="triangle"/>
          </a:ln>
        </p:spPr>
      </p:sp>
      <p:sp>
        <p:nvSpPr>
          <p:cNvPr id="27" name="Text 21"/>
          <p:cNvSpPr txBox="1"/>
          <p:nvPr/>
        </p:nvSpPr>
        <p:spPr>
          <a:xfrm>
            <a:off x="6172200" y="2834640"/>
            <a:ext cx="1691640" cy="274320"/>
          </a:xfrm>
          <a:prstGeom prst="rect">
            <a:avLst/>
          </a:prstGeom>
          <a:noFill/>
          <a:ln/>
        </p:spPr>
        <p:txBody>
          <a:bodyPr wrap="square" lIns="0" tIns="0" rIns="0" bIns="0" rtlCol="0" anchor="ctr"/>
          <a:lstStyle/>
          <a:p>
            <a:pPr algn="ctr" indent="0" marL="0">
              <a:buNone/>
            </a:pPr>
            <a:r>
              <a:rPr lang="en-US" sz="1200" b="1" dirty="0">
                <a:solidFill>
                  <a:srgbClr val="F28C28"/>
                </a:solidFill>
                <a:latin typeface="Calibri" pitchFamily="34" charset="0"/>
                <a:ea typeface="Calibri" pitchFamily="34" charset="-122"/>
                <a:cs typeface="Calibri" pitchFamily="34" charset="-120"/>
              </a:rPr>
              <a:t>04</a:t>
            </a:r>
            <a:endParaRPr lang="en-US" sz="1200" dirty="0"/>
          </a:p>
        </p:txBody>
      </p:sp>
      <p:sp>
        <p:nvSpPr>
          <p:cNvPr id="28" name="Text 22"/>
          <p:cNvSpPr txBox="1"/>
          <p:nvPr/>
        </p:nvSpPr>
        <p:spPr>
          <a:xfrm>
            <a:off x="6172200" y="3108960"/>
            <a:ext cx="1691640" cy="365760"/>
          </a:xfrm>
          <a:prstGeom prst="rect">
            <a:avLst/>
          </a:prstGeom>
          <a:noFill/>
          <a:ln/>
        </p:spPr>
        <p:txBody>
          <a:bodyPr wrap="square" lIns="0" tIns="0" rIns="0" bIns="0" rtlCol="0" anchor="ctr"/>
          <a:lstStyle/>
          <a:p>
            <a:pPr algn="ctr" indent="0" marL="0">
              <a:buNone/>
            </a:pPr>
            <a:r>
              <a:rPr lang="en-US" sz="1600" b="1" dirty="0">
                <a:solidFill>
                  <a:srgbClr val="1F1A2E"/>
                </a:solidFill>
                <a:latin typeface="Calibri" pitchFamily="34" charset="0"/>
                <a:ea typeface="Calibri" pitchFamily="34" charset="-122"/>
                <a:cs typeface="Calibri" pitchFamily="34" charset="-120"/>
              </a:rPr>
              <a:t>Vectorisation</a:t>
            </a:r>
            <a:endParaRPr lang="en-US" sz="1600" dirty="0"/>
          </a:p>
        </p:txBody>
      </p:sp>
      <p:sp>
        <p:nvSpPr>
          <p:cNvPr id="29" name="Text 23"/>
          <p:cNvSpPr txBox="1"/>
          <p:nvPr/>
        </p:nvSpPr>
        <p:spPr>
          <a:xfrm>
            <a:off x="6217920" y="3474720"/>
            <a:ext cx="1600200" cy="685800"/>
          </a:xfrm>
          <a:prstGeom prst="rect">
            <a:avLst/>
          </a:prstGeom>
          <a:noFill/>
          <a:ln/>
        </p:spPr>
        <p:txBody>
          <a:bodyPr wrap="square" lIns="0" tIns="0" rIns="0" bIns="0" rtlCol="0" anchor="t"/>
          <a:lstStyle/>
          <a:p>
            <a:pPr algn="ctr" indent="0" marL="0">
              <a:buNone/>
            </a:pPr>
            <a:r>
              <a:rPr lang="en-US" sz="1200" dirty="0">
                <a:solidFill>
                  <a:srgbClr val="6B6780"/>
                </a:solidFill>
                <a:latin typeface="Calibri" pitchFamily="34" charset="0"/>
                <a:ea typeface="Calibri" pitchFamily="34" charset="-122"/>
                <a:cs typeface="Calibri" pitchFamily="34" charset="-120"/>
              </a:rPr>
              <a:t>Empreinte 512D normalisée</a:t>
            </a:r>
            <a:endParaRPr lang="en-US" sz="1200" dirty="0"/>
          </a:p>
        </p:txBody>
      </p:sp>
      <p:sp>
        <p:nvSpPr>
          <p:cNvPr id="30" name="Shape 24"/>
          <p:cNvSpPr/>
          <p:nvPr/>
        </p:nvSpPr>
        <p:spPr>
          <a:xfrm>
            <a:off x="8435340" y="1783080"/>
            <a:ext cx="914400" cy="914400"/>
          </a:xfrm>
          <a:prstGeom prst="ellipse">
            <a:avLst/>
          </a:prstGeom>
          <a:solidFill>
            <a:srgbClr val="6A2BD9"/>
          </a:solidFill>
          <a:ln w="38100">
            <a:solidFill>
              <a:srgbClr val="FFFFFF"/>
            </a:solidFill>
            <a:prstDash val="solid"/>
          </a:ln>
        </p:spPr>
      </p:sp>
      <p:pic>
        <p:nvPicPr>
          <p:cNvPr id="31" name="Image 4" descr="preencoded.png">    </p:cNvPr>
          <p:cNvPicPr>
            <a:picLocks noChangeAspect="1"/>
          </p:cNvPicPr>
          <p:nvPr/>
        </p:nvPicPr>
        <p:blipFill>
          <a:blip r:embed="rId5"/>
          <a:stretch>
            <a:fillRect/>
          </a:stretch>
        </p:blipFill>
        <p:spPr>
          <a:xfrm>
            <a:off x="8663940" y="2011680"/>
            <a:ext cx="457200" cy="457200"/>
          </a:xfrm>
          <a:prstGeom prst="rect">
            <a:avLst/>
          </a:prstGeom>
        </p:spPr>
      </p:pic>
      <p:sp>
        <p:nvSpPr>
          <p:cNvPr id="32" name="Shape 25"/>
          <p:cNvSpPr/>
          <p:nvPr/>
        </p:nvSpPr>
        <p:spPr>
          <a:xfrm>
            <a:off x="9395460" y="2240280"/>
            <a:ext cx="868680" cy="0"/>
          </a:xfrm>
          <a:prstGeom prst="line">
            <a:avLst/>
          </a:prstGeom>
          <a:noFill/>
          <a:ln w="25400">
            <a:solidFill>
              <a:srgbClr val="8B5CF6"/>
            </a:solidFill>
            <a:prstDash val="solid"/>
            <a:tailEnd type="triangle"/>
          </a:ln>
        </p:spPr>
      </p:sp>
      <p:sp>
        <p:nvSpPr>
          <p:cNvPr id="33" name="Text 26"/>
          <p:cNvSpPr txBox="1"/>
          <p:nvPr/>
        </p:nvSpPr>
        <p:spPr>
          <a:xfrm>
            <a:off x="8046720" y="2834640"/>
            <a:ext cx="1691640" cy="274320"/>
          </a:xfrm>
          <a:prstGeom prst="rect">
            <a:avLst/>
          </a:prstGeom>
          <a:noFill/>
          <a:ln/>
        </p:spPr>
        <p:txBody>
          <a:bodyPr wrap="square" lIns="0" tIns="0" rIns="0" bIns="0" rtlCol="0" anchor="ctr"/>
          <a:lstStyle/>
          <a:p>
            <a:pPr algn="ctr" indent="0" marL="0">
              <a:buNone/>
            </a:pPr>
            <a:r>
              <a:rPr lang="en-US" sz="1200" b="1" dirty="0">
                <a:solidFill>
                  <a:srgbClr val="F28C28"/>
                </a:solidFill>
                <a:latin typeface="Calibri" pitchFamily="34" charset="0"/>
                <a:ea typeface="Calibri" pitchFamily="34" charset="-122"/>
                <a:cs typeface="Calibri" pitchFamily="34" charset="-120"/>
              </a:rPr>
              <a:t>05</a:t>
            </a:r>
            <a:endParaRPr lang="en-US" sz="1200" dirty="0"/>
          </a:p>
        </p:txBody>
      </p:sp>
      <p:sp>
        <p:nvSpPr>
          <p:cNvPr id="34" name="Text 27"/>
          <p:cNvSpPr txBox="1"/>
          <p:nvPr/>
        </p:nvSpPr>
        <p:spPr>
          <a:xfrm>
            <a:off x="8046720" y="3108960"/>
            <a:ext cx="1691640" cy="365760"/>
          </a:xfrm>
          <a:prstGeom prst="rect">
            <a:avLst/>
          </a:prstGeom>
          <a:noFill/>
          <a:ln/>
        </p:spPr>
        <p:txBody>
          <a:bodyPr wrap="square" lIns="0" tIns="0" rIns="0" bIns="0" rtlCol="0" anchor="ctr"/>
          <a:lstStyle/>
          <a:p>
            <a:pPr algn="ctr" indent="0" marL="0">
              <a:buNone/>
            </a:pPr>
            <a:r>
              <a:rPr lang="en-US" sz="1600" b="1" dirty="0">
                <a:solidFill>
                  <a:srgbClr val="1F1A2E"/>
                </a:solidFill>
                <a:latin typeface="Calibri" pitchFamily="34" charset="0"/>
                <a:ea typeface="Calibri" pitchFamily="34" charset="-122"/>
                <a:cs typeface="Calibri" pitchFamily="34" charset="-120"/>
              </a:rPr>
              <a:t>Indexation</a:t>
            </a:r>
            <a:endParaRPr lang="en-US" sz="1600" dirty="0"/>
          </a:p>
        </p:txBody>
      </p:sp>
      <p:sp>
        <p:nvSpPr>
          <p:cNvPr id="35" name="Text 28"/>
          <p:cNvSpPr txBox="1"/>
          <p:nvPr/>
        </p:nvSpPr>
        <p:spPr>
          <a:xfrm>
            <a:off x="8092440" y="3474720"/>
            <a:ext cx="1600200" cy="685800"/>
          </a:xfrm>
          <a:prstGeom prst="rect">
            <a:avLst/>
          </a:prstGeom>
          <a:noFill/>
          <a:ln/>
        </p:spPr>
        <p:txBody>
          <a:bodyPr wrap="square" lIns="0" tIns="0" rIns="0" bIns="0" rtlCol="0" anchor="t"/>
          <a:lstStyle/>
          <a:p>
            <a:pPr algn="ctr" indent="0" marL="0">
              <a:buNone/>
            </a:pPr>
            <a:r>
              <a:rPr lang="en-US" sz="1200" dirty="0">
                <a:solidFill>
                  <a:srgbClr val="6B6780"/>
                </a:solidFill>
                <a:latin typeface="Calibri" pitchFamily="34" charset="0"/>
                <a:ea typeface="Calibri" pitchFamily="34" charset="-122"/>
                <a:cs typeface="Calibri" pitchFamily="34" charset="-120"/>
              </a:rPr>
              <a:t>Index vectoriel ANN (pgvector)</a:t>
            </a:r>
            <a:endParaRPr lang="en-US" sz="1200" dirty="0"/>
          </a:p>
        </p:txBody>
      </p:sp>
      <p:sp>
        <p:nvSpPr>
          <p:cNvPr id="36" name="Shape 29"/>
          <p:cNvSpPr/>
          <p:nvPr/>
        </p:nvSpPr>
        <p:spPr>
          <a:xfrm>
            <a:off x="10309860" y="1783080"/>
            <a:ext cx="914400" cy="914400"/>
          </a:xfrm>
          <a:prstGeom prst="ellipse">
            <a:avLst/>
          </a:prstGeom>
          <a:solidFill>
            <a:srgbClr val="2EA35A"/>
          </a:solidFill>
          <a:ln w="38100">
            <a:solidFill>
              <a:srgbClr val="FFFFFF"/>
            </a:solidFill>
            <a:prstDash val="solid"/>
          </a:ln>
        </p:spPr>
      </p:sp>
      <p:pic>
        <p:nvPicPr>
          <p:cNvPr id="37" name="Image 5" descr="preencoded.png">    </p:cNvPr>
          <p:cNvPicPr>
            <a:picLocks noChangeAspect="1"/>
          </p:cNvPicPr>
          <p:nvPr/>
        </p:nvPicPr>
        <p:blipFill>
          <a:blip r:embed="rId6"/>
          <a:stretch>
            <a:fillRect/>
          </a:stretch>
        </p:blipFill>
        <p:spPr>
          <a:xfrm>
            <a:off x="10538460" y="2011680"/>
            <a:ext cx="457200" cy="457200"/>
          </a:xfrm>
          <a:prstGeom prst="rect">
            <a:avLst/>
          </a:prstGeom>
        </p:spPr>
      </p:pic>
      <p:sp>
        <p:nvSpPr>
          <p:cNvPr id="38" name="Text 30"/>
          <p:cNvSpPr txBox="1"/>
          <p:nvPr/>
        </p:nvSpPr>
        <p:spPr>
          <a:xfrm>
            <a:off x="9921240" y="2834640"/>
            <a:ext cx="1691640" cy="274320"/>
          </a:xfrm>
          <a:prstGeom prst="rect">
            <a:avLst/>
          </a:prstGeom>
          <a:noFill/>
          <a:ln/>
        </p:spPr>
        <p:txBody>
          <a:bodyPr wrap="square" lIns="0" tIns="0" rIns="0" bIns="0" rtlCol="0" anchor="ctr"/>
          <a:lstStyle/>
          <a:p>
            <a:pPr algn="ctr" indent="0" marL="0">
              <a:buNone/>
            </a:pPr>
            <a:r>
              <a:rPr lang="en-US" sz="1200" b="1" dirty="0">
                <a:solidFill>
                  <a:srgbClr val="F28C28"/>
                </a:solidFill>
                <a:latin typeface="Calibri" pitchFamily="34" charset="0"/>
                <a:ea typeface="Calibri" pitchFamily="34" charset="-122"/>
                <a:cs typeface="Calibri" pitchFamily="34" charset="-120"/>
              </a:rPr>
              <a:t>06</a:t>
            </a:r>
            <a:endParaRPr lang="en-US" sz="1200" dirty="0"/>
          </a:p>
        </p:txBody>
      </p:sp>
      <p:sp>
        <p:nvSpPr>
          <p:cNvPr id="39" name="Text 31"/>
          <p:cNvSpPr txBox="1"/>
          <p:nvPr/>
        </p:nvSpPr>
        <p:spPr>
          <a:xfrm>
            <a:off x="9921240" y="3108960"/>
            <a:ext cx="1691640" cy="365760"/>
          </a:xfrm>
          <a:prstGeom prst="rect">
            <a:avLst/>
          </a:prstGeom>
          <a:noFill/>
          <a:ln/>
        </p:spPr>
        <p:txBody>
          <a:bodyPr wrap="square" lIns="0" tIns="0" rIns="0" bIns="0" rtlCol="0" anchor="ctr"/>
          <a:lstStyle/>
          <a:p>
            <a:pPr algn="ctr" indent="0" marL="0">
              <a:buNone/>
            </a:pPr>
            <a:r>
              <a:rPr lang="en-US" sz="1600" b="1" dirty="0">
                <a:solidFill>
                  <a:srgbClr val="1F1A2E"/>
                </a:solidFill>
                <a:latin typeface="Calibri" pitchFamily="34" charset="0"/>
                <a:ea typeface="Calibri" pitchFamily="34" charset="-122"/>
                <a:cs typeface="Calibri" pitchFamily="34" charset="-120"/>
              </a:rPr>
              <a:t>Décision</a:t>
            </a:r>
            <a:endParaRPr lang="en-US" sz="1600" dirty="0"/>
          </a:p>
        </p:txBody>
      </p:sp>
      <p:sp>
        <p:nvSpPr>
          <p:cNvPr id="40" name="Text 32"/>
          <p:cNvSpPr txBox="1"/>
          <p:nvPr/>
        </p:nvSpPr>
        <p:spPr>
          <a:xfrm>
            <a:off x="9966960" y="3474720"/>
            <a:ext cx="1600200" cy="685800"/>
          </a:xfrm>
          <a:prstGeom prst="rect">
            <a:avLst/>
          </a:prstGeom>
          <a:noFill/>
          <a:ln/>
        </p:spPr>
        <p:txBody>
          <a:bodyPr wrap="square" lIns="0" tIns="0" rIns="0" bIns="0" rtlCol="0" anchor="t"/>
          <a:lstStyle/>
          <a:p>
            <a:pPr algn="ctr" indent="0" marL="0">
              <a:buNone/>
            </a:pPr>
            <a:r>
              <a:rPr lang="en-US" sz="1200" dirty="0">
                <a:solidFill>
                  <a:srgbClr val="6B6780"/>
                </a:solidFill>
                <a:latin typeface="Calibri" pitchFamily="34" charset="0"/>
                <a:ea typeface="Calibri" pitchFamily="34" charset="-122"/>
                <a:cs typeface="Calibri" pitchFamily="34" charset="-120"/>
              </a:rPr>
              <a:t>1:1, 1:N et journalisation</a:t>
            </a:r>
            <a:endParaRPr lang="en-US" sz="1200" dirty="0"/>
          </a:p>
        </p:txBody>
      </p:sp>
      <p:sp>
        <p:nvSpPr>
          <p:cNvPr id="41" name="Shape 33"/>
          <p:cNvSpPr/>
          <p:nvPr/>
        </p:nvSpPr>
        <p:spPr>
          <a:xfrm>
            <a:off x="548640" y="4526280"/>
            <a:ext cx="11091672" cy="1508760"/>
          </a:xfrm>
          <a:prstGeom prst="roundRect">
            <a:avLst>
              <a:gd name="adj" fmla="val 7273"/>
            </a:avLst>
          </a:prstGeom>
          <a:solidFill>
            <a:srgbClr val="F3EEFE"/>
          </a:solidFill>
          <a:ln w="12700">
            <a:solidFill>
              <a:srgbClr val="E4DCF7"/>
            </a:solidFill>
            <a:prstDash val="solid"/>
          </a:ln>
        </p:spPr>
      </p:sp>
      <p:sp>
        <p:nvSpPr>
          <p:cNvPr id="42" name="Shape 34"/>
          <p:cNvSpPr/>
          <p:nvPr/>
        </p:nvSpPr>
        <p:spPr>
          <a:xfrm>
            <a:off x="868680" y="4937760"/>
            <a:ext cx="685800" cy="685800"/>
          </a:xfrm>
          <a:prstGeom prst="roundRect">
            <a:avLst>
              <a:gd name="adj" fmla="val 20000"/>
            </a:avLst>
          </a:prstGeom>
          <a:solidFill>
            <a:srgbClr val="1E0B4B"/>
          </a:solidFill>
          <a:ln w="12700">
            <a:solidFill>
              <a:srgbClr val="1E0B4B"/>
            </a:solidFill>
            <a:prstDash val="solid"/>
          </a:ln>
        </p:spPr>
      </p:sp>
      <p:pic>
        <p:nvPicPr>
          <p:cNvPr id="43" name="Image 6" descr="preencoded.png">    </p:cNvPr>
          <p:cNvPicPr>
            <a:picLocks noChangeAspect="1"/>
          </p:cNvPicPr>
          <p:nvPr/>
        </p:nvPicPr>
        <p:blipFill>
          <a:blip r:embed="rId7"/>
          <a:stretch>
            <a:fillRect/>
          </a:stretch>
        </p:blipFill>
        <p:spPr>
          <a:xfrm>
            <a:off x="1046988" y="5116068"/>
            <a:ext cx="329184" cy="329184"/>
          </a:xfrm>
          <a:prstGeom prst="rect">
            <a:avLst/>
          </a:prstGeom>
        </p:spPr>
      </p:pic>
      <p:sp>
        <p:nvSpPr>
          <p:cNvPr id="44" name="Text 35"/>
          <p:cNvSpPr txBox="1"/>
          <p:nvPr/>
        </p:nvSpPr>
        <p:spPr>
          <a:xfrm>
            <a:off x="1783080" y="4663440"/>
            <a:ext cx="9601200" cy="1234440"/>
          </a:xfrm>
          <a:prstGeom prst="rect">
            <a:avLst/>
          </a:prstGeom>
          <a:noFill/>
          <a:ln/>
        </p:spPr>
        <p:txBody>
          <a:bodyPr wrap="square" lIns="0" tIns="0" rIns="0" bIns="0" rtlCol="0" anchor="ctr"/>
          <a:lstStyle/>
          <a:p>
            <a:pPr indent="0" marL="0">
              <a:buNone/>
            </a:pPr>
            <a:r>
              <a:rPr lang="en-US" sz="1500" b="1" dirty="0">
                <a:solidFill>
                  <a:srgbClr val="1E0B4B"/>
                </a:solidFill>
                <a:latin typeface="Calibri" pitchFamily="34" charset="0"/>
                <a:ea typeface="Calibri" pitchFamily="34" charset="-122"/>
                <a:cs typeface="Calibri" pitchFamily="34" charset="-120"/>
              </a:rPr>
              <a:t>Cas d'usage phare : la lutte contre la double affiliation</a:t>
            </a:r>
            <a:endParaRPr lang="en-US" sz="1500" dirty="0"/>
          </a:p>
          <a:p>
            <a:pPr indent="0" marL="0">
              <a:buNone/>
            </a:pPr>
            <a:r>
              <a:rPr lang="en-US" sz="1500" dirty="0">
                <a:solidFill>
                  <a:srgbClr val="1F1A2E"/>
                </a:solidFill>
                <a:latin typeface="Calibri" pitchFamily="34" charset="0"/>
                <a:ea typeface="Calibri" pitchFamily="34" charset="-122"/>
                <a:cs typeface="Calibri" pitchFamily="34" charset="-120"/>
              </a:rPr>
              <a:t>À chaque nouvel enrôlement, le visage est comparé à toute la base. Si la même personne existe déjà sous un autre matricule, une alerte est levée avant la création du dossier.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VALIDATION</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Premiers résultats : une séparation nette</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11</a:t>
            </a:r>
            <a:endParaRPr lang="en-US" sz="1000" dirty="0"/>
          </a:p>
        </p:txBody>
      </p:sp>
      <p:graphicFrame>
        <p:nvGraphicFramePr>
          <p:cNvPr id="6" name="Chart 0" descr=""/>
          <p:cNvGraphicFramePr/>
          <p:nvPr/>
        </p:nvGraphicFramePr>
        <p:xfrm>
          <a:off x="548640" y="15544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18120" y="1645920"/>
            <a:ext cx="3822192" cy="1143000"/>
          </a:xfrm>
          <a:prstGeom prst="roundRect">
            <a:avLst>
              <a:gd name="adj" fmla="val 9600"/>
            </a:avLst>
          </a:prstGeom>
          <a:solidFill>
            <a:srgbClr val="FAF8FF"/>
          </a:solidFill>
          <a:ln w="12700">
            <a:solidFill>
              <a:srgbClr val="E4DCF7"/>
            </a:solidFill>
            <a:prstDash val="solid"/>
          </a:ln>
        </p:spPr>
      </p:sp>
      <p:sp>
        <p:nvSpPr>
          <p:cNvPr id="8" name="Text 5"/>
          <p:cNvSpPr txBox="1"/>
          <p:nvPr/>
        </p:nvSpPr>
        <p:spPr>
          <a:xfrm>
            <a:off x="8046720" y="1755648"/>
            <a:ext cx="3474720" cy="594360"/>
          </a:xfrm>
          <a:prstGeom prst="rect">
            <a:avLst/>
          </a:prstGeom>
          <a:noFill/>
          <a:ln/>
        </p:spPr>
        <p:txBody>
          <a:bodyPr wrap="square" lIns="0" tIns="0" rIns="0" bIns="0" rtlCol="0" anchor="ctr"/>
          <a:lstStyle/>
          <a:p>
            <a:pPr indent="0" marL="0">
              <a:buNone/>
            </a:pPr>
            <a:r>
              <a:rPr lang="en-US" sz="3000" b="1" dirty="0">
                <a:solidFill>
                  <a:srgbClr val="2EA35A"/>
                </a:solidFill>
                <a:latin typeface="Arial" pitchFamily="34" charset="0"/>
                <a:ea typeface="Arial" pitchFamily="34" charset="-122"/>
                <a:cs typeface="Arial" pitchFamily="34" charset="-120"/>
              </a:rPr>
              <a:t>0,53 – 0,72</a:t>
            </a:r>
            <a:endParaRPr lang="en-US" sz="3000" dirty="0"/>
          </a:p>
        </p:txBody>
      </p:sp>
      <p:sp>
        <p:nvSpPr>
          <p:cNvPr id="9" name="Text 6"/>
          <p:cNvSpPr txBox="1"/>
          <p:nvPr/>
        </p:nvSpPr>
        <p:spPr>
          <a:xfrm>
            <a:off x="8046720" y="2350008"/>
            <a:ext cx="3474720" cy="320040"/>
          </a:xfrm>
          <a:prstGeom prst="rect">
            <a:avLst/>
          </a:prstGeom>
          <a:noFill/>
          <a:ln/>
        </p:spPr>
        <p:txBody>
          <a:bodyPr wrap="square" lIns="0" tIns="0" rIns="0" bIns="0" rtlCol="0" anchor="ctr"/>
          <a:lstStyle/>
          <a:p>
            <a:pPr indent="0" marL="0">
              <a:buNone/>
            </a:pPr>
            <a:r>
              <a:rPr lang="en-US" sz="1300" dirty="0">
                <a:solidFill>
                  <a:srgbClr val="6B6780"/>
                </a:solidFill>
                <a:latin typeface="Calibri" pitchFamily="34" charset="0"/>
                <a:ea typeface="Calibri" pitchFamily="34" charset="-122"/>
                <a:cs typeface="Calibri" pitchFamily="34" charset="-120"/>
              </a:rPr>
              <a:t>Même personne</a:t>
            </a:r>
            <a:endParaRPr lang="en-US" sz="1300" dirty="0"/>
          </a:p>
        </p:txBody>
      </p:sp>
      <p:sp>
        <p:nvSpPr>
          <p:cNvPr id="10" name="Shape 7"/>
          <p:cNvSpPr/>
          <p:nvPr/>
        </p:nvSpPr>
        <p:spPr>
          <a:xfrm>
            <a:off x="7818120" y="2971800"/>
            <a:ext cx="3822192" cy="1143000"/>
          </a:xfrm>
          <a:prstGeom prst="roundRect">
            <a:avLst>
              <a:gd name="adj" fmla="val 9600"/>
            </a:avLst>
          </a:prstGeom>
          <a:solidFill>
            <a:srgbClr val="FAF8FF"/>
          </a:solidFill>
          <a:ln w="12700">
            <a:solidFill>
              <a:srgbClr val="E4DCF7"/>
            </a:solidFill>
            <a:prstDash val="solid"/>
          </a:ln>
        </p:spPr>
      </p:sp>
      <p:sp>
        <p:nvSpPr>
          <p:cNvPr id="11" name="Text 8"/>
          <p:cNvSpPr txBox="1"/>
          <p:nvPr/>
        </p:nvSpPr>
        <p:spPr>
          <a:xfrm>
            <a:off x="8046720" y="3081528"/>
            <a:ext cx="3474720" cy="594360"/>
          </a:xfrm>
          <a:prstGeom prst="rect">
            <a:avLst/>
          </a:prstGeom>
          <a:noFill/>
          <a:ln/>
        </p:spPr>
        <p:txBody>
          <a:bodyPr wrap="square" lIns="0" tIns="0" rIns="0" bIns="0" rtlCol="0" anchor="ctr"/>
          <a:lstStyle/>
          <a:p>
            <a:pPr indent="0" marL="0">
              <a:buNone/>
            </a:pPr>
            <a:r>
              <a:rPr lang="en-US" sz="3000" b="1" dirty="0">
                <a:solidFill>
                  <a:srgbClr val="D94848"/>
                </a:solidFill>
                <a:latin typeface="Arial" pitchFamily="34" charset="0"/>
                <a:ea typeface="Arial" pitchFamily="34" charset="-122"/>
                <a:cs typeface="Arial" pitchFamily="34" charset="-120"/>
              </a:rPr>
              <a:t>−0,01 – 0,14</a:t>
            </a:r>
            <a:endParaRPr lang="en-US" sz="3000" dirty="0"/>
          </a:p>
        </p:txBody>
      </p:sp>
      <p:sp>
        <p:nvSpPr>
          <p:cNvPr id="12" name="Text 9"/>
          <p:cNvSpPr txBox="1"/>
          <p:nvPr/>
        </p:nvSpPr>
        <p:spPr>
          <a:xfrm>
            <a:off x="8046720" y="3675888"/>
            <a:ext cx="3474720" cy="320040"/>
          </a:xfrm>
          <a:prstGeom prst="rect">
            <a:avLst/>
          </a:prstGeom>
          <a:noFill/>
          <a:ln/>
        </p:spPr>
        <p:txBody>
          <a:bodyPr wrap="square" lIns="0" tIns="0" rIns="0" bIns="0" rtlCol="0" anchor="ctr"/>
          <a:lstStyle/>
          <a:p>
            <a:pPr indent="0" marL="0">
              <a:buNone/>
            </a:pPr>
            <a:r>
              <a:rPr lang="en-US" sz="1300" dirty="0">
                <a:solidFill>
                  <a:srgbClr val="6B6780"/>
                </a:solidFill>
                <a:latin typeface="Calibri" pitchFamily="34" charset="0"/>
                <a:ea typeface="Calibri" pitchFamily="34" charset="-122"/>
                <a:cs typeface="Calibri" pitchFamily="34" charset="-120"/>
              </a:rPr>
              <a:t>Personne différente</a:t>
            </a:r>
            <a:endParaRPr lang="en-US" sz="1300" dirty="0"/>
          </a:p>
        </p:txBody>
      </p:sp>
      <p:sp>
        <p:nvSpPr>
          <p:cNvPr id="13" name="Shape 10"/>
          <p:cNvSpPr/>
          <p:nvPr/>
        </p:nvSpPr>
        <p:spPr>
          <a:xfrm>
            <a:off x="7818120" y="4343400"/>
            <a:ext cx="3822192" cy="1783080"/>
          </a:xfrm>
          <a:prstGeom prst="roundRect">
            <a:avLst>
              <a:gd name="adj" fmla="val 6154"/>
            </a:avLst>
          </a:prstGeom>
          <a:solidFill>
            <a:srgbClr val="1E0B4B"/>
          </a:solidFill>
          <a:ln w="12700">
            <a:solidFill>
              <a:srgbClr val="E4DCF7"/>
            </a:solidFill>
            <a:prstDash val="solid"/>
          </a:ln>
        </p:spPr>
      </p:sp>
      <p:sp>
        <p:nvSpPr>
          <p:cNvPr id="14" name="Text 11"/>
          <p:cNvSpPr txBox="1"/>
          <p:nvPr/>
        </p:nvSpPr>
        <p:spPr>
          <a:xfrm>
            <a:off x="8046720" y="4480560"/>
            <a:ext cx="3429000" cy="1554480"/>
          </a:xfrm>
          <a:prstGeom prst="rect">
            <a:avLst/>
          </a:prstGeom>
          <a:noFill/>
          <a:ln/>
        </p:spPr>
        <p:txBody>
          <a:bodyPr wrap="square" lIns="0" tIns="0" rIns="0" bIns="0" rtlCol="0" anchor="t"/>
          <a:lstStyle/>
          <a:p>
            <a:pPr indent="0" marL="0">
              <a:buNone/>
            </a:pPr>
            <a:r>
              <a:rPr lang="en-US" sz="1300" b="1" dirty="0">
                <a:solidFill>
                  <a:srgbClr val="F28C28"/>
                </a:solidFill>
                <a:latin typeface="Calibri" pitchFamily="34" charset="0"/>
                <a:ea typeface="Calibri" pitchFamily="34" charset="-122"/>
                <a:cs typeface="Calibri" pitchFamily="34" charset="-120"/>
              </a:rPr>
              <a:t>Étape suivante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Campagne de validation à grande échelle sur des assurés réels : mesure des taux de fausse acceptation et de faux rejet, puis ajustement du seuil.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INTÉGRATION</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Branché directement sur vos API</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691640"/>
            <a:ext cx="6766560" cy="1143000"/>
          </a:xfrm>
          <a:prstGeom prst="roundRect">
            <a:avLst>
              <a:gd name="adj" fmla="val 9600"/>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7" name="Shape 5"/>
          <p:cNvSpPr/>
          <p:nvPr/>
        </p:nvSpPr>
        <p:spPr>
          <a:xfrm>
            <a:off x="822960" y="1920240"/>
            <a:ext cx="685800" cy="685800"/>
          </a:xfrm>
          <a:prstGeom prst="roundRect">
            <a:avLst>
              <a:gd name="adj" fmla="val 20000"/>
            </a:avLst>
          </a:prstGeom>
          <a:solidFill>
            <a:srgbClr val="F28C28"/>
          </a:solidFill>
          <a:ln w="12700">
            <a:solidFill>
              <a:srgbClr val="F28C28"/>
            </a:solidFill>
            <a:prstDash val="solid"/>
          </a:ln>
        </p:spPr>
      </p:sp>
      <p:pic>
        <p:nvPicPr>
          <p:cNvPr id="8" name="Image 0" descr="preencoded.png">    </p:cNvPr>
          <p:cNvPicPr>
            <a:picLocks noChangeAspect="1"/>
          </p:cNvPicPr>
          <p:nvPr/>
        </p:nvPicPr>
        <p:blipFill>
          <a:blip r:embed="rId1"/>
          <a:stretch>
            <a:fillRect/>
          </a:stretch>
        </p:blipFill>
        <p:spPr>
          <a:xfrm>
            <a:off x="1001268" y="2098548"/>
            <a:ext cx="329184" cy="329184"/>
          </a:xfrm>
          <a:prstGeom prst="rect">
            <a:avLst/>
          </a:prstGeom>
        </p:spPr>
      </p:pic>
      <p:sp>
        <p:nvSpPr>
          <p:cNvPr id="9" name="Text 6"/>
          <p:cNvSpPr txBox="1"/>
          <p:nvPr/>
        </p:nvSpPr>
        <p:spPr>
          <a:xfrm>
            <a:off x="1737360" y="1856232"/>
            <a:ext cx="5394960" cy="365760"/>
          </a:xfrm>
          <a:prstGeom prst="rect">
            <a:avLst/>
          </a:prstGeom>
          <a:noFill/>
          <a:ln/>
        </p:spPr>
        <p:txBody>
          <a:bodyPr wrap="square" lIns="0" tIns="0" rIns="0" bIns="0" rtlCol="0" anchor="ctr"/>
          <a:lstStyle/>
          <a:p>
            <a:pPr indent="0" marL="0">
              <a:buNone/>
            </a:pPr>
            <a:r>
              <a:rPr lang="en-US" sz="1600" b="1" dirty="0">
                <a:solidFill>
                  <a:srgbClr val="1E0B4B"/>
                </a:solidFill>
                <a:latin typeface="Courier New" pitchFamily="34" charset="0"/>
                <a:ea typeface="Courier New" pitchFamily="34" charset="-122"/>
                <a:cs typeface="Courier New" pitchFamily="34" charset="-120"/>
              </a:rPr>
              <a:t>getAssureByMatricule</a:t>
            </a:r>
            <a:endParaRPr lang="en-US" sz="1600" dirty="0"/>
          </a:p>
        </p:txBody>
      </p:sp>
      <p:sp>
        <p:nvSpPr>
          <p:cNvPr id="10" name="Text 7"/>
          <p:cNvSpPr txBox="1"/>
          <p:nvPr/>
        </p:nvSpPr>
        <p:spPr>
          <a:xfrm>
            <a:off x="1737360" y="2240280"/>
            <a:ext cx="5394960" cy="502920"/>
          </a:xfrm>
          <a:prstGeom prst="rect">
            <a:avLst/>
          </a:prstGeom>
          <a:noFill/>
          <a:ln/>
        </p:spPr>
        <p:txBody>
          <a:bodyPr wrap="square" lIns="0" tIns="0" rIns="0" bIns="0" rtlCol="0" anchor="ctr"/>
          <a:lstStyle/>
          <a:p>
            <a:pPr indent="0" marL="0">
              <a:buNone/>
            </a:pPr>
            <a:r>
              <a:rPr lang="en-US" sz="1300" dirty="0">
                <a:solidFill>
                  <a:srgbClr val="6B6780"/>
                </a:solidFill>
                <a:latin typeface="Calibri" pitchFamily="34" charset="0"/>
                <a:ea typeface="Calibri" pitchFamily="34" charset="-122"/>
                <a:cs typeface="Calibri" pitchFamily="34" charset="-120"/>
              </a:rPr>
              <a:t>Récupère l'identité de l'assuré (nom, matricule) au moment de la vérification.</a:t>
            </a:r>
            <a:endParaRPr lang="en-US" sz="1300" dirty="0"/>
          </a:p>
        </p:txBody>
      </p:sp>
      <p:sp>
        <p:nvSpPr>
          <p:cNvPr id="11" name="Shape 8"/>
          <p:cNvSpPr/>
          <p:nvPr/>
        </p:nvSpPr>
        <p:spPr>
          <a:xfrm>
            <a:off x="548640" y="3063240"/>
            <a:ext cx="6766560" cy="1143000"/>
          </a:xfrm>
          <a:prstGeom prst="roundRect">
            <a:avLst>
              <a:gd name="adj" fmla="val 9600"/>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12" name="Shape 9"/>
          <p:cNvSpPr/>
          <p:nvPr/>
        </p:nvSpPr>
        <p:spPr>
          <a:xfrm>
            <a:off x="822960" y="3291840"/>
            <a:ext cx="685800" cy="685800"/>
          </a:xfrm>
          <a:prstGeom prst="roundRect">
            <a:avLst>
              <a:gd name="adj" fmla="val 20000"/>
            </a:avLst>
          </a:prstGeom>
          <a:solidFill>
            <a:srgbClr val="F28C28"/>
          </a:solidFill>
          <a:ln w="12700">
            <a:solidFill>
              <a:srgbClr val="F28C28"/>
            </a:solidFill>
            <a:prstDash val="solid"/>
          </a:ln>
        </p:spPr>
      </p:sp>
      <p:pic>
        <p:nvPicPr>
          <p:cNvPr id="13" name="Image 1" descr="preencoded.png">    </p:cNvPr>
          <p:cNvPicPr>
            <a:picLocks noChangeAspect="1"/>
          </p:cNvPicPr>
          <p:nvPr/>
        </p:nvPicPr>
        <p:blipFill>
          <a:blip r:embed="rId2"/>
          <a:stretch>
            <a:fillRect/>
          </a:stretch>
        </p:blipFill>
        <p:spPr>
          <a:xfrm>
            <a:off x="1001268" y="3470148"/>
            <a:ext cx="329184" cy="329184"/>
          </a:xfrm>
          <a:prstGeom prst="rect">
            <a:avLst/>
          </a:prstGeom>
        </p:spPr>
      </p:pic>
      <p:sp>
        <p:nvSpPr>
          <p:cNvPr id="14" name="Text 10"/>
          <p:cNvSpPr txBox="1"/>
          <p:nvPr/>
        </p:nvSpPr>
        <p:spPr>
          <a:xfrm>
            <a:off x="1737360" y="3227832"/>
            <a:ext cx="5394960" cy="365760"/>
          </a:xfrm>
          <a:prstGeom prst="rect">
            <a:avLst/>
          </a:prstGeom>
          <a:noFill/>
          <a:ln/>
        </p:spPr>
        <p:txBody>
          <a:bodyPr wrap="square" lIns="0" tIns="0" rIns="0" bIns="0" rtlCol="0" anchor="ctr"/>
          <a:lstStyle/>
          <a:p>
            <a:pPr indent="0" marL="0">
              <a:buNone/>
            </a:pPr>
            <a:r>
              <a:rPr lang="en-US" sz="1600" b="1" dirty="0">
                <a:solidFill>
                  <a:srgbClr val="1E0B4B"/>
                </a:solidFill>
                <a:latin typeface="Courier New" pitchFamily="34" charset="0"/>
                <a:ea typeface="Courier New" pitchFamily="34" charset="-122"/>
                <a:cs typeface="Courier New" pitchFamily="34" charset="-120"/>
              </a:rPr>
              <a:t>createFeuilleSoins</a:t>
            </a:r>
            <a:endParaRPr lang="en-US" sz="1600" dirty="0"/>
          </a:p>
        </p:txBody>
      </p:sp>
      <p:sp>
        <p:nvSpPr>
          <p:cNvPr id="15" name="Text 11"/>
          <p:cNvSpPr txBox="1"/>
          <p:nvPr/>
        </p:nvSpPr>
        <p:spPr>
          <a:xfrm>
            <a:off x="1737360" y="3611880"/>
            <a:ext cx="5394960" cy="502920"/>
          </a:xfrm>
          <a:prstGeom prst="rect">
            <a:avLst/>
          </a:prstGeom>
          <a:noFill/>
          <a:ln/>
        </p:spPr>
        <p:txBody>
          <a:bodyPr wrap="square" lIns="0" tIns="0" rIns="0" bIns="0" rtlCol="0" anchor="ctr"/>
          <a:lstStyle/>
          <a:p>
            <a:pPr indent="0" marL="0">
              <a:buNone/>
            </a:pPr>
            <a:r>
              <a:rPr lang="en-US" sz="1300" dirty="0">
                <a:solidFill>
                  <a:srgbClr val="6B6780"/>
                </a:solidFill>
                <a:latin typeface="Calibri" pitchFamily="34" charset="0"/>
                <a:ea typeface="Calibri" pitchFamily="34" charset="-122"/>
                <a:cs typeface="Calibri" pitchFamily="34" charset="-120"/>
              </a:rPr>
              <a:t>Génère la feuille de soins officielle au format PDF, imprimée au kiosque.</a:t>
            </a:r>
            <a:endParaRPr lang="en-US" sz="1300" dirty="0"/>
          </a:p>
        </p:txBody>
      </p:sp>
      <p:sp>
        <p:nvSpPr>
          <p:cNvPr id="16" name="Shape 12"/>
          <p:cNvSpPr/>
          <p:nvPr/>
        </p:nvSpPr>
        <p:spPr>
          <a:xfrm>
            <a:off x="548640" y="4434840"/>
            <a:ext cx="6766560" cy="1143000"/>
          </a:xfrm>
          <a:prstGeom prst="roundRect">
            <a:avLst>
              <a:gd name="adj" fmla="val 9600"/>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17" name="Shape 13"/>
          <p:cNvSpPr/>
          <p:nvPr/>
        </p:nvSpPr>
        <p:spPr>
          <a:xfrm>
            <a:off x="822960" y="4663440"/>
            <a:ext cx="685800" cy="685800"/>
          </a:xfrm>
          <a:prstGeom prst="roundRect">
            <a:avLst>
              <a:gd name="adj" fmla="val 20000"/>
            </a:avLst>
          </a:prstGeom>
          <a:solidFill>
            <a:srgbClr val="F28C28"/>
          </a:solidFill>
          <a:ln w="12700">
            <a:solidFill>
              <a:srgbClr val="F28C28"/>
            </a:solidFill>
            <a:prstDash val="solid"/>
          </a:ln>
        </p:spPr>
      </p:sp>
      <p:pic>
        <p:nvPicPr>
          <p:cNvPr id="18" name="Image 2" descr="preencoded.png">    </p:cNvPr>
          <p:cNvPicPr>
            <a:picLocks noChangeAspect="1"/>
          </p:cNvPicPr>
          <p:nvPr/>
        </p:nvPicPr>
        <p:blipFill>
          <a:blip r:embed="rId3"/>
          <a:stretch>
            <a:fillRect/>
          </a:stretch>
        </p:blipFill>
        <p:spPr>
          <a:xfrm>
            <a:off x="1001268" y="4841748"/>
            <a:ext cx="329184" cy="329184"/>
          </a:xfrm>
          <a:prstGeom prst="rect">
            <a:avLst/>
          </a:prstGeom>
        </p:spPr>
      </p:pic>
      <p:sp>
        <p:nvSpPr>
          <p:cNvPr id="19" name="Text 14"/>
          <p:cNvSpPr txBox="1"/>
          <p:nvPr/>
        </p:nvSpPr>
        <p:spPr>
          <a:xfrm>
            <a:off x="1737360" y="4599432"/>
            <a:ext cx="5394960" cy="365760"/>
          </a:xfrm>
          <a:prstGeom prst="rect">
            <a:avLst/>
          </a:prstGeom>
          <a:noFill/>
          <a:ln/>
        </p:spPr>
        <p:txBody>
          <a:bodyPr wrap="square" lIns="0" tIns="0" rIns="0" bIns="0" rtlCol="0" anchor="ctr"/>
          <a:lstStyle/>
          <a:p>
            <a:pPr indent="0" marL="0">
              <a:buNone/>
            </a:pPr>
            <a:r>
              <a:rPr lang="en-US" sz="1600" b="1" dirty="0">
                <a:solidFill>
                  <a:srgbClr val="1E0B4B"/>
                </a:solidFill>
                <a:latin typeface="Courier New" pitchFamily="34" charset="0"/>
                <a:ea typeface="Courier New" pitchFamily="34" charset="-122"/>
                <a:cs typeface="Courier New" pitchFamily="34" charset="-120"/>
              </a:rPr>
              <a:t>adherents.php</a:t>
            </a:r>
            <a:endParaRPr lang="en-US" sz="1600" dirty="0"/>
          </a:p>
        </p:txBody>
      </p:sp>
      <p:sp>
        <p:nvSpPr>
          <p:cNvPr id="20" name="Text 15"/>
          <p:cNvSpPr txBox="1"/>
          <p:nvPr/>
        </p:nvSpPr>
        <p:spPr>
          <a:xfrm>
            <a:off x="1737360" y="4983480"/>
            <a:ext cx="5394960" cy="502920"/>
          </a:xfrm>
          <a:prstGeom prst="rect">
            <a:avLst/>
          </a:prstGeom>
          <a:noFill/>
          <a:ln/>
        </p:spPr>
        <p:txBody>
          <a:bodyPr wrap="square" lIns="0" tIns="0" rIns="0" bIns="0" rtlCol="0" anchor="ctr"/>
          <a:lstStyle/>
          <a:p>
            <a:pPr indent="0" marL="0">
              <a:buNone/>
            </a:pPr>
            <a:r>
              <a:rPr lang="en-US" sz="1300" dirty="0">
                <a:solidFill>
                  <a:srgbClr val="6B6780"/>
                </a:solidFill>
                <a:latin typeface="Calibri" pitchFamily="34" charset="0"/>
                <a:ea typeface="Calibri" pitchFamily="34" charset="-122"/>
                <a:cs typeface="Calibri" pitchFamily="34" charset="-120"/>
              </a:rPr>
              <a:t>Création d'adhérent avec photo : alimente automatiquement l'enrôlement facial.</a:t>
            </a:r>
            <a:endParaRPr lang="en-US" sz="1300" dirty="0"/>
          </a:p>
        </p:txBody>
      </p:sp>
      <p:sp>
        <p:nvSpPr>
          <p:cNvPr id="21" name="Shape 16"/>
          <p:cNvSpPr/>
          <p:nvPr/>
        </p:nvSpPr>
        <p:spPr>
          <a:xfrm>
            <a:off x="7680960" y="1691640"/>
            <a:ext cx="3959352" cy="3886200"/>
          </a:xfrm>
          <a:prstGeom prst="roundRect">
            <a:avLst>
              <a:gd name="adj" fmla="val 3529"/>
            </a:avLst>
          </a:prstGeom>
          <a:solidFill>
            <a:srgbClr val="F3EEFE"/>
          </a:solidFill>
          <a:ln w="12700">
            <a:solidFill>
              <a:srgbClr val="F3EEFE"/>
            </a:solidFill>
            <a:prstDash val="solid"/>
          </a:ln>
        </p:spPr>
      </p:sp>
      <p:pic>
        <p:nvPicPr>
          <p:cNvPr id="22" name="Image 3" descr="preencoded.png">    </p:cNvPr>
          <p:cNvPicPr>
            <a:picLocks noChangeAspect="1"/>
          </p:cNvPicPr>
          <p:nvPr/>
        </p:nvPicPr>
        <p:blipFill>
          <a:blip r:embed="rId4"/>
          <a:stretch>
            <a:fillRect/>
          </a:stretch>
        </p:blipFill>
        <p:spPr>
          <a:xfrm>
            <a:off x="8001000" y="2011680"/>
            <a:ext cx="411480" cy="411480"/>
          </a:xfrm>
          <a:prstGeom prst="rect">
            <a:avLst/>
          </a:prstGeom>
        </p:spPr>
      </p:pic>
      <p:sp>
        <p:nvSpPr>
          <p:cNvPr id="23" name="Text 17"/>
          <p:cNvSpPr txBox="1"/>
          <p:nvPr/>
        </p:nvSpPr>
        <p:spPr>
          <a:xfrm>
            <a:off x="8595360" y="1965960"/>
            <a:ext cx="2834640" cy="822960"/>
          </a:xfrm>
          <a:prstGeom prst="rect">
            <a:avLst/>
          </a:prstGeom>
          <a:noFill/>
          <a:ln/>
        </p:spPr>
        <p:txBody>
          <a:bodyPr wrap="square" lIns="0" tIns="0" rIns="0" bIns="0" rtlCol="0" anchor="t"/>
          <a:lstStyle/>
          <a:p>
            <a:pPr indent="0" marL="0">
              <a:buNone/>
            </a:pPr>
            <a:r>
              <a:rPr lang="en-US" sz="1500" b="1" dirty="0">
                <a:solidFill>
                  <a:srgbClr val="1E0B4B"/>
                </a:solidFill>
                <a:latin typeface="Calibri" pitchFamily="34" charset="0"/>
                <a:ea typeface="Calibri" pitchFamily="34" charset="-122"/>
                <a:cs typeface="Calibri" pitchFamily="34" charset="-120"/>
              </a:rPr>
              <a:t>Aucune copie</a:t>
            </a:r>
            <a:endParaRPr lang="en-US" sz="1500" dirty="0"/>
          </a:p>
          <a:p>
            <a:pPr indent="0" marL="0">
              <a:buNone/>
            </a:pPr>
            <a:r>
              <a:rPr lang="en-US" sz="1500" dirty="0">
                <a:solidFill>
                  <a:srgbClr val="6B6780"/>
                </a:solidFill>
                <a:latin typeface="Calibri" pitchFamily="34" charset="0"/>
                <a:ea typeface="Calibri" pitchFamily="34" charset="-122"/>
                <a:cs typeface="Calibri" pitchFamily="34" charset="-120"/>
              </a:rPr>
              <a:t>de la base CNASS</a:t>
            </a:r>
            <a:endParaRPr lang="en-US" sz="1500" dirty="0"/>
          </a:p>
        </p:txBody>
      </p:sp>
      <p:pic>
        <p:nvPicPr>
          <p:cNvPr id="24" name="Image 4" descr="preencoded.png">    </p:cNvPr>
          <p:cNvPicPr>
            <a:picLocks noChangeAspect="1"/>
          </p:cNvPicPr>
          <p:nvPr/>
        </p:nvPicPr>
        <p:blipFill>
          <a:blip r:embed="rId5"/>
          <a:stretch>
            <a:fillRect/>
          </a:stretch>
        </p:blipFill>
        <p:spPr>
          <a:xfrm>
            <a:off x="8001000" y="3200400"/>
            <a:ext cx="411480" cy="411480"/>
          </a:xfrm>
          <a:prstGeom prst="rect">
            <a:avLst/>
          </a:prstGeom>
        </p:spPr>
      </p:pic>
      <p:sp>
        <p:nvSpPr>
          <p:cNvPr id="25" name="Text 18"/>
          <p:cNvSpPr txBox="1"/>
          <p:nvPr/>
        </p:nvSpPr>
        <p:spPr>
          <a:xfrm>
            <a:off x="8595360" y="3154680"/>
            <a:ext cx="2834640" cy="822960"/>
          </a:xfrm>
          <a:prstGeom prst="rect">
            <a:avLst/>
          </a:prstGeom>
          <a:noFill/>
          <a:ln/>
        </p:spPr>
        <p:txBody>
          <a:bodyPr wrap="square" lIns="0" tIns="0" rIns="0" bIns="0" rtlCol="0" anchor="t"/>
          <a:lstStyle/>
          <a:p>
            <a:pPr indent="0" marL="0">
              <a:buNone/>
            </a:pPr>
            <a:r>
              <a:rPr lang="en-US" sz="1500" b="1" dirty="0">
                <a:solidFill>
                  <a:srgbClr val="1E0B4B"/>
                </a:solidFill>
                <a:latin typeface="Calibri" pitchFamily="34" charset="0"/>
                <a:ea typeface="Calibri" pitchFamily="34" charset="-122"/>
                <a:cs typeface="Calibri" pitchFamily="34" charset="-120"/>
              </a:rPr>
              <a:t>Source unique</a:t>
            </a:r>
            <a:endParaRPr lang="en-US" sz="1500" dirty="0"/>
          </a:p>
          <a:p>
            <a:pPr indent="0" marL="0">
              <a:buNone/>
            </a:pPr>
            <a:r>
              <a:rPr lang="en-US" sz="1500" dirty="0">
                <a:solidFill>
                  <a:srgbClr val="6B6780"/>
                </a:solidFill>
                <a:latin typeface="Calibri" pitchFamily="34" charset="0"/>
                <a:ea typeface="Calibri" pitchFamily="34" charset="-122"/>
                <a:cs typeface="Calibri" pitchFamily="34" charset="-120"/>
              </a:rPr>
              <a:t>de vérité : la CNASS</a:t>
            </a:r>
            <a:endParaRPr lang="en-US" sz="1500" dirty="0"/>
          </a:p>
        </p:txBody>
      </p:sp>
      <p:pic>
        <p:nvPicPr>
          <p:cNvPr id="26" name="Image 5" descr="preencoded.png">    </p:cNvPr>
          <p:cNvPicPr>
            <a:picLocks noChangeAspect="1"/>
          </p:cNvPicPr>
          <p:nvPr/>
        </p:nvPicPr>
        <p:blipFill>
          <a:blip r:embed="rId6"/>
          <a:stretch>
            <a:fillRect/>
          </a:stretch>
        </p:blipFill>
        <p:spPr>
          <a:xfrm>
            <a:off x="8001000" y="4389120"/>
            <a:ext cx="411480" cy="411480"/>
          </a:xfrm>
          <a:prstGeom prst="rect">
            <a:avLst/>
          </a:prstGeom>
        </p:spPr>
      </p:pic>
      <p:sp>
        <p:nvSpPr>
          <p:cNvPr id="27" name="Text 19"/>
          <p:cNvSpPr txBox="1"/>
          <p:nvPr/>
        </p:nvSpPr>
        <p:spPr>
          <a:xfrm>
            <a:off x="8595360" y="4343400"/>
            <a:ext cx="2834640" cy="822960"/>
          </a:xfrm>
          <a:prstGeom prst="rect">
            <a:avLst/>
          </a:prstGeom>
          <a:noFill/>
          <a:ln/>
        </p:spPr>
        <p:txBody>
          <a:bodyPr wrap="square" lIns="0" tIns="0" rIns="0" bIns="0" rtlCol="0" anchor="t"/>
          <a:lstStyle/>
          <a:p>
            <a:pPr indent="0" marL="0">
              <a:buNone/>
            </a:pPr>
            <a:r>
              <a:rPr lang="en-US" sz="1500" b="1" dirty="0">
                <a:solidFill>
                  <a:srgbClr val="1E0B4B"/>
                </a:solidFill>
                <a:latin typeface="Calibri" pitchFamily="34" charset="0"/>
                <a:ea typeface="Calibri" pitchFamily="34" charset="-122"/>
                <a:cs typeface="Calibri" pitchFamily="34" charset="-120"/>
              </a:rPr>
              <a:t>Feuille officielle</a:t>
            </a:r>
            <a:endParaRPr lang="en-US" sz="1500" dirty="0"/>
          </a:p>
          <a:p>
            <a:pPr indent="0" marL="0">
              <a:buNone/>
            </a:pPr>
            <a:r>
              <a:rPr lang="en-US" sz="1500" dirty="0">
                <a:solidFill>
                  <a:srgbClr val="6B6780"/>
                </a:solidFill>
                <a:latin typeface="Calibri" pitchFamily="34" charset="0"/>
                <a:ea typeface="Calibri" pitchFamily="34" charset="-122"/>
                <a:cs typeface="Calibri" pitchFamily="34" charset="-120"/>
              </a:rPr>
              <a:t>générée par votre API</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SÉCURITÉ ET CONFORMITÉ</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Sécurité dès la conception, moindre privilège</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645920"/>
            <a:ext cx="3566160" cy="1417320"/>
          </a:xfrm>
          <a:prstGeom prst="roundRect">
            <a:avLst>
              <a:gd name="adj" fmla="val 7742"/>
            </a:avLst>
          </a:prstGeom>
          <a:solidFill>
            <a:srgbClr val="FAF8FF"/>
          </a:solidFill>
          <a:ln w="12700">
            <a:solidFill>
              <a:srgbClr val="E4DCF7"/>
            </a:solidFill>
            <a:prstDash val="solid"/>
          </a:ln>
        </p:spPr>
      </p:sp>
      <p:sp>
        <p:nvSpPr>
          <p:cNvPr id="7" name="Shape 5"/>
          <p:cNvSpPr/>
          <p:nvPr/>
        </p:nvSpPr>
        <p:spPr>
          <a:xfrm>
            <a:off x="777240" y="1874520"/>
            <a:ext cx="594360" cy="594360"/>
          </a:xfrm>
          <a:prstGeom prst="roundRect">
            <a:avLst>
              <a:gd name="adj" fmla="val 23077"/>
            </a:avLst>
          </a:prstGeom>
          <a:solidFill>
            <a:srgbClr val="6A2BD9"/>
          </a:solidFill>
          <a:ln w="12700">
            <a:solidFill>
              <a:srgbClr val="6A2BD9"/>
            </a:solidFill>
            <a:prstDash val="solid"/>
          </a:ln>
        </p:spPr>
      </p:sp>
      <p:pic>
        <p:nvPicPr>
          <p:cNvPr id="8" name="Image 0" descr="preencoded.png">    </p:cNvPr>
          <p:cNvPicPr>
            <a:picLocks noChangeAspect="1"/>
          </p:cNvPicPr>
          <p:nvPr/>
        </p:nvPicPr>
        <p:blipFill>
          <a:blip r:embed="rId1"/>
          <a:stretch>
            <a:fillRect/>
          </a:stretch>
        </p:blipFill>
        <p:spPr>
          <a:xfrm>
            <a:off x="931774" y="2029054"/>
            <a:ext cx="285293" cy="285293"/>
          </a:xfrm>
          <a:prstGeom prst="rect">
            <a:avLst/>
          </a:prstGeom>
        </p:spPr>
      </p:pic>
      <p:sp>
        <p:nvSpPr>
          <p:cNvPr id="9" name="Text 6"/>
          <p:cNvSpPr txBox="1"/>
          <p:nvPr/>
        </p:nvSpPr>
        <p:spPr>
          <a:xfrm>
            <a:off x="1554480" y="1847088"/>
            <a:ext cx="2423160" cy="41148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Terminal sans mémoire</a:t>
            </a:r>
            <a:endParaRPr lang="en-US" sz="1500" dirty="0"/>
          </a:p>
        </p:txBody>
      </p:sp>
      <p:sp>
        <p:nvSpPr>
          <p:cNvPr id="10" name="Text 7"/>
          <p:cNvSpPr txBox="1"/>
          <p:nvPr/>
        </p:nvSpPr>
        <p:spPr>
          <a:xfrm>
            <a:off x="1554480" y="2267712"/>
            <a:ext cx="2423160" cy="685800"/>
          </a:xfrm>
          <a:prstGeom prst="rect">
            <a:avLst/>
          </a:prstGeom>
          <a:noFill/>
          <a:ln/>
        </p:spPr>
        <p:txBody>
          <a:bodyPr wrap="square" lIns="0" tIns="0" rIns="0" bIns="0" rtlCol="0" anchor="t"/>
          <a:lstStyle/>
          <a:p>
            <a:pPr indent="0" marL="0">
              <a:buNone/>
            </a:pPr>
            <a:r>
              <a:rPr lang="en-US" sz="1200" dirty="0">
                <a:solidFill>
                  <a:srgbClr val="6B6780"/>
                </a:solidFill>
                <a:latin typeface="Calibri" pitchFamily="34" charset="0"/>
                <a:ea typeface="Calibri" pitchFamily="34" charset="-122"/>
                <a:cs typeface="Calibri" pitchFamily="34" charset="-120"/>
              </a:rPr>
              <a:t>Aucune donnée patient conservée sur le kiosque.</a:t>
            </a:r>
            <a:endParaRPr lang="en-US" sz="1200" dirty="0"/>
          </a:p>
        </p:txBody>
      </p:sp>
      <p:sp>
        <p:nvSpPr>
          <p:cNvPr id="11" name="Shape 8"/>
          <p:cNvSpPr/>
          <p:nvPr/>
        </p:nvSpPr>
        <p:spPr>
          <a:xfrm>
            <a:off x="4297680" y="1645920"/>
            <a:ext cx="3566160" cy="1417320"/>
          </a:xfrm>
          <a:prstGeom prst="roundRect">
            <a:avLst>
              <a:gd name="adj" fmla="val 7742"/>
            </a:avLst>
          </a:prstGeom>
          <a:solidFill>
            <a:srgbClr val="FAF8FF"/>
          </a:solidFill>
          <a:ln w="12700">
            <a:solidFill>
              <a:srgbClr val="E4DCF7"/>
            </a:solidFill>
            <a:prstDash val="solid"/>
          </a:ln>
        </p:spPr>
      </p:sp>
      <p:sp>
        <p:nvSpPr>
          <p:cNvPr id="12" name="Shape 9"/>
          <p:cNvSpPr/>
          <p:nvPr/>
        </p:nvSpPr>
        <p:spPr>
          <a:xfrm>
            <a:off x="4526280" y="1874520"/>
            <a:ext cx="594360" cy="594360"/>
          </a:xfrm>
          <a:prstGeom prst="roundRect">
            <a:avLst>
              <a:gd name="adj" fmla="val 23077"/>
            </a:avLst>
          </a:prstGeom>
          <a:solidFill>
            <a:srgbClr val="6A2BD9"/>
          </a:solidFill>
          <a:ln w="12700">
            <a:solidFill>
              <a:srgbClr val="6A2BD9"/>
            </a:solidFill>
            <a:prstDash val="solid"/>
          </a:ln>
        </p:spPr>
      </p:sp>
      <p:pic>
        <p:nvPicPr>
          <p:cNvPr id="13" name="Image 1" descr="preencoded.png">    </p:cNvPr>
          <p:cNvPicPr>
            <a:picLocks noChangeAspect="1"/>
          </p:cNvPicPr>
          <p:nvPr/>
        </p:nvPicPr>
        <p:blipFill>
          <a:blip r:embed="rId2"/>
          <a:stretch>
            <a:fillRect/>
          </a:stretch>
        </p:blipFill>
        <p:spPr>
          <a:xfrm>
            <a:off x="4680814" y="2029054"/>
            <a:ext cx="285293" cy="285293"/>
          </a:xfrm>
          <a:prstGeom prst="rect">
            <a:avLst/>
          </a:prstGeom>
        </p:spPr>
      </p:pic>
      <p:sp>
        <p:nvSpPr>
          <p:cNvPr id="14" name="Text 10"/>
          <p:cNvSpPr txBox="1"/>
          <p:nvPr/>
        </p:nvSpPr>
        <p:spPr>
          <a:xfrm>
            <a:off x="5303520" y="1847088"/>
            <a:ext cx="2423160" cy="41148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Empreintes, pas de photos</a:t>
            </a:r>
            <a:endParaRPr lang="en-US" sz="1500" dirty="0"/>
          </a:p>
        </p:txBody>
      </p:sp>
      <p:sp>
        <p:nvSpPr>
          <p:cNvPr id="15" name="Text 11"/>
          <p:cNvSpPr txBox="1"/>
          <p:nvPr/>
        </p:nvSpPr>
        <p:spPr>
          <a:xfrm>
            <a:off x="5303520" y="2267712"/>
            <a:ext cx="2423160" cy="685800"/>
          </a:xfrm>
          <a:prstGeom prst="rect">
            <a:avLst/>
          </a:prstGeom>
          <a:noFill/>
          <a:ln/>
        </p:spPr>
        <p:txBody>
          <a:bodyPr wrap="square" lIns="0" tIns="0" rIns="0" bIns="0" rtlCol="0" anchor="t"/>
          <a:lstStyle/>
          <a:p>
            <a:pPr indent="0" marL="0">
              <a:buNone/>
            </a:pPr>
            <a:r>
              <a:rPr lang="en-US" sz="1200" dirty="0">
                <a:solidFill>
                  <a:srgbClr val="6B6780"/>
                </a:solidFill>
                <a:latin typeface="Calibri" pitchFamily="34" charset="0"/>
                <a:ea typeface="Calibri" pitchFamily="34" charset="-122"/>
                <a:cs typeface="Calibri" pitchFamily="34" charset="-120"/>
              </a:rPr>
              <a:t>La décision repose uniquement sur des vecteurs numériques.</a:t>
            </a:r>
            <a:endParaRPr lang="en-US" sz="1200" dirty="0"/>
          </a:p>
        </p:txBody>
      </p:sp>
      <p:sp>
        <p:nvSpPr>
          <p:cNvPr id="16" name="Shape 12"/>
          <p:cNvSpPr/>
          <p:nvPr/>
        </p:nvSpPr>
        <p:spPr>
          <a:xfrm>
            <a:off x="8046720" y="1645920"/>
            <a:ext cx="3566160" cy="1417320"/>
          </a:xfrm>
          <a:prstGeom prst="roundRect">
            <a:avLst>
              <a:gd name="adj" fmla="val 7742"/>
            </a:avLst>
          </a:prstGeom>
          <a:solidFill>
            <a:srgbClr val="FAF8FF"/>
          </a:solidFill>
          <a:ln w="12700">
            <a:solidFill>
              <a:srgbClr val="E4DCF7"/>
            </a:solidFill>
            <a:prstDash val="solid"/>
          </a:ln>
        </p:spPr>
      </p:sp>
      <p:sp>
        <p:nvSpPr>
          <p:cNvPr id="17" name="Shape 13"/>
          <p:cNvSpPr/>
          <p:nvPr/>
        </p:nvSpPr>
        <p:spPr>
          <a:xfrm>
            <a:off x="8275320" y="1874520"/>
            <a:ext cx="594360" cy="594360"/>
          </a:xfrm>
          <a:prstGeom prst="roundRect">
            <a:avLst>
              <a:gd name="adj" fmla="val 23077"/>
            </a:avLst>
          </a:prstGeom>
          <a:solidFill>
            <a:srgbClr val="6A2BD9"/>
          </a:solidFill>
          <a:ln w="12700">
            <a:solidFill>
              <a:srgbClr val="6A2BD9"/>
            </a:solidFill>
            <a:prstDash val="solid"/>
          </a:ln>
        </p:spPr>
      </p:sp>
      <p:pic>
        <p:nvPicPr>
          <p:cNvPr id="18" name="Image 2" descr="preencoded.png">    </p:cNvPr>
          <p:cNvPicPr>
            <a:picLocks noChangeAspect="1"/>
          </p:cNvPicPr>
          <p:nvPr/>
        </p:nvPicPr>
        <p:blipFill>
          <a:blip r:embed="rId3"/>
          <a:stretch>
            <a:fillRect/>
          </a:stretch>
        </p:blipFill>
        <p:spPr>
          <a:xfrm>
            <a:off x="8429854" y="2029054"/>
            <a:ext cx="285293" cy="285293"/>
          </a:xfrm>
          <a:prstGeom prst="rect">
            <a:avLst/>
          </a:prstGeom>
        </p:spPr>
      </p:pic>
      <p:sp>
        <p:nvSpPr>
          <p:cNvPr id="19" name="Text 14"/>
          <p:cNvSpPr txBox="1"/>
          <p:nvPr/>
        </p:nvSpPr>
        <p:spPr>
          <a:xfrm>
            <a:off x="9052560" y="1847088"/>
            <a:ext cx="2423160" cy="41148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Accès par jeton</a:t>
            </a:r>
            <a:endParaRPr lang="en-US" sz="1500" dirty="0"/>
          </a:p>
        </p:txBody>
      </p:sp>
      <p:sp>
        <p:nvSpPr>
          <p:cNvPr id="20" name="Text 15"/>
          <p:cNvSpPr txBox="1"/>
          <p:nvPr/>
        </p:nvSpPr>
        <p:spPr>
          <a:xfrm>
            <a:off x="9052560" y="2267712"/>
            <a:ext cx="2423160" cy="685800"/>
          </a:xfrm>
          <a:prstGeom prst="rect">
            <a:avLst/>
          </a:prstGeom>
          <a:noFill/>
          <a:ln/>
        </p:spPr>
        <p:txBody>
          <a:bodyPr wrap="square" lIns="0" tIns="0" rIns="0" bIns="0" rtlCol="0" anchor="t"/>
          <a:lstStyle/>
          <a:p>
            <a:pPr indent="0" marL="0">
              <a:buNone/>
            </a:pPr>
            <a:r>
              <a:rPr lang="en-US" sz="1200" dirty="0">
                <a:solidFill>
                  <a:srgbClr val="6B6780"/>
                </a:solidFill>
                <a:latin typeface="Calibri" pitchFamily="34" charset="0"/>
                <a:ea typeface="Calibri" pitchFamily="34" charset="-122"/>
                <a:cs typeface="Calibri" pitchFamily="34" charset="-120"/>
              </a:rPr>
              <a:t>Appels API authentifiés, jeton de production renouvelable.</a:t>
            </a:r>
            <a:endParaRPr lang="en-US" sz="1200" dirty="0"/>
          </a:p>
        </p:txBody>
      </p:sp>
      <p:sp>
        <p:nvSpPr>
          <p:cNvPr id="21" name="Shape 16"/>
          <p:cNvSpPr/>
          <p:nvPr/>
        </p:nvSpPr>
        <p:spPr>
          <a:xfrm>
            <a:off x="548640" y="3246120"/>
            <a:ext cx="3566160" cy="1417320"/>
          </a:xfrm>
          <a:prstGeom prst="roundRect">
            <a:avLst>
              <a:gd name="adj" fmla="val 7742"/>
            </a:avLst>
          </a:prstGeom>
          <a:solidFill>
            <a:srgbClr val="FAF8FF"/>
          </a:solidFill>
          <a:ln w="12700">
            <a:solidFill>
              <a:srgbClr val="E4DCF7"/>
            </a:solidFill>
            <a:prstDash val="solid"/>
          </a:ln>
        </p:spPr>
      </p:sp>
      <p:sp>
        <p:nvSpPr>
          <p:cNvPr id="22" name="Shape 17"/>
          <p:cNvSpPr/>
          <p:nvPr/>
        </p:nvSpPr>
        <p:spPr>
          <a:xfrm>
            <a:off x="777240" y="3474720"/>
            <a:ext cx="594360" cy="594360"/>
          </a:xfrm>
          <a:prstGeom prst="roundRect">
            <a:avLst>
              <a:gd name="adj" fmla="val 23077"/>
            </a:avLst>
          </a:prstGeom>
          <a:solidFill>
            <a:srgbClr val="6A2BD9"/>
          </a:solidFill>
          <a:ln w="12700">
            <a:solidFill>
              <a:srgbClr val="6A2BD9"/>
            </a:solidFill>
            <a:prstDash val="solid"/>
          </a:ln>
        </p:spPr>
      </p:sp>
      <p:pic>
        <p:nvPicPr>
          <p:cNvPr id="23" name="Image 3" descr="preencoded.png">    </p:cNvPr>
          <p:cNvPicPr>
            <a:picLocks noChangeAspect="1"/>
          </p:cNvPicPr>
          <p:nvPr/>
        </p:nvPicPr>
        <p:blipFill>
          <a:blip r:embed="rId4"/>
          <a:stretch>
            <a:fillRect/>
          </a:stretch>
        </p:blipFill>
        <p:spPr>
          <a:xfrm>
            <a:off x="931774" y="3629254"/>
            <a:ext cx="285293" cy="285293"/>
          </a:xfrm>
          <a:prstGeom prst="rect">
            <a:avLst/>
          </a:prstGeom>
        </p:spPr>
      </p:pic>
      <p:sp>
        <p:nvSpPr>
          <p:cNvPr id="24" name="Text 18"/>
          <p:cNvSpPr txBox="1"/>
          <p:nvPr/>
        </p:nvSpPr>
        <p:spPr>
          <a:xfrm>
            <a:off x="1554480" y="3447288"/>
            <a:ext cx="2423160" cy="41148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Réseau CNASS (VPN)</a:t>
            </a:r>
            <a:endParaRPr lang="en-US" sz="1500" dirty="0"/>
          </a:p>
        </p:txBody>
      </p:sp>
      <p:sp>
        <p:nvSpPr>
          <p:cNvPr id="25" name="Text 19"/>
          <p:cNvSpPr txBox="1"/>
          <p:nvPr/>
        </p:nvSpPr>
        <p:spPr>
          <a:xfrm>
            <a:off x="1554480" y="3867912"/>
            <a:ext cx="2423160" cy="685800"/>
          </a:xfrm>
          <a:prstGeom prst="rect">
            <a:avLst/>
          </a:prstGeom>
          <a:noFill/>
          <a:ln/>
        </p:spPr>
        <p:txBody>
          <a:bodyPr wrap="square" lIns="0" tIns="0" rIns="0" bIns="0" rtlCol="0" anchor="t"/>
          <a:lstStyle/>
          <a:p>
            <a:pPr indent="0" marL="0">
              <a:buNone/>
            </a:pPr>
            <a:r>
              <a:rPr lang="en-US" sz="1200" dirty="0">
                <a:solidFill>
                  <a:srgbClr val="6B6780"/>
                </a:solidFill>
                <a:latin typeface="Calibri" pitchFamily="34" charset="0"/>
                <a:ea typeface="Calibri" pitchFamily="34" charset="-122"/>
                <a:cs typeface="Calibri" pitchFamily="34" charset="-120"/>
              </a:rPr>
              <a:t>Communications chiffrées sur le réseau de la CNASS.</a:t>
            </a:r>
            <a:endParaRPr lang="en-US" sz="1200" dirty="0"/>
          </a:p>
        </p:txBody>
      </p:sp>
      <p:sp>
        <p:nvSpPr>
          <p:cNvPr id="26" name="Shape 20"/>
          <p:cNvSpPr/>
          <p:nvPr/>
        </p:nvSpPr>
        <p:spPr>
          <a:xfrm>
            <a:off x="4297680" y="3246120"/>
            <a:ext cx="3566160" cy="1417320"/>
          </a:xfrm>
          <a:prstGeom prst="roundRect">
            <a:avLst>
              <a:gd name="adj" fmla="val 7742"/>
            </a:avLst>
          </a:prstGeom>
          <a:solidFill>
            <a:srgbClr val="FAF8FF"/>
          </a:solidFill>
          <a:ln w="12700">
            <a:solidFill>
              <a:srgbClr val="E4DCF7"/>
            </a:solidFill>
            <a:prstDash val="solid"/>
          </a:ln>
        </p:spPr>
      </p:sp>
      <p:sp>
        <p:nvSpPr>
          <p:cNvPr id="27" name="Shape 21"/>
          <p:cNvSpPr/>
          <p:nvPr/>
        </p:nvSpPr>
        <p:spPr>
          <a:xfrm>
            <a:off x="4526280" y="3474720"/>
            <a:ext cx="594360" cy="594360"/>
          </a:xfrm>
          <a:prstGeom prst="roundRect">
            <a:avLst>
              <a:gd name="adj" fmla="val 23077"/>
            </a:avLst>
          </a:prstGeom>
          <a:solidFill>
            <a:srgbClr val="6A2BD9"/>
          </a:solidFill>
          <a:ln w="12700">
            <a:solidFill>
              <a:srgbClr val="6A2BD9"/>
            </a:solidFill>
            <a:prstDash val="solid"/>
          </a:ln>
        </p:spPr>
      </p:sp>
      <p:pic>
        <p:nvPicPr>
          <p:cNvPr id="28" name="Image 4" descr="preencoded.png">    </p:cNvPr>
          <p:cNvPicPr>
            <a:picLocks noChangeAspect="1"/>
          </p:cNvPicPr>
          <p:nvPr/>
        </p:nvPicPr>
        <p:blipFill>
          <a:blip r:embed="rId5"/>
          <a:stretch>
            <a:fillRect/>
          </a:stretch>
        </p:blipFill>
        <p:spPr>
          <a:xfrm>
            <a:off x="4680814" y="3629254"/>
            <a:ext cx="285293" cy="285293"/>
          </a:xfrm>
          <a:prstGeom prst="rect">
            <a:avLst/>
          </a:prstGeom>
        </p:spPr>
      </p:pic>
      <p:sp>
        <p:nvSpPr>
          <p:cNvPr id="29" name="Text 22"/>
          <p:cNvSpPr txBox="1"/>
          <p:nvPr/>
        </p:nvSpPr>
        <p:spPr>
          <a:xfrm>
            <a:off x="5303520" y="3447288"/>
            <a:ext cx="2423160" cy="41148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Journal d'audit</a:t>
            </a:r>
            <a:endParaRPr lang="en-US" sz="1500" dirty="0"/>
          </a:p>
        </p:txBody>
      </p:sp>
      <p:sp>
        <p:nvSpPr>
          <p:cNvPr id="30" name="Text 23"/>
          <p:cNvSpPr txBox="1"/>
          <p:nvPr/>
        </p:nvSpPr>
        <p:spPr>
          <a:xfrm>
            <a:off x="5303520" y="3867912"/>
            <a:ext cx="2423160" cy="685800"/>
          </a:xfrm>
          <a:prstGeom prst="rect">
            <a:avLst/>
          </a:prstGeom>
          <a:noFill/>
          <a:ln/>
        </p:spPr>
        <p:txBody>
          <a:bodyPr wrap="square" lIns="0" tIns="0" rIns="0" bIns="0" rtlCol="0" anchor="t"/>
          <a:lstStyle/>
          <a:p>
            <a:pPr indent="0" marL="0">
              <a:buNone/>
            </a:pPr>
            <a:r>
              <a:rPr lang="en-US" sz="1200" dirty="0">
                <a:solidFill>
                  <a:srgbClr val="6B6780"/>
                </a:solidFill>
                <a:latin typeface="Calibri" pitchFamily="34" charset="0"/>
                <a:ea typeface="Calibri" pitchFamily="34" charset="-122"/>
                <a:cs typeface="Calibri" pitchFamily="34" charset="-120"/>
              </a:rPr>
              <a:t>Traçabilité de chaque décision : date, terminal, résultat.</a:t>
            </a:r>
            <a:endParaRPr lang="en-US" sz="1200" dirty="0"/>
          </a:p>
        </p:txBody>
      </p:sp>
      <p:sp>
        <p:nvSpPr>
          <p:cNvPr id="31" name="Shape 24"/>
          <p:cNvSpPr/>
          <p:nvPr/>
        </p:nvSpPr>
        <p:spPr>
          <a:xfrm>
            <a:off x="8046720" y="3246120"/>
            <a:ext cx="3566160" cy="1417320"/>
          </a:xfrm>
          <a:prstGeom prst="roundRect">
            <a:avLst>
              <a:gd name="adj" fmla="val 7742"/>
            </a:avLst>
          </a:prstGeom>
          <a:solidFill>
            <a:srgbClr val="FAF8FF"/>
          </a:solidFill>
          <a:ln w="12700">
            <a:solidFill>
              <a:srgbClr val="E4DCF7"/>
            </a:solidFill>
            <a:prstDash val="solid"/>
          </a:ln>
        </p:spPr>
      </p:sp>
      <p:sp>
        <p:nvSpPr>
          <p:cNvPr id="32" name="Shape 25"/>
          <p:cNvSpPr/>
          <p:nvPr/>
        </p:nvSpPr>
        <p:spPr>
          <a:xfrm>
            <a:off x="8275320" y="3474720"/>
            <a:ext cx="594360" cy="594360"/>
          </a:xfrm>
          <a:prstGeom prst="roundRect">
            <a:avLst>
              <a:gd name="adj" fmla="val 23077"/>
            </a:avLst>
          </a:prstGeom>
          <a:solidFill>
            <a:srgbClr val="6A2BD9"/>
          </a:solidFill>
          <a:ln w="12700">
            <a:solidFill>
              <a:srgbClr val="6A2BD9"/>
            </a:solidFill>
            <a:prstDash val="solid"/>
          </a:ln>
        </p:spPr>
      </p:sp>
      <p:pic>
        <p:nvPicPr>
          <p:cNvPr id="33" name="Image 5" descr="preencoded.png">    </p:cNvPr>
          <p:cNvPicPr>
            <a:picLocks noChangeAspect="1"/>
          </p:cNvPicPr>
          <p:nvPr/>
        </p:nvPicPr>
        <p:blipFill>
          <a:blip r:embed="rId6"/>
          <a:stretch>
            <a:fillRect/>
          </a:stretch>
        </p:blipFill>
        <p:spPr>
          <a:xfrm>
            <a:off x="8429854" y="3629254"/>
            <a:ext cx="285293" cy="285293"/>
          </a:xfrm>
          <a:prstGeom prst="rect">
            <a:avLst/>
          </a:prstGeom>
        </p:spPr>
      </p:pic>
      <p:sp>
        <p:nvSpPr>
          <p:cNvPr id="34" name="Text 26"/>
          <p:cNvSpPr txBox="1"/>
          <p:nvPr/>
        </p:nvSpPr>
        <p:spPr>
          <a:xfrm>
            <a:off x="9052560" y="3447288"/>
            <a:ext cx="2423160" cy="41148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Conformité</a:t>
            </a:r>
            <a:endParaRPr lang="en-US" sz="1500" dirty="0"/>
          </a:p>
        </p:txBody>
      </p:sp>
      <p:sp>
        <p:nvSpPr>
          <p:cNvPr id="35" name="Text 27"/>
          <p:cNvSpPr txBox="1"/>
          <p:nvPr/>
        </p:nvSpPr>
        <p:spPr>
          <a:xfrm>
            <a:off x="9052560" y="3867912"/>
            <a:ext cx="2423160" cy="685800"/>
          </a:xfrm>
          <a:prstGeom prst="rect">
            <a:avLst/>
          </a:prstGeom>
          <a:noFill/>
          <a:ln/>
        </p:spPr>
        <p:txBody>
          <a:bodyPr wrap="square" lIns="0" tIns="0" rIns="0" bIns="0" rtlCol="0" anchor="t"/>
          <a:lstStyle/>
          <a:p>
            <a:pPr indent="0" marL="0">
              <a:buNone/>
            </a:pPr>
            <a:r>
              <a:rPr lang="en-US" sz="1200" dirty="0">
                <a:solidFill>
                  <a:srgbClr val="6B6780"/>
                </a:solidFill>
                <a:latin typeface="Calibri" pitchFamily="34" charset="0"/>
                <a:ea typeface="Calibri" pitchFamily="34" charset="-122"/>
                <a:cs typeface="Calibri" pitchFamily="34" charset="-120"/>
              </a:rPr>
              <a:t>Données biométriques traitées selon la loi n° 2017-020.</a:t>
            </a:r>
            <a:endParaRPr lang="en-US" sz="1200" dirty="0"/>
          </a:p>
        </p:txBody>
      </p:sp>
      <p:sp>
        <p:nvSpPr>
          <p:cNvPr id="36" name="Shape 28"/>
          <p:cNvSpPr/>
          <p:nvPr/>
        </p:nvSpPr>
        <p:spPr>
          <a:xfrm>
            <a:off x="548640" y="4937760"/>
            <a:ext cx="11091672" cy="1143000"/>
          </a:xfrm>
          <a:prstGeom prst="roundRect">
            <a:avLst>
              <a:gd name="adj" fmla="val 9600"/>
            </a:avLst>
          </a:prstGeom>
          <a:solidFill>
            <a:srgbClr val="1E0B4B"/>
          </a:solidFill>
          <a:ln w="12700">
            <a:solidFill>
              <a:srgbClr val="E4DCF7"/>
            </a:solidFill>
            <a:prstDash val="solid"/>
          </a:ln>
        </p:spPr>
      </p:sp>
      <p:sp>
        <p:nvSpPr>
          <p:cNvPr id="37" name="Shape 29"/>
          <p:cNvSpPr/>
          <p:nvPr/>
        </p:nvSpPr>
        <p:spPr>
          <a:xfrm>
            <a:off x="822960" y="5166360"/>
            <a:ext cx="685800" cy="685800"/>
          </a:xfrm>
          <a:prstGeom prst="roundRect">
            <a:avLst>
              <a:gd name="adj" fmla="val 20000"/>
            </a:avLst>
          </a:prstGeom>
          <a:solidFill>
            <a:srgbClr val="F28C28"/>
          </a:solidFill>
          <a:ln w="12700">
            <a:solidFill>
              <a:srgbClr val="F28C28"/>
            </a:solidFill>
            <a:prstDash val="solid"/>
          </a:ln>
        </p:spPr>
      </p:sp>
      <p:pic>
        <p:nvPicPr>
          <p:cNvPr id="38" name="Image 6" descr="preencoded.png">    </p:cNvPr>
          <p:cNvPicPr>
            <a:picLocks noChangeAspect="1"/>
          </p:cNvPicPr>
          <p:nvPr/>
        </p:nvPicPr>
        <p:blipFill>
          <a:blip r:embed="rId7"/>
          <a:stretch>
            <a:fillRect/>
          </a:stretch>
        </p:blipFill>
        <p:spPr>
          <a:xfrm>
            <a:off x="1001268" y="5344668"/>
            <a:ext cx="329184" cy="329184"/>
          </a:xfrm>
          <a:prstGeom prst="rect">
            <a:avLst/>
          </a:prstGeom>
        </p:spPr>
      </p:pic>
      <p:sp>
        <p:nvSpPr>
          <p:cNvPr id="39" name="Text 30"/>
          <p:cNvSpPr txBox="1"/>
          <p:nvPr/>
        </p:nvSpPr>
        <p:spPr>
          <a:xfrm>
            <a:off x="1783080" y="5029200"/>
            <a:ext cx="9601200" cy="960120"/>
          </a:xfrm>
          <a:prstGeom prst="rect">
            <a:avLst/>
          </a:prstGeom>
          <a:noFill/>
          <a:ln/>
        </p:spPr>
        <p:txBody>
          <a:bodyPr wrap="square" lIns="0" tIns="0" rIns="0" bIns="0" rtlCol="0" anchor="ctr"/>
          <a:lstStyle/>
          <a:p>
            <a:pPr indent="0" marL="0">
              <a:buNone/>
            </a:pPr>
            <a:r>
              <a:rPr lang="en-US" sz="1500" b="1" dirty="0">
                <a:solidFill>
                  <a:srgbClr val="F28C28"/>
                </a:solidFill>
                <a:latin typeface="Calibri" pitchFamily="34" charset="0"/>
                <a:ea typeface="Calibri" pitchFamily="34" charset="-122"/>
                <a:cs typeface="Calibri" pitchFamily="34" charset="-120"/>
              </a:rPr>
              <a:t>Feuille de route : détection du vivant (anti-fraude)  </a:t>
            </a:r>
            <a:pPr indent="0" marL="0">
              <a:buNone/>
            </a:pPr>
            <a:r>
              <a:rPr lang="en-US" sz="1500" dirty="0">
                <a:solidFill>
                  <a:srgbClr val="FFFFFF"/>
                </a:solidFill>
                <a:latin typeface="Calibri" pitchFamily="34" charset="0"/>
                <a:ea typeface="Calibri" pitchFamily="34" charset="-122"/>
                <a:cs typeface="Calibri" pitchFamily="34" charset="-120"/>
              </a:rPr>
              <a:t>pour rejeter une photo ou une vidéo présentée devant la caméra à la place d'un vrai visage.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AVANCEMENT</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Où en est le projet</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1280160" y="3063240"/>
            <a:ext cx="9601200" cy="0"/>
          </a:xfrm>
          <a:prstGeom prst="line">
            <a:avLst/>
          </a:prstGeom>
          <a:noFill/>
          <a:ln w="50800">
            <a:solidFill>
              <a:srgbClr val="E4DCF7"/>
            </a:solidFill>
            <a:prstDash val="solid"/>
          </a:ln>
        </p:spPr>
      </p:sp>
      <p:sp>
        <p:nvSpPr>
          <p:cNvPr id="7" name="Shape 5"/>
          <p:cNvSpPr/>
          <p:nvPr/>
        </p:nvSpPr>
        <p:spPr>
          <a:xfrm>
            <a:off x="1280160" y="3063240"/>
            <a:ext cx="5600700" cy="0"/>
          </a:xfrm>
          <a:prstGeom prst="line">
            <a:avLst/>
          </a:prstGeom>
          <a:noFill/>
          <a:ln w="50800">
            <a:solidFill>
              <a:srgbClr val="6A2BD9"/>
            </a:solidFill>
            <a:prstDash val="solid"/>
          </a:ln>
        </p:spPr>
      </p:sp>
      <p:sp>
        <p:nvSpPr>
          <p:cNvPr id="8" name="Shape 6"/>
          <p:cNvSpPr/>
          <p:nvPr/>
        </p:nvSpPr>
        <p:spPr>
          <a:xfrm>
            <a:off x="960120" y="2743200"/>
            <a:ext cx="640080" cy="640080"/>
          </a:xfrm>
          <a:prstGeom prst="ellipse">
            <a:avLst/>
          </a:prstGeom>
          <a:solidFill>
            <a:srgbClr val="2EA35A"/>
          </a:solidFill>
          <a:ln w="38100">
            <a:solidFill>
              <a:srgbClr val="FFFFFF"/>
            </a:solidFill>
            <a:prstDash val="solid"/>
          </a:ln>
        </p:spPr>
      </p:sp>
      <p:sp>
        <p:nvSpPr>
          <p:cNvPr id="9" name="Text 7"/>
          <p:cNvSpPr txBox="1"/>
          <p:nvPr/>
        </p:nvSpPr>
        <p:spPr>
          <a:xfrm>
            <a:off x="960120" y="27432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T1</a:t>
            </a:r>
            <a:endParaRPr lang="en-US" sz="1300" dirty="0"/>
          </a:p>
        </p:txBody>
      </p:sp>
      <p:sp>
        <p:nvSpPr>
          <p:cNvPr id="10" name="Text 8"/>
          <p:cNvSpPr txBox="1"/>
          <p:nvPr/>
        </p:nvSpPr>
        <p:spPr>
          <a:xfrm>
            <a:off x="548640" y="3566160"/>
            <a:ext cx="1463040" cy="640080"/>
          </a:xfrm>
          <a:prstGeom prst="rect">
            <a:avLst/>
          </a:prstGeom>
          <a:noFill/>
          <a:ln/>
        </p:spPr>
        <p:txBody>
          <a:bodyPr wrap="square" lIns="0" tIns="0" rIns="0" bIns="0" rtlCol="0" anchor="t"/>
          <a:lstStyle/>
          <a:p>
            <a:pPr algn="ctr" indent="0" marL="0">
              <a:buNone/>
            </a:pPr>
            <a:r>
              <a:rPr lang="en-US" sz="1300" b="1" dirty="0">
                <a:solidFill>
                  <a:srgbClr val="1F1A2E"/>
                </a:solidFill>
                <a:latin typeface="Calibri" pitchFamily="34" charset="0"/>
                <a:ea typeface="Calibri" pitchFamily="34" charset="-122"/>
                <a:cs typeface="Calibri" pitchFamily="34" charset="-120"/>
              </a:rPr>
              <a:t>Base d'empreintes</a:t>
            </a:r>
            <a:endParaRPr lang="en-US" sz="1300" dirty="0"/>
          </a:p>
        </p:txBody>
      </p:sp>
      <p:sp>
        <p:nvSpPr>
          <p:cNvPr id="11" name="Text 9"/>
          <p:cNvSpPr txBox="1"/>
          <p:nvPr/>
        </p:nvSpPr>
        <p:spPr>
          <a:xfrm>
            <a:off x="548640" y="4206240"/>
            <a:ext cx="1463040" cy="274320"/>
          </a:xfrm>
          <a:prstGeom prst="rect">
            <a:avLst/>
          </a:prstGeom>
          <a:noFill/>
          <a:ln/>
        </p:spPr>
        <p:txBody>
          <a:bodyPr wrap="square" lIns="0" tIns="0" rIns="0" bIns="0" rtlCol="0" anchor="ctr"/>
          <a:lstStyle/>
          <a:p>
            <a:pPr algn="ctr" indent="0" marL="0">
              <a:buNone/>
            </a:pPr>
            <a:r>
              <a:rPr lang="en-US" sz="1200" b="1" dirty="0">
                <a:solidFill>
                  <a:srgbClr val="2EA35A"/>
                </a:solidFill>
                <a:latin typeface="Calibri" pitchFamily="34" charset="0"/>
                <a:ea typeface="Calibri" pitchFamily="34" charset="-122"/>
                <a:cs typeface="Calibri" pitchFamily="34" charset="-120"/>
              </a:rPr>
              <a:t>Déployée</a:t>
            </a:r>
            <a:endParaRPr lang="en-US" sz="1200" dirty="0"/>
          </a:p>
        </p:txBody>
      </p:sp>
      <p:sp>
        <p:nvSpPr>
          <p:cNvPr id="12" name="Shape 10"/>
          <p:cNvSpPr/>
          <p:nvPr/>
        </p:nvSpPr>
        <p:spPr>
          <a:xfrm>
            <a:off x="2560320" y="2743200"/>
            <a:ext cx="640080" cy="640080"/>
          </a:xfrm>
          <a:prstGeom prst="ellipse">
            <a:avLst/>
          </a:prstGeom>
          <a:solidFill>
            <a:srgbClr val="2EA35A"/>
          </a:solidFill>
          <a:ln w="38100">
            <a:solidFill>
              <a:srgbClr val="FFFFFF"/>
            </a:solidFill>
            <a:prstDash val="solid"/>
          </a:ln>
        </p:spPr>
      </p:sp>
      <p:sp>
        <p:nvSpPr>
          <p:cNvPr id="13" name="Text 11"/>
          <p:cNvSpPr txBox="1"/>
          <p:nvPr/>
        </p:nvSpPr>
        <p:spPr>
          <a:xfrm>
            <a:off x="2560320" y="27432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T2</a:t>
            </a:r>
            <a:endParaRPr lang="en-US" sz="1300" dirty="0"/>
          </a:p>
        </p:txBody>
      </p:sp>
      <p:sp>
        <p:nvSpPr>
          <p:cNvPr id="14" name="Text 12"/>
          <p:cNvSpPr txBox="1"/>
          <p:nvPr/>
        </p:nvSpPr>
        <p:spPr>
          <a:xfrm>
            <a:off x="2148840" y="3566160"/>
            <a:ext cx="1463040" cy="640080"/>
          </a:xfrm>
          <a:prstGeom prst="rect">
            <a:avLst/>
          </a:prstGeom>
          <a:noFill/>
          <a:ln/>
        </p:spPr>
        <p:txBody>
          <a:bodyPr wrap="square" lIns="0" tIns="0" rIns="0" bIns="0" rtlCol="0" anchor="t"/>
          <a:lstStyle/>
          <a:p>
            <a:pPr algn="ctr" indent="0" marL="0">
              <a:buNone/>
            </a:pPr>
            <a:r>
              <a:rPr lang="en-US" sz="1300" b="1" dirty="0">
                <a:solidFill>
                  <a:srgbClr val="1F1A2E"/>
                </a:solidFill>
                <a:latin typeface="Calibri" pitchFamily="34" charset="0"/>
                <a:ea typeface="Calibri" pitchFamily="34" charset="-122"/>
                <a:cs typeface="Calibri" pitchFamily="34" charset="-120"/>
              </a:rPr>
              <a:t>Calcul des empreintes</a:t>
            </a:r>
            <a:endParaRPr lang="en-US" sz="1300" dirty="0"/>
          </a:p>
        </p:txBody>
      </p:sp>
      <p:sp>
        <p:nvSpPr>
          <p:cNvPr id="15" name="Text 13"/>
          <p:cNvSpPr txBox="1"/>
          <p:nvPr/>
        </p:nvSpPr>
        <p:spPr>
          <a:xfrm>
            <a:off x="2148840" y="4206240"/>
            <a:ext cx="1463040" cy="274320"/>
          </a:xfrm>
          <a:prstGeom prst="rect">
            <a:avLst/>
          </a:prstGeom>
          <a:noFill/>
          <a:ln/>
        </p:spPr>
        <p:txBody>
          <a:bodyPr wrap="square" lIns="0" tIns="0" rIns="0" bIns="0" rtlCol="0" anchor="ctr"/>
          <a:lstStyle/>
          <a:p>
            <a:pPr algn="ctr" indent="0" marL="0">
              <a:buNone/>
            </a:pPr>
            <a:r>
              <a:rPr lang="en-US" sz="1200" b="1" dirty="0">
                <a:solidFill>
                  <a:srgbClr val="2EA35A"/>
                </a:solidFill>
                <a:latin typeface="Calibri" pitchFamily="34" charset="0"/>
                <a:ea typeface="Calibri" pitchFamily="34" charset="-122"/>
                <a:cs typeface="Calibri" pitchFamily="34" charset="-120"/>
              </a:rPr>
              <a:t>Validé</a:t>
            </a:r>
            <a:endParaRPr lang="en-US" sz="1200" dirty="0"/>
          </a:p>
        </p:txBody>
      </p:sp>
      <p:sp>
        <p:nvSpPr>
          <p:cNvPr id="16" name="Shape 14"/>
          <p:cNvSpPr/>
          <p:nvPr/>
        </p:nvSpPr>
        <p:spPr>
          <a:xfrm>
            <a:off x="4160520" y="2743200"/>
            <a:ext cx="640080" cy="640080"/>
          </a:xfrm>
          <a:prstGeom prst="ellipse">
            <a:avLst/>
          </a:prstGeom>
          <a:solidFill>
            <a:srgbClr val="2EA35A"/>
          </a:solidFill>
          <a:ln w="38100">
            <a:solidFill>
              <a:srgbClr val="FFFFFF"/>
            </a:solidFill>
            <a:prstDash val="solid"/>
          </a:ln>
        </p:spPr>
      </p:sp>
      <p:sp>
        <p:nvSpPr>
          <p:cNvPr id="17" name="Text 15"/>
          <p:cNvSpPr txBox="1"/>
          <p:nvPr/>
        </p:nvSpPr>
        <p:spPr>
          <a:xfrm>
            <a:off x="4160520" y="27432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T3</a:t>
            </a:r>
            <a:endParaRPr lang="en-US" sz="1300" dirty="0"/>
          </a:p>
        </p:txBody>
      </p:sp>
      <p:sp>
        <p:nvSpPr>
          <p:cNvPr id="18" name="Text 16"/>
          <p:cNvSpPr txBox="1"/>
          <p:nvPr/>
        </p:nvSpPr>
        <p:spPr>
          <a:xfrm>
            <a:off x="3749040" y="3566160"/>
            <a:ext cx="1463040" cy="640080"/>
          </a:xfrm>
          <a:prstGeom prst="rect">
            <a:avLst/>
          </a:prstGeom>
          <a:noFill/>
          <a:ln/>
        </p:spPr>
        <p:txBody>
          <a:bodyPr wrap="square" lIns="0" tIns="0" rIns="0" bIns="0" rtlCol="0" anchor="t"/>
          <a:lstStyle/>
          <a:p>
            <a:pPr algn="ctr" indent="0" marL="0">
              <a:buNone/>
            </a:pPr>
            <a:r>
              <a:rPr lang="en-US" sz="1300" b="1" dirty="0">
                <a:solidFill>
                  <a:srgbClr val="1F1A2E"/>
                </a:solidFill>
                <a:latin typeface="Calibri" pitchFamily="34" charset="0"/>
                <a:ea typeface="Calibri" pitchFamily="34" charset="-122"/>
                <a:cs typeface="Calibri" pitchFamily="34" charset="-120"/>
              </a:rPr>
              <a:t>Intégration API CNASS</a:t>
            </a:r>
            <a:endParaRPr lang="en-US" sz="1300" dirty="0"/>
          </a:p>
        </p:txBody>
      </p:sp>
      <p:sp>
        <p:nvSpPr>
          <p:cNvPr id="19" name="Text 17"/>
          <p:cNvSpPr txBox="1"/>
          <p:nvPr/>
        </p:nvSpPr>
        <p:spPr>
          <a:xfrm>
            <a:off x="3749040" y="4206240"/>
            <a:ext cx="1463040" cy="274320"/>
          </a:xfrm>
          <a:prstGeom prst="rect">
            <a:avLst/>
          </a:prstGeom>
          <a:noFill/>
          <a:ln/>
        </p:spPr>
        <p:txBody>
          <a:bodyPr wrap="square" lIns="0" tIns="0" rIns="0" bIns="0" rtlCol="0" anchor="ctr"/>
          <a:lstStyle/>
          <a:p>
            <a:pPr algn="ctr" indent="0" marL="0">
              <a:buNone/>
            </a:pPr>
            <a:r>
              <a:rPr lang="en-US" sz="1200" b="1" dirty="0">
                <a:solidFill>
                  <a:srgbClr val="2EA35A"/>
                </a:solidFill>
                <a:latin typeface="Calibri" pitchFamily="34" charset="0"/>
                <a:ea typeface="Calibri" pitchFamily="34" charset="-122"/>
                <a:cs typeface="Calibri" pitchFamily="34" charset="-120"/>
              </a:rPr>
              <a:t>Fonctionnelle</a:t>
            </a:r>
            <a:endParaRPr lang="en-US" sz="1200" dirty="0"/>
          </a:p>
        </p:txBody>
      </p:sp>
      <p:sp>
        <p:nvSpPr>
          <p:cNvPr id="20" name="Shape 18"/>
          <p:cNvSpPr/>
          <p:nvPr/>
        </p:nvSpPr>
        <p:spPr>
          <a:xfrm>
            <a:off x="5760720" y="2743200"/>
            <a:ext cx="640080" cy="640080"/>
          </a:xfrm>
          <a:prstGeom prst="ellipse">
            <a:avLst/>
          </a:prstGeom>
          <a:solidFill>
            <a:srgbClr val="F28C28"/>
          </a:solidFill>
          <a:ln w="38100">
            <a:solidFill>
              <a:srgbClr val="FFFFFF"/>
            </a:solidFill>
            <a:prstDash val="solid"/>
          </a:ln>
        </p:spPr>
      </p:sp>
      <p:sp>
        <p:nvSpPr>
          <p:cNvPr id="21" name="Text 19"/>
          <p:cNvSpPr txBox="1"/>
          <p:nvPr/>
        </p:nvSpPr>
        <p:spPr>
          <a:xfrm>
            <a:off x="5760720" y="27432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T4</a:t>
            </a:r>
            <a:endParaRPr lang="en-US" sz="1300" dirty="0"/>
          </a:p>
        </p:txBody>
      </p:sp>
      <p:sp>
        <p:nvSpPr>
          <p:cNvPr id="22" name="Text 20"/>
          <p:cNvSpPr txBox="1"/>
          <p:nvPr/>
        </p:nvSpPr>
        <p:spPr>
          <a:xfrm>
            <a:off x="5349240" y="3566160"/>
            <a:ext cx="1463040" cy="640080"/>
          </a:xfrm>
          <a:prstGeom prst="rect">
            <a:avLst/>
          </a:prstGeom>
          <a:noFill/>
          <a:ln/>
        </p:spPr>
        <p:txBody>
          <a:bodyPr wrap="square" lIns="0" tIns="0" rIns="0" bIns="0" rtlCol="0" anchor="t"/>
          <a:lstStyle/>
          <a:p>
            <a:pPr algn="ctr" indent="0" marL="0">
              <a:buNone/>
            </a:pPr>
            <a:r>
              <a:rPr lang="en-US" sz="1300" b="1" dirty="0">
                <a:solidFill>
                  <a:srgbClr val="1F1A2E"/>
                </a:solidFill>
                <a:latin typeface="Calibri" pitchFamily="34" charset="0"/>
                <a:ea typeface="Calibri" pitchFamily="34" charset="-122"/>
                <a:cs typeface="Calibri" pitchFamily="34" charset="-120"/>
              </a:rPr>
              <a:t>Moteur sur terminal Jetson</a:t>
            </a:r>
            <a:endParaRPr lang="en-US" sz="1300" dirty="0"/>
          </a:p>
        </p:txBody>
      </p:sp>
      <p:sp>
        <p:nvSpPr>
          <p:cNvPr id="23" name="Text 21"/>
          <p:cNvSpPr txBox="1"/>
          <p:nvPr/>
        </p:nvSpPr>
        <p:spPr>
          <a:xfrm>
            <a:off x="5349240" y="4206240"/>
            <a:ext cx="1463040" cy="274320"/>
          </a:xfrm>
          <a:prstGeom prst="rect">
            <a:avLst/>
          </a:prstGeom>
          <a:noFill/>
          <a:ln/>
        </p:spPr>
        <p:txBody>
          <a:bodyPr wrap="square" lIns="0" tIns="0" rIns="0" bIns="0" rtlCol="0" anchor="ctr"/>
          <a:lstStyle/>
          <a:p>
            <a:pPr algn="ctr" indent="0" marL="0">
              <a:buNone/>
            </a:pPr>
            <a:r>
              <a:rPr lang="en-US" sz="1200" b="1" dirty="0">
                <a:solidFill>
                  <a:srgbClr val="F28C28"/>
                </a:solidFill>
                <a:latin typeface="Calibri" pitchFamily="34" charset="0"/>
                <a:ea typeface="Calibri" pitchFamily="34" charset="-122"/>
                <a:cs typeface="Calibri" pitchFamily="34" charset="-120"/>
              </a:rPr>
              <a:t>En cours</a:t>
            </a:r>
            <a:endParaRPr lang="en-US" sz="1200" dirty="0"/>
          </a:p>
        </p:txBody>
      </p:sp>
      <p:sp>
        <p:nvSpPr>
          <p:cNvPr id="24" name="Shape 22"/>
          <p:cNvSpPr/>
          <p:nvPr/>
        </p:nvSpPr>
        <p:spPr>
          <a:xfrm>
            <a:off x="7360920" y="2743200"/>
            <a:ext cx="640080" cy="640080"/>
          </a:xfrm>
          <a:prstGeom prst="ellipse">
            <a:avLst/>
          </a:prstGeom>
          <a:solidFill>
            <a:srgbClr val="F28C28"/>
          </a:solidFill>
          <a:ln w="38100">
            <a:solidFill>
              <a:srgbClr val="FFFFFF"/>
            </a:solidFill>
            <a:prstDash val="solid"/>
          </a:ln>
        </p:spPr>
      </p:sp>
      <p:sp>
        <p:nvSpPr>
          <p:cNvPr id="25" name="Text 23"/>
          <p:cNvSpPr txBox="1"/>
          <p:nvPr/>
        </p:nvSpPr>
        <p:spPr>
          <a:xfrm>
            <a:off x="7360920" y="27432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T5</a:t>
            </a:r>
            <a:endParaRPr lang="en-US" sz="1300" dirty="0"/>
          </a:p>
        </p:txBody>
      </p:sp>
      <p:sp>
        <p:nvSpPr>
          <p:cNvPr id="26" name="Text 24"/>
          <p:cNvSpPr txBox="1"/>
          <p:nvPr/>
        </p:nvSpPr>
        <p:spPr>
          <a:xfrm>
            <a:off x="6949440" y="3566160"/>
            <a:ext cx="1463040" cy="640080"/>
          </a:xfrm>
          <a:prstGeom prst="rect">
            <a:avLst/>
          </a:prstGeom>
          <a:noFill/>
          <a:ln/>
        </p:spPr>
        <p:txBody>
          <a:bodyPr wrap="square" lIns="0" tIns="0" rIns="0" bIns="0" rtlCol="0" anchor="t"/>
          <a:lstStyle/>
          <a:p>
            <a:pPr algn="ctr" indent="0" marL="0">
              <a:buNone/>
            </a:pPr>
            <a:r>
              <a:rPr lang="en-US" sz="1300" b="1" dirty="0">
                <a:solidFill>
                  <a:srgbClr val="1F1A2E"/>
                </a:solidFill>
                <a:latin typeface="Calibri" pitchFamily="34" charset="0"/>
                <a:ea typeface="Calibri" pitchFamily="34" charset="-122"/>
                <a:cs typeface="Calibri" pitchFamily="34" charset="-120"/>
              </a:rPr>
              <a:t>Interface kiosque</a:t>
            </a:r>
            <a:endParaRPr lang="en-US" sz="1300" dirty="0"/>
          </a:p>
        </p:txBody>
      </p:sp>
      <p:sp>
        <p:nvSpPr>
          <p:cNvPr id="27" name="Text 25"/>
          <p:cNvSpPr txBox="1"/>
          <p:nvPr/>
        </p:nvSpPr>
        <p:spPr>
          <a:xfrm>
            <a:off x="6949440" y="4206240"/>
            <a:ext cx="1463040" cy="274320"/>
          </a:xfrm>
          <a:prstGeom prst="rect">
            <a:avLst/>
          </a:prstGeom>
          <a:noFill/>
          <a:ln/>
        </p:spPr>
        <p:txBody>
          <a:bodyPr wrap="square" lIns="0" tIns="0" rIns="0" bIns="0" rtlCol="0" anchor="ctr"/>
          <a:lstStyle/>
          <a:p>
            <a:pPr algn="ctr" indent="0" marL="0">
              <a:buNone/>
            </a:pPr>
            <a:r>
              <a:rPr lang="en-US" sz="1200" b="1" dirty="0">
                <a:solidFill>
                  <a:srgbClr val="F28C28"/>
                </a:solidFill>
                <a:latin typeface="Calibri" pitchFamily="34" charset="0"/>
                <a:ea typeface="Calibri" pitchFamily="34" charset="-122"/>
                <a:cs typeface="Calibri" pitchFamily="34" charset="-120"/>
              </a:rPr>
              <a:t>En cours</a:t>
            </a:r>
            <a:endParaRPr lang="en-US" sz="1200" dirty="0"/>
          </a:p>
        </p:txBody>
      </p:sp>
      <p:sp>
        <p:nvSpPr>
          <p:cNvPr id="28" name="Shape 26"/>
          <p:cNvSpPr/>
          <p:nvPr/>
        </p:nvSpPr>
        <p:spPr>
          <a:xfrm>
            <a:off x="8961120" y="2743200"/>
            <a:ext cx="640080" cy="640080"/>
          </a:xfrm>
          <a:prstGeom prst="ellipse">
            <a:avLst/>
          </a:prstGeom>
          <a:solidFill>
            <a:srgbClr val="6B6780"/>
          </a:solidFill>
          <a:ln w="38100">
            <a:solidFill>
              <a:srgbClr val="FFFFFF"/>
            </a:solidFill>
            <a:prstDash val="solid"/>
          </a:ln>
        </p:spPr>
      </p:sp>
      <p:sp>
        <p:nvSpPr>
          <p:cNvPr id="29" name="Text 27"/>
          <p:cNvSpPr txBox="1"/>
          <p:nvPr/>
        </p:nvSpPr>
        <p:spPr>
          <a:xfrm>
            <a:off x="8961120" y="27432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T6</a:t>
            </a:r>
            <a:endParaRPr lang="en-US" sz="1300" dirty="0"/>
          </a:p>
        </p:txBody>
      </p:sp>
      <p:sp>
        <p:nvSpPr>
          <p:cNvPr id="30" name="Text 28"/>
          <p:cNvSpPr txBox="1"/>
          <p:nvPr/>
        </p:nvSpPr>
        <p:spPr>
          <a:xfrm>
            <a:off x="8549640" y="3566160"/>
            <a:ext cx="1463040" cy="640080"/>
          </a:xfrm>
          <a:prstGeom prst="rect">
            <a:avLst/>
          </a:prstGeom>
          <a:noFill/>
          <a:ln/>
        </p:spPr>
        <p:txBody>
          <a:bodyPr wrap="square" lIns="0" tIns="0" rIns="0" bIns="0" rtlCol="0" anchor="t"/>
          <a:lstStyle/>
          <a:p>
            <a:pPr algn="ctr" indent="0" marL="0">
              <a:buNone/>
            </a:pPr>
            <a:r>
              <a:rPr lang="en-US" sz="1300" b="1" dirty="0">
                <a:solidFill>
                  <a:srgbClr val="1F1A2E"/>
                </a:solidFill>
                <a:latin typeface="Calibri" pitchFamily="34" charset="0"/>
                <a:ea typeface="Calibri" pitchFamily="34" charset="-122"/>
                <a:cs typeface="Calibri" pitchFamily="34" charset="-120"/>
              </a:rPr>
              <a:t>Feuille de soins au terminal</a:t>
            </a:r>
            <a:endParaRPr lang="en-US" sz="1300" dirty="0"/>
          </a:p>
        </p:txBody>
      </p:sp>
      <p:sp>
        <p:nvSpPr>
          <p:cNvPr id="31" name="Text 29"/>
          <p:cNvSpPr txBox="1"/>
          <p:nvPr/>
        </p:nvSpPr>
        <p:spPr>
          <a:xfrm>
            <a:off x="8549640" y="4206240"/>
            <a:ext cx="1463040" cy="274320"/>
          </a:xfrm>
          <a:prstGeom prst="rect">
            <a:avLst/>
          </a:prstGeom>
          <a:noFill/>
          <a:ln/>
        </p:spPr>
        <p:txBody>
          <a:bodyPr wrap="square" lIns="0" tIns="0" rIns="0" bIns="0" rtlCol="0" anchor="ctr"/>
          <a:lstStyle/>
          <a:p>
            <a:pPr algn="ctr" indent="0" marL="0">
              <a:buNone/>
            </a:pPr>
            <a:r>
              <a:rPr lang="en-US" sz="1200" b="1" dirty="0">
                <a:solidFill>
                  <a:srgbClr val="6B6780"/>
                </a:solidFill>
                <a:latin typeface="Calibri" pitchFamily="34" charset="0"/>
                <a:ea typeface="Calibri" pitchFamily="34" charset="-122"/>
                <a:cs typeface="Calibri" pitchFamily="34" charset="-120"/>
              </a:rPr>
              <a:t>À venir</a:t>
            </a:r>
            <a:endParaRPr lang="en-US" sz="1200" dirty="0"/>
          </a:p>
        </p:txBody>
      </p:sp>
      <p:sp>
        <p:nvSpPr>
          <p:cNvPr id="32" name="Shape 30"/>
          <p:cNvSpPr/>
          <p:nvPr/>
        </p:nvSpPr>
        <p:spPr>
          <a:xfrm>
            <a:off x="10561320" y="2743200"/>
            <a:ext cx="640080" cy="640080"/>
          </a:xfrm>
          <a:prstGeom prst="ellipse">
            <a:avLst/>
          </a:prstGeom>
          <a:solidFill>
            <a:srgbClr val="6B6780"/>
          </a:solidFill>
          <a:ln w="38100">
            <a:solidFill>
              <a:srgbClr val="FFFFFF"/>
            </a:solidFill>
            <a:prstDash val="solid"/>
          </a:ln>
        </p:spPr>
      </p:sp>
      <p:sp>
        <p:nvSpPr>
          <p:cNvPr id="33" name="Text 31"/>
          <p:cNvSpPr txBox="1"/>
          <p:nvPr/>
        </p:nvSpPr>
        <p:spPr>
          <a:xfrm>
            <a:off x="10561320" y="274320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T7</a:t>
            </a:r>
            <a:endParaRPr lang="en-US" sz="1300" dirty="0"/>
          </a:p>
        </p:txBody>
      </p:sp>
      <p:sp>
        <p:nvSpPr>
          <p:cNvPr id="34" name="Text 32"/>
          <p:cNvSpPr txBox="1"/>
          <p:nvPr/>
        </p:nvSpPr>
        <p:spPr>
          <a:xfrm>
            <a:off x="10149840" y="3566160"/>
            <a:ext cx="1463040" cy="640080"/>
          </a:xfrm>
          <a:prstGeom prst="rect">
            <a:avLst/>
          </a:prstGeom>
          <a:noFill/>
          <a:ln/>
        </p:spPr>
        <p:txBody>
          <a:bodyPr wrap="square" lIns="0" tIns="0" rIns="0" bIns="0" rtlCol="0" anchor="t"/>
          <a:lstStyle/>
          <a:p>
            <a:pPr algn="ctr" indent="0" marL="0">
              <a:buNone/>
            </a:pPr>
            <a:r>
              <a:rPr lang="en-US" sz="1300" b="1" dirty="0">
                <a:solidFill>
                  <a:srgbClr val="1F1A2E"/>
                </a:solidFill>
                <a:latin typeface="Calibri" pitchFamily="34" charset="0"/>
                <a:ea typeface="Calibri" pitchFamily="34" charset="-122"/>
                <a:cs typeface="Calibri" pitchFamily="34" charset="-120"/>
              </a:rPr>
              <a:t>Sécurité du terminal</a:t>
            </a:r>
            <a:endParaRPr lang="en-US" sz="1300" dirty="0"/>
          </a:p>
        </p:txBody>
      </p:sp>
      <p:sp>
        <p:nvSpPr>
          <p:cNvPr id="35" name="Text 33"/>
          <p:cNvSpPr txBox="1"/>
          <p:nvPr/>
        </p:nvSpPr>
        <p:spPr>
          <a:xfrm>
            <a:off x="10149840" y="4206240"/>
            <a:ext cx="1463040" cy="274320"/>
          </a:xfrm>
          <a:prstGeom prst="rect">
            <a:avLst/>
          </a:prstGeom>
          <a:noFill/>
          <a:ln/>
        </p:spPr>
        <p:txBody>
          <a:bodyPr wrap="square" lIns="0" tIns="0" rIns="0" bIns="0" rtlCol="0" anchor="ctr"/>
          <a:lstStyle/>
          <a:p>
            <a:pPr algn="ctr" indent="0" marL="0">
              <a:buNone/>
            </a:pPr>
            <a:r>
              <a:rPr lang="en-US" sz="1200" b="1" dirty="0">
                <a:solidFill>
                  <a:srgbClr val="6B6780"/>
                </a:solidFill>
                <a:latin typeface="Calibri" pitchFamily="34" charset="0"/>
                <a:ea typeface="Calibri" pitchFamily="34" charset="-122"/>
                <a:cs typeface="Calibri" pitchFamily="34" charset="-120"/>
              </a:rPr>
              <a:t>À venir</a:t>
            </a:r>
            <a:endParaRPr lang="en-US" sz="1200" dirty="0"/>
          </a:p>
        </p:txBody>
      </p:sp>
      <p:sp>
        <p:nvSpPr>
          <p:cNvPr id="36" name="Shape 34"/>
          <p:cNvSpPr/>
          <p:nvPr/>
        </p:nvSpPr>
        <p:spPr>
          <a:xfrm>
            <a:off x="548640" y="1737360"/>
            <a:ext cx="201168" cy="201168"/>
          </a:xfrm>
          <a:prstGeom prst="ellipse">
            <a:avLst/>
          </a:prstGeom>
          <a:solidFill>
            <a:srgbClr val="2EA35A"/>
          </a:solidFill>
          <a:ln w="12700">
            <a:solidFill>
              <a:srgbClr val="2EA35A"/>
            </a:solidFill>
            <a:prstDash val="solid"/>
          </a:ln>
        </p:spPr>
      </p:sp>
      <p:sp>
        <p:nvSpPr>
          <p:cNvPr id="37" name="Text 35"/>
          <p:cNvSpPr txBox="1"/>
          <p:nvPr/>
        </p:nvSpPr>
        <p:spPr>
          <a:xfrm>
            <a:off x="841248" y="1682496"/>
            <a:ext cx="1188720" cy="310896"/>
          </a:xfrm>
          <a:prstGeom prst="rect">
            <a:avLst/>
          </a:prstGeom>
          <a:noFill/>
          <a:ln/>
        </p:spPr>
        <p:txBody>
          <a:bodyPr wrap="square" lIns="0" tIns="0" rIns="0" bIns="0" rtlCol="0" anchor="ctr"/>
          <a:lstStyle/>
          <a:p>
            <a:pPr indent="0" marL="0">
              <a:buNone/>
            </a:pPr>
            <a:r>
              <a:rPr lang="en-US" sz="1200" dirty="0">
                <a:solidFill>
                  <a:srgbClr val="6B6780"/>
                </a:solidFill>
                <a:latin typeface="Calibri" pitchFamily="34" charset="0"/>
                <a:ea typeface="Calibri" pitchFamily="34" charset="-122"/>
                <a:cs typeface="Calibri" pitchFamily="34" charset="-120"/>
              </a:rPr>
              <a:t>Réalisé</a:t>
            </a:r>
            <a:endParaRPr lang="en-US" sz="1200" dirty="0"/>
          </a:p>
        </p:txBody>
      </p:sp>
      <p:sp>
        <p:nvSpPr>
          <p:cNvPr id="38" name="Shape 36"/>
          <p:cNvSpPr/>
          <p:nvPr/>
        </p:nvSpPr>
        <p:spPr>
          <a:xfrm>
            <a:off x="2194560" y="1737360"/>
            <a:ext cx="201168" cy="201168"/>
          </a:xfrm>
          <a:prstGeom prst="ellipse">
            <a:avLst/>
          </a:prstGeom>
          <a:solidFill>
            <a:srgbClr val="F28C28"/>
          </a:solidFill>
          <a:ln w="12700">
            <a:solidFill>
              <a:srgbClr val="F28C28"/>
            </a:solidFill>
            <a:prstDash val="solid"/>
          </a:ln>
        </p:spPr>
      </p:sp>
      <p:sp>
        <p:nvSpPr>
          <p:cNvPr id="39" name="Text 37"/>
          <p:cNvSpPr txBox="1"/>
          <p:nvPr/>
        </p:nvSpPr>
        <p:spPr>
          <a:xfrm>
            <a:off x="2487168" y="1682496"/>
            <a:ext cx="1188720" cy="310896"/>
          </a:xfrm>
          <a:prstGeom prst="rect">
            <a:avLst/>
          </a:prstGeom>
          <a:noFill/>
          <a:ln/>
        </p:spPr>
        <p:txBody>
          <a:bodyPr wrap="square" lIns="0" tIns="0" rIns="0" bIns="0" rtlCol="0" anchor="ctr"/>
          <a:lstStyle/>
          <a:p>
            <a:pPr indent="0" marL="0">
              <a:buNone/>
            </a:pPr>
            <a:r>
              <a:rPr lang="en-US" sz="1200" dirty="0">
                <a:solidFill>
                  <a:srgbClr val="6B6780"/>
                </a:solidFill>
                <a:latin typeface="Calibri" pitchFamily="34" charset="0"/>
                <a:ea typeface="Calibri" pitchFamily="34" charset="-122"/>
                <a:cs typeface="Calibri" pitchFamily="34" charset="-120"/>
              </a:rPr>
              <a:t>En cours</a:t>
            </a:r>
            <a:endParaRPr lang="en-US" sz="1200" dirty="0"/>
          </a:p>
        </p:txBody>
      </p:sp>
      <p:sp>
        <p:nvSpPr>
          <p:cNvPr id="40" name="Shape 38"/>
          <p:cNvSpPr/>
          <p:nvPr/>
        </p:nvSpPr>
        <p:spPr>
          <a:xfrm>
            <a:off x="3840480" y="1737360"/>
            <a:ext cx="201168" cy="201168"/>
          </a:xfrm>
          <a:prstGeom prst="ellipse">
            <a:avLst/>
          </a:prstGeom>
          <a:solidFill>
            <a:srgbClr val="6B6780"/>
          </a:solidFill>
          <a:ln w="12700">
            <a:solidFill>
              <a:srgbClr val="6B6780"/>
            </a:solidFill>
            <a:prstDash val="solid"/>
          </a:ln>
        </p:spPr>
      </p:sp>
      <p:sp>
        <p:nvSpPr>
          <p:cNvPr id="41" name="Text 39"/>
          <p:cNvSpPr txBox="1"/>
          <p:nvPr/>
        </p:nvSpPr>
        <p:spPr>
          <a:xfrm>
            <a:off x="4133088" y="1682496"/>
            <a:ext cx="1188720" cy="310896"/>
          </a:xfrm>
          <a:prstGeom prst="rect">
            <a:avLst/>
          </a:prstGeom>
          <a:noFill/>
          <a:ln/>
        </p:spPr>
        <p:txBody>
          <a:bodyPr wrap="square" lIns="0" tIns="0" rIns="0" bIns="0" rtlCol="0" anchor="ctr"/>
          <a:lstStyle/>
          <a:p>
            <a:pPr indent="0" marL="0">
              <a:buNone/>
            </a:pPr>
            <a:r>
              <a:rPr lang="en-US" sz="1200" dirty="0">
                <a:solidFill>
                  <a:srgbClr val="6B6780"/>
                </a:solidFill>
                <a:latin typeface="Calibri" pitchFamily="34" charset="0"/>
                <a:ea typeface="Calibri" pitchFamily="34" charset="-122"/>
                <a:cs typeface="Calibri" pitchFamily="34" charset="-120"/>
              </a:rPr>
              <a:t>À venir</a:t>
            </a:r>
            <a:endParaRPr lang="en-US" sz="1200" dirty="0"/>
          </a:p>
        </p:txBody>
      </p:sp>
      <p:sp>
        <p:nvSpPr>
          <p:cNvPr id="42" name="Shape 40"/>
          <p:cNvSpPr/>
          <p:nvPr/>
        </p:nvSpPr>
        <p:spPr>
          <a:xfrm>
            <a:off x="548640" y="5074920"/>
            <a:ext cx="11091672" cy="960120"/>
          </a:xfrm>
          <a:prstGeom prst="roundRect">
            <a:avLst>
              <a:gd name="adj" fmla="val 11429"/>
            </a:avLst>
          </a:prstGeom>
          <a:solidFill>
            <a:srgbClr val="F3EEFE"/>
          </a:solidFill>
          <a:ln w="12700">
            <a:solidFill>
              <a:srgbClr val="E4DCF7"/>
            </a:solidFill>
            <a:prstDash val="solid"/>
          </a:ln>
        </p:spPr>
      </p:sp>
      <p:sp>
        <p:nvSpPr>
          <p:cNvPr id="43" name="Text 41"/>
          <p:cNvSpPr txBox="1"/>
          <p:nvPr/>
        </p:nvSpPr>
        <p:spPr>
          <a:xfrm>
            <a:off x="868680" y="5120640"/>
            <a:ext cx="10515600" cy="868680"/>
          </a:xfrm>
          <a:prstGeom prst="rect">
            <a:avLst/>
          </a:prstGeom>
          <a:noFill/>
          <a:ln/>
        </p:spPr>
        <p:txBody>
          <a:bodyPr wrap="square" lIns="0" tIns="0" rIns="0" bIns="0" rtlCol="0" anchor="ctr"/>
          <a:lstStyle/>
          <a:p>
            <a:pPr indent="0" marL="0">
              <a:buNone/>
            </a:pPr>
            <a:r>
              <a:rPr lang="en-US" sz="1500" b="1" dirty="0">
                <a:solidFill>
                  <a:srgbClr val="1E0B4B"/>
                </a:solidFill>
                <a:latin typeface="Calibri" pitchFamily="34" charset="0"/>
                <a:ea typeface="Calibri" pitchFamily="34" charset="-122"/>
                <a:cs typeface="Calibri" pitchFamily="34" charset="-120"/>
              </a:rPr>
              <a:t>Le cœur du système est opérationnel : </a:t>
            </a:r>
            <a:pPr indent="0" marL="0">
              <a:buNone/>
            </a:pPr>
            <a:r>
              <a:rPr lang="en-US" sz="1500" dirty="0">
                <a:solidFill>
                  <a:srgbClr val="1F1A2E"/>
                </a:solidFill>
                <a:latin typeface="Calibri" pitchFamily="34" charset="0"/>
                <a:ea typeface="Calibri" pitchFamily="34" charset="-122"/>
                <a:cs typeface="Calibri" pitchFamily="34" charset="-120"/>
              </a:rPr>
              <a:t>enrôlement automatique, vérification faciale et intégration aux API CNASS sont validés en conditions réelles.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28C28"/>
                </a:solidFill>
                <a:latin typeface="Calibri" pitchFamily="34" charset="0"/>
                <a:ea typeface="Calibri" pitchFamily="34" charset="-122"/>
                <a:cs typeface="Calibri" pitchFamily="34" charset="-120"/>
              </a:rPr>
              <a:t>PROCHAINES ÉTAPES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ctr"/>
          <a:lstStyle/>
          <a:p>
            <a:pPr indent="0" marL="0">
              <a:buNone/>
            </a:pPr>
            <a:r>
              <a:rPr lang="en-US" sz="3200" b="1" dirty="0">
                <a:solidFill>
                  <a:srgbClr val="1E0B4B"/>
                </a:solidFill>
                <a:latin typeface="Arial" pitchFamily="34" charset="0"/>
                <a:ea typeface="Arial" pitchFamily="34" charset="-122"/>
                <a:cs typeface="Arial" pitchFamily="34" charset="-120"/>
              </a:rPr>
              <a:t>Un déploiement conjoint</a:t>
            </a:r>
            <a:endParaRPr lang="en-US" sz="32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b="1" dirty="0">
                <a:solidFill>
                  <a:srgbClr val="6A2BD9"/>
                </a:solidFill>
                <a:latin typeface="Calibri" pitchFamily="34" charset="0"/>
                <a:ea typeface="Calibri" pitchFamily="34" charset="-122"/>
                <a:cs typeface="Calibri" pitchFamily="34" charset="-120"/>
              </a:rPr>
              <a:t>CNASS</a:t>
            </a:r>
            <a:pPr indent="0" marL="0">
              <a:buNone/>
            </a:pPr>
            <a:r>
              <a:rPr lang="en-US" sz="1000" dirty="0">
                <a:solidFill>
                  <a:srgbClr val="6B6780"/>
                </a:solidFill>
                <a:latin typeface="Calibri" pitchFamily="34" charset="0"/>
                <a:ea typeface="Calibri" pitchFamily="34" charset="-122"/>
                <a:cs typeface="Calibri" pitchFamily="34" charset="-120"/>
              </a:rPr>
              <a:t>  ×  STARTAI</a:t>
            </a:r>
            <a:endParaRPr lang="en-US" sz="1000" dirty="0"/>
          </a:p>
        </p:txBody>
      </p:sp>
      <p:sp>
        <p:nvSpPr>
          <p:cNvPr id="5"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B6780"/>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645920"/>
            <a:ext cx="5440680" cy="4434840"/>
          </a:xfrm>
          <a:prstGeom prst="roundRect">
            <a:avLst>
              <a:gd name="adj" fmla="val 3093"/>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7" name="Shape 5"/>
          <p:cNvSpPr/>
          <p:nvPr/>
        </p:nvSpPr>
        <p:spPr>
          <a:xfrm>
            <a:off x="868680" y="1920240"/>
            <a:ext cx="685800" cy="685800"/>
          </a:xfrm>
          <a:prstGeom prst="roundRect">
            <a:avLst>
              <a:gd name="adj" fmla="val 20000"/>
            </a:avLst>
          </a:prstGeom>
          <a:solidFill>
            <a:srgbClr val="6A2BD9"/>
          </a:solidFill>
          <a:ln w="12700">
            <a:solidFill>
              <a:srgbClr val="6A2BD9"/>
            </a:solidFill>
            <a:prstDash val="solid"/>
          </a:ln>
        </p:spPr>
      </p:sp>
      <p:pic>
        <p:nvPicPr>
          <p:cNvPr id="8" name="Image 0" descr="preencoded.png">    </p:cNvPr>
          <p:cNvPicPr>
            <a:picLocks noChangeAspect="1"/>
          </p:cNvPicPr>
          <p:nvPr/>
        </p:nvPicPr>
        <p:blipFill>
          <a:blip r:embed="rId1"/>
          <a:stretch>
            <a:fillRect/>
          </a:stretch>
        </p:blipFill>
        <p:spPr>
          <a:xfrm>
            <a:off x="1046988" y="2098548"/>
            <a:ext cx="329184" cy="329184"/>
          </a:xfrm>
          <a:prstGeom prst="rect">
            <a:avLst/>
          </a:prstGeom>
        </p:spPr>
      </p:pic>
      <p:sp>
        <p:nvSpPr>
          <p:cNvPr id="9" name="Text 6"/>
          <p:cNvSpPr txBox="1"/>
          <p:nvPr/>
        </p:nvSpPr>
        <p:spPr>
          <a:xfrm>
            <a:off x="1737360" y="2011680"/>
            <a:ext cx="4023360" cy="502920"/>
          </a:xfrm>
          <a:prstGeom prst="rect">
            <a:avLst/>
          </a:prstGeom>
          <a:noFill/>
          <a:ln/>
        </p:spPr>
        <p:txBody>
          <a:bodyPr wrap="square" lIns="0" tIns="0" rIns="0" bIns="0" rtlCol="0" anchor="ctr"/>
          <a:lstStyle/>
          <a:p>
            <a:pPr indent="0" marL="0">
              <a:buNone/>
            </a:pPr>
            <a:r>
              <a:rPr lang="en-US" sz="2200" b="1" dirty="0">
                <a:solidFill>
                  <a:srgbClr val="1E0B4B"/>
                </a:solidFill>
                <a:latin typeface="Arial" pitchFamily="34" charset="0"/>
                <a:ea typeface="Arial" pitchFamily="34" charset="-122"/>
                <a:cs typeface="Arial" pitchFamily="34" charset="-120"/>
              </a:rPr>
              <a:t>Côté STARTAI</a:t>
            </a:r>
            <a:endParaRPr lang="en-US" sz="2200" dirty="0"/>
          </a:p>
        </p:txBody>
      </p:sp>
      <p:sp>
        <p:nvSpPr>
          <p:cNvPr id="10" name="Text 7"/>
          <p:cNvSpPr txBox="1"/>
          <p:nvPr/>
        </p:nvSpPr>
        <p:spPr>
          <a:xfrm>
            <a:off x="914400" y="2880360"/>
            <a:ext cx="4754880" cy="30175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Finaliser le déploiement sur terminal Jetson</a:t>
            </a:r>
            <a:endParaRPr lang="en-US" sz="1700" dirty="0"/>
          </a:p>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Finaliser l'interface kiosque</a:t>
            </a:r>
            <a:endParaRPr lang="en-US" sz="1700" dirty="0"/>
          </a:p>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Impression de la feuille de soins au terminal</a:t>
            </a:r>
            <a:endParaRPr lang="en-US" sz="1700" dirty="0"/>
          </a:p>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Détection du vivant et journal d'audit</a:t>
            </a:r>
            <a:endParaRPr lang="en-US" sz="1700" dirty="0"/>
          </a:p>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Campagne de validation à grande échelle</a:t>
            </a:r>
            <a:endParaRPr lang="en-US" sz="1700" dirty="0"/>
          </a:p>
        </p:txBody>
      </p:sp>
      <p:sp>
        <p:nvSpPr>
          <p:cNvPr id="11" name="Shape 8"/>
          <p:cNvSpPr/>
          <p:nvPr/>
        </p:nvSpPr>
        <p:spPr>
          <a:xfrm>
            <a:off x="6199632" y="1645920"/>
            <a:ext cx="5440680" cy="4434840"/>
          </a:xfrm>
          <a:prstGeom prst="roundRect">
            <a:avLst>
              <a:gd name="adj" fmla="val 3093"/>
            </a:avLst>
          </a:prstGeom>
          <a:solidFill>
            <a:srgbClr val="FFFFFF"/>
          </a:solidFill>
          <a:ln w="12700">
            <a:solidFill>
              <a:srgbClr val="E4DCF7"/>
            </a:solidFill>
            <a:prstDash val="solid"/>
          </a:ln>
          <a:effectLst>
            <a:outerShdw sx="100000" sy="100000" kx="0" ky="0" algn="bl" rotWithShape="0" blurRad="127000" dist="38100" dir="5400000">
              <a:srgbClr val="1E0B4B">
                <a:alpha val="18000"/>
              </a:srgbClr>
            </a:outerShdw>
          </a:effectLst>
        </p:spPr>
      </p:sp>
      <p:sp>
        <p:nvSpPr>
          <p:cNvPr id="12" name="Shape 9"/>
          <p:cNvSpPr/>
          <p:nvPr/>
        </p:nvSpPr>
        <p:spPr>
          <a:xfrm>
            <a:off x="6519672" y="1920240"/>
            <a:ext cx="685800" cy="685800"/>
          </a:xfrm>
          <a:prstGeom prst="roundRect">
            <a:avLst>
              <a:gd name="adj" fmla="val 20000"/>
            </a:avLst>
          </a:prstGeom>
          <a:solidFill>
            <a:srgbClr val="F28C28"/>
          </a:solidFill>
          <a:ln w="12700">
            <a:solidFill>
              <a:srgbClr val="F28C28"/>
            </a:solidFill>
            <a:prstDash val="solid"/>
          </a:ln>
        </p:spPr>
      </p:sp>
      <p:pic>
        <p:nvPicPr>
          <p:cNvPr id="13" name="Image 1" descr="preencoded.png">    </p:cNvPr>
          <p:cNvPicPr>
            <a:picLocks noChangeAspect="1"/>
          </p:cNvPicPr>
          <p:nvPr/>
        </p:nvPicPr>
        <p:blipFill>
          <a:blip r:embed="rId2"/>
          <a:stretch>
            <a:fillRect/>
          </a:stretch>
        </p:blipFill>
        <p:spPr>
          <a:xfrm>
            <a:off x="6697980" y="2098548"/>
            <a:ext cx="329184" cy="329184"/>
          </a:xfrm>
          <a:prstGeom prst="rect">
            <a:avLst/>
          </a:prstGeom>
        </p:spPr>
      </p:pic>
      <p:sp>
        <p:nvSpPr>
          <p:cNvPr id="14" name="Text 10"/>
          <p:cNvSpPr txBox="1"/>
          <p:nvPr/>
        </p:nvSpPr>
        <p:spPr>
          <a:xfrm>
            <a:off x="7388352" y="2011680"/>
            <a:ext cx="4023360" cy="502920"/>
          </a:xfrm>
          <a:prstGeom prst="rect">
            <a:avLst/>
          </a:prstGeom>
          <a:noFill/>
          <a:ln/>
        </p:spPr>
        <p:txBody>
          <a:bodyPr wrap="square" lIns="0" tIns="0" rIns="0" bIns="0" rtlCol="0" anchor="ctr"/>
          <a:lstStyle/>
          <a:p>
            <a:pPr indent="0" marL="0">
              <a:buNone/>
            </a:pPr>
            <a:r>
              <a:rPr lang="en-US" sz="2200" b="1" dirty="0">
                <a:solidFill>
                  <a:srgbClr val="1E0B4B"/>
                </a:solidFill>
                <a:latin typeface="Arial" pitchFamily="34" charset="0"/>
                <a:ea typeface="Arial" pitchFamily="34" charset="-122"/>
                <a:cs typeface="Arial" pitchFamily="34" charset="-120"/>
              </a:rPr>
              <a:t>Attendu de la CNASS</a:t>
            </a:r>
            <a:endParaRPr lang="en-US" sz="2200" dirty="0"/>
          </a:p>
        </p:txBody>
      </p:sp>
      <p:sp>
        <p:nvSpPr>
          <p:cNvPr id="15" name="Text 11"/>
          <p:cNvSpPr txBox="1"/>
          <p:nvPr/>
        </p:nvSpPr>
        <p:spPr>
          <a:xfrm>
            <a:off x="6565392" y="2880360"/>
            <a:ext cx="4754880" cy="30175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Jeton de production stable et renouvelable</a:t>
            </a:r>
            <a:endParaRPr lang="en-US" sz="1700" dirty="0"/>
          </a:p>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Compte base en lecture seule, à portée limitée</a:t>
            </a:r>
            <a:endParaRPr lang="en-US" sz="1700" dirty="0"/>
          </a:p>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Amélioration de la qualité des photos adhérents</a:t>
            </a:r>
            <a:endParaRPr lang="en-US" sz="1700" dirty="0"/>
          </a:p>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Site pilote pour un premier déploiement</a:t>
            </a:r>
            <a:endParaRPr lang="en-US" sz="1700" dirty="0"/>
          </a:p>
          <a:p>
            <a:pPr marL="342900" indent="-342900">
              <a:spcAft>
                <a:spcPts val="1400"/>
              </a:spcAft>
              <a:buSzPct val="100000"/>
              <a:buChar char="•"/>
            </a:pPr>
            <a:r>
              <a:rPr lang="en-US" sz="1700" dirty="0">
                <a:solidFill>
                  <a:srgbClr val="1F1A2E"/>
                </a:solidFill>
                <a:latin typeface="Calibri" pitchFamily="34" charset="0"/>
                <a:ea typeface="Calibri" pitchFamily="34" charset="-122"/>
                <a:cs typeface="Calibri" pitchFamily="34" charset="-120"/>
              </a:rPr>
              <a:t>Correction mineure : champ « âge » de la feuille de soins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0B4B"/>
        </a:solidFill>
      </p:bgPr>
    </p:bg>
    <p:spTree>
      <p:nvGrpSpPr>
        <p:cNvPr id="1" name=""/>
        <p:cNvGrpSpPr/>
        <p:nvPr/>
      </p:nvGrpSpPr>
      <p:grpSpPr>
        <a:xfrm>
          <a:off x="0" y="0"/>
          <a:ext cx="0" cy="0"/>
          <a:chOff x="0" y="0"/>
          <a:chExt cx="0" cy="0"/>
        </a:xfrm>
      </p:grpSpPr>
      <p:sp>
        <p:nvSpPr>
          <p:cNvPr id="2" name="Shape 0"/>
          <p:cNvSpPr/>
          <p:nvPr/>
        </p:nvSpPr>
        <p:spPr>
          <a:xfrm>
            <a:off x="-1645920" y="2926080"/>
            <a:ext cx="5486400" cy="5486400"/>
          </a:xfrm>
          <a:prstGeom prst="ellipse">
            <a:avLst/>
          </a:prstGeom>
          <a:solidFill>
            <a:srgbClr val="6A2BD9">
              <a:alpha val="45000"/>
            </a:srgbClr>
          </a:solidFill>
          <a:ln w="12700">
            <a:solidFill>
              <a:srgbClr val="6A2BD9">
                <a:alpha val="0"/>
              </a:srgbClr>
            </a:solidFill>
            <a:prstDash val="solid"/>
          </a:ln>
        </p:spPr>
      </p:sp>
      <p:sp>
        <p:nvSpPr>
          <p:cNvPr id="3" name="Shape 1"/>
          <p:cNvSpPr/>
          <p:nvPr/>
        </p:nvSpPr>
        <p:spPr>
          <a:xfrm>
            <a:off x="9418320" y="-1371600"/>
            <a:ext cx="4114800" cy="4114800"/>
          </a:xfrm>
          <a:prstGeom prst="ellipse">
            <a:avLst/>
          </a:prstGeom>
          <a:solidFill>
            <a:srgbClr val="8B5CF6">
              <a:alpha val="30000"/>
            </a:srgbClr>
          </a:solidFill>
          <a:ln w="12700">
            <a:solidFill>
              <a:srgbClr val="8B5CF6">
                <a:alpha val="0"/>
              </a:srgbClr>
            </a:solidFill>
            <a:prstDash val="solid"/>
          </a:ln>
        </p:spPr>
      </p:sp>
      <p:sp>
        <p:nvSpPr>
          <p:cNvPr id="4" name="Shape 2"/>
          <p:cNvSpPr/>
          <p:nvPr/>
        </p:nvSpPr>
        <p:spPr>
          <a:xfrm>
            <a:off x="5592928" y="1463040"/>
            <a:ext cx="1005840" cy="1005840"/>
          </a:xfrm>
          <a:prstGeom prst="roundRect">
            <a:avLst>
              <a:gd name="adj" fmla="val 13636"/>
            </a:avLst>
          </a:prstGeom>
          <a:solidFill>
            <a:srgbClr val="2EA35A"/>
          </a:solidFill>
          <a:ln w="12700">
            <a:solidFill>
              <a:srgbClr val="2EA35A"/>
            </a:solidFill>
            <a:prstDash val="solid"/>
          </a:ln>
        </p:spPr>
      </p:sp>
      <p:pic>
        <p:nvPicPr>
          <p:cNvPr id="5" name="Image 0" descr="preencoded.png">    </p:cNvPr>
          <p:cNvPicPr>
            <a:picLocks noChangeAspect="1"/>
          </p:cNvPicPr>
          <p:nvPr/>
        </p:nvPicPr>
        <p:blipFill>
          <a:blip r:embed="rId1"/>
          <a:stretch>
            <a:fillRect/>
          </a:stretch>
        </p:blipFill>
        <p:spPr>
          <a:xfrm>
            <a:off x="5854446" y="1724558"/>
            <a:ext cx="482803" cy="482803"/>
          </a:xfrm>
          <a:prstGeom prst="rect">
            <a:avLst/>
          </a:prstGeom>
        </p:spPr>
      </p:pic>
      <p:sp>
        <p:nvSpPr>
          <p:cNvPr id="6" name="Text 3"/>
          <p:cNvSpPr txBox="1"/>
          <p:nvPr/>
        </p:nvSpPr>
        <p:spPr>
          <a:xfrm>
            <a:off x="0" y="2697480"/>
            <a:ext cx="12191695"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Merci</a:t>
            </a:r>
            <a:endParaRPr lang="en-US" sz="6000" dirty="0"/>
          </a:p>
        </p:txBody>
      </p:sp>
      <p:sp>
        <p:nvSpPr>
          <p:cNvPr id="7" name="Text 4"/>
          <p:cNvSpPr txBox="1"/>
          <p:nvPr/>
        </p:nvSpPr>
        <p:spPr>
          <a:xfrm>
            <a:off x="0" y="3794760"/>
            <a:ext cx="12191695" cy="548640"/>
          </a:xfrm>
          <a:prstGeom prst="rect">
            <a:avLst/>
          </a:prstGeom>
          <a:noFill/>
          <a:ln/>
        </p:spPr>
        <p:txBody>
          <a:bodyPr wrap="square" lIns="0" tIns="0" rIns="0" bIns="0" rtlCol="0" anchor="ctr"/>
          <a:lstStyle/>
          <a:p>
            <a:pPr algn="ctr" indent="0" marL="0">
              <a:buNone/>
            </a:pPr>
            <a:r>
              <a:rPr lang="en-US" sz="2200" dirty="0">
                <a:solidFill>
                  <a:srgbClr val="D9CCFB"/>
                </a:solidFill>
                <a:latin typeface="Calibri" pitchFamily="34" charset="0"/>
                <a:ea typeface="Calibri" pitchFamily="34" charset="-122"/>
                <a:cs typeface="Calibri" pitchFamily="34" charset="-120"/>
              </a:rPr>
              <a:t>Questions et échanges</a:t>
            </a:r>
            <a:endParaRPr lang="en-US" sz="2200" dirty="0"/>
          </a:p>
        </p:txBody>
      </p:sp>
      <p:sp>
        <p:nvSpPr>
          <p:cNvPr id="8" name="Text 5"/>
          <p:cNvSpPr txBox="1"/>
          <p:nvPr/>
        </p:nvSpPr>
        <p:spPr>
          <a:xfrm>
            <a:off x="0" y="4937760"/>
            <a:ext cx="12191695" cy="365760"/>
          </a:xfrm>
          <a:prstGeom prst="rect">
            <a:avLst/>
          </a:prstGeom>
          <a:noFill/>
          <a:ln/>
        </p:spPr>
        <p:txBody>
          <a:bodyPr wrap="square" lIns="0" tIns="0" rIns="0" bIns="0" rtlCol="0" anchor="ctr"/>
          <a:lstStyle/>
          <a:p>
            <a:pPr algn="ctr" indent="0" marL="0">
              <a:buNone/>
            </a:pPr>
            <a:r>
              <a:rPr lang="en-US" sz="1400" b="1" spc="400" kern="0" dirty="0">
                <a:solidFill>
                  <a:srgbClr val="F28C28"/>
                </a:solidFill>
                <a:latin typeface="Calibri" pitchFamily="34" charset="0"/>
                <a:ea typeface="Calibri" pitchFamily="34" charset="-122"/>
                <a:cs typeface="Calibri" pitchFamily="34" charset="-120"/>
              </a:rPr>
              <a:t>STARTAI  ×  CNASS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STARTAI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CNASS – Vérification faciale des assurés</dc:title>
  <dc:subject>PptxGenJS Presentation</dc:subject>
  <dc:creator>PptxGenJS</dc:creator>
  <cp:lastModifiedBy>PptxGenJS</cp:lastModifiedBy>
  <cp:revision>1</cp:revision>
  <dcterms:created xsi:type="dcterms:W3CDTF">2026-09-24T22:17:56Z</dcterms:created>
  <dcterms:modified xsi:type="dcterms:W3CDTF">2026-09-24T22:17:56Z</dcterms:modified>
</cp:coreProperties>
</file>